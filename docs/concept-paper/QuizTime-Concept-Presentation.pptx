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30 seconds)
Good day. Our concept paper is titled "An AI-Assisted Flashcard and Quiz Generator for Active Recall and Spaced Repetition Study" — the system is called QuizTime.
One sentence to hold on to: QuizTime turns the documents a student already has into flashcards, and then decides what that student should review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(about 1 minute)
Start with what students actually do. They reread, they highlight — and the learning-science evidence says those are among the weakest techniques available, even though they feel productive.
The two techniques that clearly work are practice testing and distributed practice. Both have one practical obstacle: they take time. Writing cards by hand and scheduling reviews by hand is tedious, so learners skip it.
Say the punchline on the slide: students already hold thousands of pages of material; nothing turns it into retrieval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OPPORTUNITY (about 1 minute)
Two things matured at the same time.
First, generative AI can read a lecture and pull out its key concepts, definitions and enumerations in seconds. That is exactly the tedious part of making flashcards.
Second, web apps can now install themselves on a phone and keep working with no connection, so studying no longer has to depend on a stable signal.
The gap: existing flashcard apps make you type everything; AI study tools generate cards but rarely schedule them well; most assume you are always online. QuizTime joins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(about 1 minute)
State the general objective, then group the specific ones rather than reading all seven: build the generation pipeline; implement the four study modes; implement the scheduler; record progress; make it work offline; keep it reliable and private; and validate it.
Note that the last objective matters for the defense panel — we commit to a documented evaluation, not just a working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CONCEPTUAL FRAMEWORK (about 1 minute)
Use the diagram, left to right. Inputs are the learner's own material plus everything the system records. The process is: ingest, generate, let the learner curate, practise, schedule, and sync.
The important part is the dashed loop at the bottom: recorded outcomes are not just reported, they decide what comes back next. Correct recalls push a card further out; a lapse pulls it back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(about 1 minute)
Walk the five steps quickly. Then point at the amber strip: the chain of models. If the primary model is rate-limited or unavailable, generation moves to the next one instead of failing, the model that was skipped is remembered for a cooldown, and the learner is told which model produced the cards.
If a panelist asks "what if the AI is wrong?" — this is the right moment: generated cards are editable precisely because the learner must verify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MODES (about 1 minute)
Each mode tests recall differently. Study Mode is the classic flip card with self-checking. Exam Mode is four-option multiple choice with points and streak bonuses. Identification Mode makes you type the answer and forgives case, punctuation and small typos. Enumeration Mode asks for a whole list and gives per-item feedback.
Every finished session ends with a results screen: accuracy, grade, points, best streak, time, and the questions that were missed — which can be sent straight into Study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REPETITION (about 1 to 1.5 minutes)
This is the heart of the system. Point at the curve: one review lands before the memory fades, and each review lifts the curve higher.
Each card is graded Again, Hard, Good or Easy, and that grade sets the next interval using an SM-2 descendant — the four-button variant used by modern flashcard apps. Again brings the card back in ten minutes and lowers its ease; Good multiplies the interval by the ease factor; Easy adds a bonus.
Two details worth saying: the buttons print what they will do before you press them, because the client and server run the same scheduler; and new cards are capped at twenty a day, so what you owe comes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OFFLINE (about 1 minute)
Many learners study on a commute or on unreliable Wi-Fi, so the app is offline-first.
The device keeps its own copy: the app shell, a cached session so you stay signed in, a snapshot of decks, cards and schedules, and an outbox. All four study modes, progress, and the review queue keep working with no signal, and answers replay when the connection returns.
Be honest about the limitation: new material still needs the network — the AI and the database live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(about 45 seconds)
Three tiers — the React and Next.js interface, the route handlers, and PostgreSQL — plus an offline tier that lives inside the browser.
Do not read every box. Highlight the safeguards instead: every query is scoped to the signed-in user, generation is rate-limited, models cool down after a limit, and there is a health check and a maintenance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AND DELIMITATION (about 1 minute)
This slide usually draws questions, so be deliberate. The left column is what the system does, and every item there is covered by automated tests. The right column is what we deliberately did not build: no LMS features, no gradebook or teacher dashboard, no public decks, no handwriting recognition, no semantic grading of essay answers, no native app or payments.
The strongest statement here: AI output is a draft, and the learner remains responsible for verifying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(about 1 minute)
We use design-and-development research: building the artifact and studying that process are equally important. Requirements came from a learner survey, the literature, and real course material.
Development is iterative in five releases, from upload and generation, through scoring and accounts, to the scheduler and finally offline capability. The timeline shows the eight phases across 24 weeks, ending with evaluation, documentation and this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AND EVALUATION (about 1 minute)
Verification is automated: 194 checks across nine test files. For this paper we re-ran the 146 that need no database or API key — all passed. Eight of them deliberately try to read and grade another account's data; they are rejected, as they should be. There is also an offline round trip that checks the database after answers were recorded with the network switched off.
Validation is with users: a scripted usability walkthrough and an acceptability questionnaire based on ISO/IEC 25010, answered on a five-point Likert scale and interpreted with descriptive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SIGNIFICANCE AND COST (about 45 seconds)
The beneficiaries are students, teachers converting existing material, board reviewees consolidating many sources, and learners with poor connectivity.
On cost: the system is designed to run on free tiers, with the fallback chain as the safety net when a free quota runs out. We estimate 2,500 to 10,000 pesos for the semester, most of it optional upgrades.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(about 30 seconds)
Close on the claim: learners remember what they retrieve, and the barrier has never been the science but the labour of applying it. QuizTime removes that labour.
Thank the panel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4FF"/>
          </a:solidFill>
          <a:ln/>
        </p:spPr>
      </p:sp>
      <p:sp>
        <p:nvSpPr>
          <p:cNvPr id="3" name="Shape 1"/>
          <p:cNvSpPr/>
          <p:nvPr/>
        </p:nvSpPr>
        <p:spPr>
          <a:xfrm>
            <a:off x="9082735" y="-1737360"/>
            <a:ext cx="5120640" cy="5120640"/>
          </a:xfrm>
          <a:prstGeom prst="ellipse">
            <a:avLst/>
          </a:prstGeom>
          <a:solidFill>
            <a:srgbClr val="DCE9FF"/>
          </a:solidFill>
          <a:ln/>
        </p:spPr>
      </p:sp>
      <p:sp>
        <p:nvSpPr>
          <p:cNvPr id="4" name="Shape 2"/>
          <p:cNvSpPr/>
          <p:nvPr/>
        </p:nvSpPr>
        <p:spPr>
          <a:xfrm>
            <a:off x="10637215" y="4297680"/>
            <a:ext cx="3108960" cy="3108960"/>
          </a:xfrm>
          <a:prstGeom prst="ellipse">
            <a:avLst/>
          </a:prstGeom>
          <a:solidFill>
            <a:srgbClr val="E6F0FF"/>
          </a:solidFill>
          <a:ln/>
        </p:spPr>
      </p:sp>
      <p:pic>
        <p:nvPicPr>
          <p:cNvPr id="5" name="Image 0" descr="/home/user/quiz-time/public/logo.png">    </p:cNvPr>
          <p:cNvPicPr>
            <a:picLocks noChangeAspect="1"/>
          </p:cNvPicPr>
          <p:nvPr/>
        </p:nvPicPr>
        <p:blipFill>
          <a:blip r:embed="rId1"/>
          <a:stretch>
            <a:fillRect/>
          </a:stretch>
        </p:blipFill>
        <p:spPr>
          <a:xfrm>
            <a:off x="777240" y="685800"/>
            <a:ext cx="3200400" cy="1783080"/>
          </a:xfrm>
          <a:prstGeom prst="rect">
            <a:avLst/>
          </a:prstGeom>
        </p:spPr>
      </p:pic>
      <p:sp>
        <p:nvSpPr>
          <p:cNvPr id="6" name="Shape 3"/>
          <p:cNvSpPr/>
          <p:nvPr/>
        </p:nvSpPr>
        <p:spPr>
          <a:xfrm>
            <a:off x="822960" y="2697480"/>
            <a:ext cx="7040880" cy="64008"/>
          </a:xfrm>
          <a:prstGeom prst="rect">
            <a:avLst/>
          </a:prstGeom>
          <a:solidFill>
            <a:srgbClr val="3B82F6"/>
          </a:solidFill>
          <a:ln/>
        </p:spPr>
      </p:sp>
      <p:sp>
        <p:nvSpPr>
          <p:cNvPr id="7" name="Text 4"/>
          <p:cNvSpPr/>
          <p:nvPr/>
        </p:nvSpPr>
        <p:spPr>
          <a:xfrm>
            <a:off x="822960" y="2880360"/>
            <a:ext cx="7498080" cy="1371600"/>
          </a:xfrm>
          <a:prstGeom prst="rect">
            <a:avLst/>
          </a:prstGeom>
          <a:noFill/>
          <a:ln/>
        </p:spPr>
        <p:txBody>
          <a:bodyPr wrap="square" rtlCol="0" anchor="ctr"/>
          <a:lstStyle/>
          <a:p>
            <a:pPr indent="0" marL="0">
              <a:lnSpc>
                <a:spcPct val="105000"/>
              </a:lnSpc>
              <a:buNone/>
            </a:pPr>
            <a:r>
              <a:rPr lang="en-US" sz="2700" b="1" dirty="0">
                <a:solidFill>
                  <a:srgbClr val="10233F"/>
                </a:solidFill>
                <a:latin typeface="Calibri" pitchFamily="34" charset="0"/>
                <a:ea typeface="Calibri" pitchFamily="34" charset="-122"/>
                <a:cs typeface="Calibri" pitchFamily="34" charset="-120"/>
              </a:rPr>
              <a:t>An AI-Assisted Flashcard and Quiz Generator for Active Recall and Spaced Repetition Study</a:t>
            </a:r>
            <a:endParaRPr lang="en-US" sz="2700" dirty="0"/>
          </a:p>
        </p:txBody>
      </p:sp>
      <p:sp>
        <p:nvSpPr>
          <p:cNvPr id="8" name="Text 5"/>
          <p:cNvSpPr/>
          <p:nvPr/>
        </p:nvSpPr>
        <p:spPr>
          <a:xfrm>
            <a:off x="822960" y="4224528"/>
            <a:ext cx="4572000" cy="365760"/>
          </a:xfrm>
          <a:prstGeom prst="rect">
            <a:avLst/>
          </a:prstGeom>
          <a:noFill/>
          <a:ln/>
        </p:spPr>
        <p:txBody>
          <a:bodyPr wrap="square" rtlCol="0" anchor="ctr"/>
          <a:lstStyle/>
          <a:p>
            <a:pPr indent="0" marL="0">
              <a:buNone/>
            </a:pPr>
            <a:r>
              <a:rPr lang="en-US" sz="1700" i="1" dirty="0">
                <a:solidFill>
                  <a:srgbClr val="5B7192"/>
                </a:solidFill>
                <a:latin typeface="Calibri" pitchFamily="34" charset="0"/>
                <a:ea typeface="Calibri" pitchFamily="34" charset="-122"/>
                <a:cs typeface="Calibri" pitchFamily="34" charset="-120"/>
              </a:rPr>
              <a:t>A Concept Paper</a:t>
            </a:r>
            <a:endParaRPr lang="en-US" sz="1700" dirty="0"/>
          </a:p>
        </p:txBody>
      </p:sp>
      <p:sp>
        <p:nvSpPr>
          <p:cNvPr id="9" name="Text 6"/>
          <p:cNvSpPr/>
          <p:nvPr/>
        </p:nvSpPr>
        <p:spPr>
          <a:xfrm>
            <a:off x="822960" y="4626864"/>
            <a:ext cx="5486400" cy="329184"/>
          </a:xfrm>
          <a:prstGeom prst="rect">
            <a:avLst/>
          </a:prstGeom>
          <a:noFill/>
          <a:ln/>
        </p:spPr>
        <p:txBody>
          <a:bodyPr wrap="square" rtlCol="0" anchor="ctr"/>
          <a:lstStyle/>
          <a:p>
            <a:pPr indent="0" marL="0">
              <a:buNone/>
            </a:pPr>
            <a:r>
              <a:rPr lang="en-US" sz="1400" b="1" dirty="0">
                <a:solidFill>
                  <a:srgbClr val="1D4ED8"/>
                </a:solidFill>
                <a:latin typeface="Calibri" pitchFamily="34" charset="0"/>
                <a:ea typeface="Calibri" pitchFamily="34" charset="-122"/>
                <a:cs typeface="Calibri" pitchFamily="34" charset="-120"/>
              </a:rPr>
              <a:t>Presented by the QuizTime Project Team</a:t>
            </a:r>
            <a:endParaRPr lang="en-US" sz="1400" dirty="0"/>
          </a:p>
        </p:txBody>
      </p:sp>
      <p:sp>
        <p:nvSpPr>
          <p:cNvPr id="10" name="Text 7"/>
          <p:cNvSpPr/>
          <p:nvPr/>
        </p:nvSpPr>
        <p:spPr>
          <a:xfrm>
            <a:off x="822960" y="4937760"/>
            <a:ext cx="5486400" cy="310896"/>
          </a:xfrm>
          <a:prstGeom prst="rect">
            <a:avLst/>
          </a:prstGeom>
          <a:noFill/>
          <a:ln/>
        </p:spPr>
        <p:txBody>
          <a:bodyPr wrap="square" rtlCol="0" anchor="ctr"/>
          <a:lstStyle/>
          <a:p>
            <a:pPr indent="0" marL="0">
              <a:buNone/>
            </a:pPr>
            <a:r>
              <a:rPr lang="en-US" sz="1300" dirty="0">
                <a:solidFill>
                  <a:srgbClr val="5B7192"/>
                </a:solidFill>
                <a:latin typeface="Calibri" pitchFamily="34" charset="0"/>
                <a:ea typeface="Calibri" pitchFamily="34" charset="-122"/>
                <a:cs typeface="Calibri" pitchFamily="34" charset="-120"/>
              </a:rPr>
              <a:t>September 2026</a:t>
            </a:r>
            <a:endParaRPr lang="en-US" sz="1300" dirty="0"/>
          </a:p>
        </p:txBody>
      </p:sp>
      <p:sp>
        <p:nvSpPr>
          <p:cNvPr id="11" name="Shape 8"/>
          <p:cNvSpPr/>
          <p:nvPr/>
        </p:nvSpPr>
        <p:spPr>
          <a:xfrm>
            <a:off x="822960" y="5504688"/>
            <a:ext cx="1883664" cy="457200"/>
          </a:xfrm>
          <a:prstGeom prst="roundRect">
            <a:avLst>
              <a:gd name="adj" fmla="val 50000"/>
            </a:avLst>
          </a:prstGeom>
          <a:solidFill>
            <a:srgbClr val="3B82F6"/>
          </a:solidFill>
          <a:ln w="12700">
            <a:solidFill>
              <a:srgbClr val="3B82F6"/>
            </a:solidFill>
            <a:prstDash val="solid"/>
          </a:ln>
        </p:spPr>
      </p:sp>
      <p:sp>
        <p:nvSpPr>
          <p:cNvPr id="12" name="Text 9"/>
          <p:cNvSpPr/>
          <p:nvPr/>
        </p:nvSpPr>
        <p:spPr>
          <a:xfrm>
            <a:off x="822960" y="5504688"/>
            <a:ext cx="1883664"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AI-generated decks</a:t>
            </a:r>
            <a:endParaRPr lang="en-US" sz="1200" dirty="0"/>
          </a:p>
        </p:txBody>
      </p:sp>
      <p:sp>
        <p:nvSpPr>
          <p:cNvPr id="13" name="Shape 10"/>
          <p:cNvSpPr/>
          <p:nvPr/>
        </p:nvSpPr>
        <p:spPr>
          <a:xfrm>
            <a:off x="2871216" y="5504688"/>
            <a:ext cx="1883664" cy="457200"/>
          </a:xfrm>
          <a:prstGeom prst="roundRect">
            <a:avLst>
              <a:gd name="adj" fmla="val 50000"/>
            </a:avLst>
          </a:prstGeom>
          <a:solidFill>
            <a:srgbClr val="6366F1"/>
          </a:solidFill>
          <a:ln w="12700">
            <a:solidFill>
              <a:srgbClr val="6366F1"/>
            </a:solidFill>
            <a:prstDash val="solid"/>
          </a:ln>
        </p:spPr>
      </p:sp>
      <p:sp>
        <p:nvSpPr>
          <p:cNvPr id="14" name="Text 11"/>
          <p:cNvSpPr/>
          <p:nvPr/>
        </p:nvSpPr>
        <p:spPr>
          <a:xfrm>
            <a:off x="2871216" y="5504688"/>
            <a:ext cx="1883664"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Four study modes</a:t>
            </a:r>
            <a:endParaRPr lang="en-US" sz="1200" dirty="0"/>
          </a:p>
        </p:txBody>
      </p:sp>
      <p:sp>
        <p:nvSpPr>
          <p:cNvPr id="15" name="Shape 12"/>
          <p:cNvSpPr/>
          <p:nvPr/>
        </p:nvSpPr>
        <p:spPr>
          <a:xfrm>
            <a:off x="4919472" y="5504688"/>
            <a:ext cx="1883664" cy="457200"/>
          </a:xfrm>
          <a:prstGeom prst="roundRect">
            <a:avLst>
              <a:gd name="adj" fmla="val 50000"/>
            </a:avLst>
          </a:prstGeom>
          <a:solidFill>
            <a:srgbClr val="7C3AED"/>
          </a:solidFill>
          <a:ln w="12700">
            <a:solidFill>
              <a:srgbClr val="7C3AED"/>
            </a:solidFill>
            <a:prstDash val="solid"/>
          </a:ln>
        </p:spPr>
      </p:sp>
      <p:sp>
        <p:nvSpPr>
          <p:cNvPr id="16" name="Text 13"/>
          <p:cNvSpPr/>
          <p:nvPr/>
        </p:nvSpPr>
        <p:spPr>
          <a:xfrm>
            <a:off x="4919472" y="5504688"/>
            <a:ext cx="1883664"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Spaced repetition</a:t>
            </a:r>
            <a:endParaRPr lang="en-US" sz="1200" dirty="0"/>
          </a:p>
        </p:txBody>
      </p:sp>
      <p:sp>
        <p:nvSpPr>
          <p:cNvPr id="17" name="Shape 14"/>
          <p:cNvSpPr/>
          <p:nvPr/>
        </p:nvSpPr>
        <p:spPr>
          <a:xfrm>
            <a:off x="6967728" y="5504688"/>
            <a:ext cx="1883664" cy="457200"/>
          </a:xfrm>
          <a:prstGeom prst="roundRect">
            <a:avLst>
              <a:gd name="adj" fmla="val 50000"/>
            </a:avLst>
          </a:prstGeom>
          <a:solidFill>
            <a:srgbClr val="10B981"/>
          </a:solidFill>
          <a:ln w="12700">
            <a:solidFill>
              <a:srgbClr val="10B981"/>
            </a:solidFill>
            <a:prstDash val="solid"/>
          </a:ln>
        </p:spPr>
      </p:sp>
      <p:sp>
        <p:nvSpPr>
          <p:cNvPr id="18" name="Text 15"/>
          <p:cNvSpPr/>
          <p:nvPr/>
        </p:nvSpPr>
        <p:spPr>
          <a:xfrm>
            <a:off x="6967728" y="5504688"/>
            <a:ext cx="1883664"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Works offline</a:t>
            </a:r>
            <a:endParaRPr lang="en-US" sz="1200" dirty="0"/>
          </a:p>
        </p:txBody>
      </p:sp>
      <p:pic>
        <p:nvPicPr>
          <p:cNvPr id="19" name="Image 1" descr="/home/user/quiz-time/public/hamster/hamster-wave.png">    </p:cNvPr>
          <p:cNvPicPr>
            <a:picLocks noChangeAspect="1"/>
          </p:cNvPicPr>
          <p:nvPr/>
        </p:nvPicPr>
        <p:blipFill>
          <a:blip r:embed="rId2"/>
          <a:stretch>
            <a:fillRect/>
          </a:stretch>
        </p:blipFill>
        <p:spPr>
          <a:xfrm>
            <a:off x="9646920" y="3063240"/>
            <a:ext cx="1783080" cy="23408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FFFFFF"/>
          </a:solidFill>
          <a:ln/>
        </p:spPr>
      </p:sp>
      <p:sp>
        <p:nvSpPr>
          <p:cNvPr id="3" name="Shape 1"/>
          <p:cNvSpPr/>
          <p:nvPr/>
        </p:nvSpPr>
        <p:spPr>
          <a:xfrm>
            <a:off x="0" y="1170432"/>
            <a:ext cx="12191695" cy="54864"/>
          </a:xfrm>
          <a:prstGeom prst="rect">
            <a:avLst/>
          </a:prstGeom>
          <a:solidFill>
            <a:srgbClr val="F43F5E"/>
          </a:solidFill>
          <a:ln/>
        </p:spPr>
      </p:sp>
      <p:sp>
        <p:nvSpPr>
          <p:cNvPr id="4" name="Shape 2"/>
          <p:cNvSpPr/>
          <p:nvPr/>
        </p:nvSpPr>
        <p:spPr>
          <a:xfrm>
            <a:off x="457200" y="274320"/>
            <a:ext cx="100584" cy="658368"/>
          </a:xfrm>
          <a:prstGeom prst="rect">
            <a:avLst/>
          </a:prstGeom>
          <a:solidFill>
            <a:srgbClr val="F43F5E"/>
          </a:solidFill>
          <a:ln/>
        </p:spPr>
      </p:sp>
      <p:sp>
        <p:nvSpPr>
          <p:cNvPr id="5" name="Text 3"/>
          <p:cNvSpPr/>
          <p:nvPr/>
        </p:nvSpPr>
        <p:spPr>
          <a:xfrm>
            <a:off x="685800" y="201168"/>
            <a:ext cx="9601200" cy="457200"/>
          </a:xfrm>
          <a:prstGeom prst="rect">
            <a:avLst/>
          </a:prstGeom>
          <a:noFill/>
          <a:ln/>
        </p:spPr>
        <p:txBody>
          <a:bodyPr wrap="square" rtlCol="0" anchor="ctr"/>
          <a:lstStyle/>
          <a:p>
            <a:pPr indent="0" marL="0">
              <a:buNone/>
            </a:pPr>
            <a:r>
              <a:rPr lang="en-US" sz="2700" b="1" dirty="0">
                <a:solidFill>
                  <a:srgbClr val="10233F"/>
                </a:solidFill>
                <a:latin typeface="Calibri" pitchFamily="34" charset="0"/>
                <a:ea typeface="Calibri" pitchFamily="34" charset="-122"/>
                <a:cs typeface="Calibri" pitchFamily="34" charset="-120"/>
              </a:rPr>
              <a:t>The problem</a:t>
            </a:r>
            <a:endParaRPr lang="en-US" sz="2700" dirty="0"/>
          </a:p>
        </p:txBody>
      </p:sp>
      <p:sp>
        <p:nvSpPr>
          <p:cNvPr id="6" name="Text 4"/>
          <p:cNvSpPr/>
          <p:nvPr/>
        </p:nvSpPr>
        <p:spPr>
          <a:xfrm>
            <a:off x="704088" y="658368"/>
            <a:ext cx="10241280" cy="384048"/>
          </a:xfrm>
          <a:prstGeom prst="rect">
            <a:avLst/>
          </a:prstGeom>
          <a:noFill/>
          <a:ln/>
        </p:spPr>
        <p:txBody>
          <a:bodyPr wrap="square" rtlCol="0" anchor="ctr"/>
          <a:lstStyle/>
          <a:p>
            <a:pPr indent="0" marL="0">
              <a:buNone/>
            </a:pPr>
            <a:r>
              <a:rPr lang="en-US" sz="1400" dirty="0">
                <a:solidFill>
                  <a:srgbClr val="5B7192"/>
                </a:solidFill>
                <a:latin typeface="Calibri" pitchFamily="34" charset="0"/>
                <a:ea typeface="Calibri" pitchFamily="34" charset="-122"/>
                <a:cs typeface="Calibri" pitchFamily="34" charset="-120"/>
              </a:rPr>
              <a:t>Students have the material. They lack the time to turn it into practice.</a:t>
            </a:r>
            <a:endParaRPr lang="en-US" sz="1400" dirty="0"/>
          </a:p>
        </p:txBody>
      </p:sp>
      <p:sp>
        <p:nvSpPr>
          <p:cNvPr id="7" name="Text 5"/>
          <p:cNvSpPr/>
          <p:nvPr/>
        </p:nvSpPr>
        <p:spPr>
          <a:xfrm>
            <a:off x="10957255" y="6291072"/>
            <a:ext cx="777240" cy="329184"/>
          </a:xfrm>
          <a:prstGeom prst="rect">
            <a:avLst/>
          </a:prstGeom>
          <a:noFill/>
          <a:ln/>
        </p:spPr>
        <p:txBody>
          <a:bodyPr wrap="square" rtlCol="0" anchor="ctr"/>
          <a:lstStyle/>
          <a:p>
            <a:pPr algn="r" indent="0" marL="0">
              <a:buNone/>
            </a:pPr>
            <a:r>
              <a:rPr lang="en-US" sz="1200" dirty="0">
                <a:solidFill>
                  <a:srgbClr val="5B7192"/>
                </a:solidFill>
                <a:latin typeface="Calibri" pitchFamily="34" charset="0"/>
                <a:ea typeface="Calibri" pitchFamily="34" charset="-122"/>
                <a:cs typeface="Calibri" pitchFamily="34" charset="-120"/>
              </a:rPr>
              <a:t>2</a:t>
            </a:r>
            <a:endParaRPr lang="en-US" sz="1200" dirty="0"/>
          </a:p>
        </p:txBody>
      </p:sp>
      <p:sp>
        <p:nvSpPr>
          <p:cNvPr id="8" name="Text 6"/>
          <p:cNvSpPr/>
          <p:nvPr/>
        </p:nvSpPr>
        <p:spPr>
          <a:xfrm>
            <a:off x="457200" y="6291072"/>
            <a:ext cx="4114800" cy="329184"/>
          </a:xfrm>
          <a:prstGeom prst="rect">
            <a:avLst/>
          </a:prstGeom>
          <a:noFill/>
          <a:ln/>
        </p:spPr>
        <p:txBody>
          <a:bodyPr wrap="square" rtlCol="0" anchor="ctr"/>
          <a:lstStyle/>
          <a:p>
            <a:pPr indent="0" marL="0">
              <a:buNone/>
            </a:pPr>
            <a:r>
              <a:rPr lang="en-US" sz="1100" dirty="0">
                <a:solidFill>
                  <a:srgbClr val="5B7192"/>
                </a:solidFill>
                <a:latin typeface="Calibri" pitchFamily="34" charset="0"/>
                <a:ea typeface="Calibri" pitchFamily="34" charset="-122"/>
                <a:cs typeface="Calibri" pitchFamily="34" charset="-120"/>
              </a:rPr>
              <a:t>QuizTime · Concept Paper</a:t>
            </a:r>
            <a:endParaRPr lang="en-US" sz="1100" dirty="0"/>
          </a:p>
        </p:txBody>
      </p:sp>
      <p:sp>
        <p:nvSpPr>
          <p:cNvPr id="9" name="Shape 7"/>
          <p:cNvSpPr/>
          <p:nvPr/>
        </p:nvSpPr>
        <p:spPr>
          <a:xfrm>
            <a:off x="566928" y="1572768"/>
            <a:ext cx="3429000" cy="3063240"/>
          </a:xfrm>
          <a:prstGeom prst="roundRect">
            <a:avLst>
              <a:gd name="adj" fmla="val 3582"/>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0" name="Shape 8"/>
          <p:cNvSpPr/>
          <p:nvPr/>
        </p:nvSpPr>
        <p:spPr>
          <a:xfrm>
            <a:off x="566928" y="1572768"/>
            <a:ext cx="3429000" cy="109728"/>
          </a:xfrm>
          <a:prstGeom prst="rect">
            <a:avLst/>
          </a:prstGeom>
          <a:solidFill>
            <a:srgbClr val="F43F5E"/>
          </a:solidFill>
          <a:ln/>
        </p:spPr>
      </p:sp>
      <p:sp>
        <p:nvSpPr>
          <p:cNvPr id="11" name="Shape 9"/>
          <p:cNvSpPr/>
          <p:nvPr/>
        </p:nvSpPr>
        <p:spPr>
          <a:xfrm>
            <a:off x="841248" y="1883664"/>
            <a:ext cx="566928" cy="566928"/>
          </a:xfrm>
          <a:prstGeom prst="ellipse">
            <a:avLst/>
          </a:prstGeom>
          <a:solidFill>
            <a:srgbClr val="F43F5E"/>
          </a:solidFill>
          <a:ln/>
        </p:spPr>
      </p:sp>
      <p:sp>
        <p:nvSpPr>
          <p:cNvPr id="12" name="Text 10"/>
          <p:cNvSpPr/>
          <p:nvPr/>
        </p:nvSpPr>
        <p:spPr>
          <a:xfrm>
            <a:off x="841248" y="1883664"/>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3" name="Text 11"/>
          <p:cNvSpPr/>
          <p:nvPr/>
        </p:nvSpPr>
        <p:spPr>
          <a:xfrm>
            <a:off x="841248" y="2578608"/>
            <a:ext cx="2880360" cy="566928"/>
          </a:xfrm>
          <a:prstGeom prst="rect">
            <a:avLst/>
          </a:prstGeom>
          <a:noFill/>
          <a:ln/>
        </p:spPr>
        <p:txBody>
          <a:bodyPr wrap="square" rtlCol="0" anchor="ctr"/>
          <a:lstStyle/>
          <a:p>
            <a:pPr indent="0" marL="0">
              <a:buNone/>
            </a:pPr>
            <a:r>
              <a:rPr lang="en-US" sz="1700" b="1" dirty="0">
                <a:solidFill>
                  <a:srgbClr val="10233F"/>
                </a:solidFill>
                <a:latin typeface="Calibri" pitchFamily="34" charset="0"/>
                <a:ea typeface="Calibri" pitchFamily="34" charset="-122"/>
                <a:cs typeface="Calibri" pitchFamily="34" charset="-120"/>
              </a:rPr>
              <a:t>Rereading feels productive</a:t>
            </a:r>
            <a:endParaRPr lang="en-US" sz="1700" dirty="0"/>
          </a:p>
        </p:txBody>
      </p:sp>
      <p:sp>
        <p:nvSpPr>
          <p:cNvPr id="14" name="Text 12"/>
          <p:cNvSpPr/>
          <p:nvPr/>
        </p:nvSpPr>
        <p:spPr>
          <a:xfrm>
            <a:off x="841248" y="3163824"/>
            <a:ext cx="2880360" cy="1325880"/>
          </a:xfrm>
          <a:prstGeom prst="rect">
            <a:avLst/>
          </a:prstGeom>
          <a:noFill/>
          <a:ln/>
        </p:spPr>
        <p:txBody>
          <a:bodyPr wrap="square" rtlCol="0" anchor="ctr"/>
          <a:lstStyle/>
          <a:p>
            <a:pPr indent="0" marL="0">
              <a:lnSpc>
                <a:spcPct val="112000"/>
              </a:lnSpc>
              <a:buNone/>
            </a:pPr>
            <a:r>
              <a:rPr lang="en-US" sz="1250" dirty="0">
                <a:solidFill>
                  <a:srgbClr val="3B4E6B"/>
                </a:solidFill>
                <a:latin typeface="Calibri" pitchFamily="34" charset="0"/>
                <a:ea typeface="Calibri" pitchFamily="34" charset="-122"/>
                <a:cs typeface="Calibri" pitchFamily="34" charset="-120"/>
              </a:rPr>
              <a:t>Re-reading and highlighting rank among the least effective study techniques, yet they are the ones students use most.</a:t>
            </a:r>
            <a:endParaRPr lang="en-US" sz="1250" dirty="0"/>
          </a:p>
        </p:txBody>
      </p:sp>
      <p:sp>
        <p:nvSpPr>
          <p:cNvPr id="15" name="Shape 13"/>
          <p:cNvSpPr/>
          <p:nvPr/>
        </p:nvSpPr>
        <p:spPr>
          <a:xfrm>
            <a:off x="4288536" y="1572768"/>
            <a:ext cx="3429000" cy="3063240"/>
          </a:xfrm>
          <a:prstGeom prst="roundRect">
            <a:avLst>
              <a:gd name="adj" fmla="val 3582"/>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6" name="Shape 14"/>
          <p:cNvSpPr/>
          <p:nvPr/>
        </p:nvSpPr>
        <p:spPr>
          <a:xfrm>
            <a:off x="4288536" y="1572768"/>
            <a:ext cx="3429000" cy="109728"/>
          </a:xfrm>
          <a:prstGeom prst="rect">
            <a:avLst/>
          </a:prstGeom>
          <a:solidFill>
            <a:srgbClr val="FBBF24"/>
          </a:solidFill>
          <a:ln/>
        </p:spPr>
      </p:sp>
      <p:sp>
        <p:nvSpPr>
          <p:cNvPr id="17" name="Shape 15"/>
          <p:cNvSpPr/>
          <p:nvPr/>
        </p:nvSpPr>
        <p:spPr>
          <a:xfrm>
            <a:off x="4562856" y="1883664"/>
            <a:ext cx="566928" cy="566928"/>
          </a:xfrm>
          <a:prstGeom prst="ellipse">
            <a:avLst/>
          </a:prstGeom>
          <a:solidFill>
            <a:srgbClr val="FBBF24"/>
          </a:solidFill>
          <a:ln/>
        </p:spPr>
      </p:sp>
      <p:sp>
        <p:nvSpPr>
          <p:cNvPr id="18" name="Text 16"/>
          <p:cNvSpPr/>
          <p:nvPr/>
        </p:nvSpPr>
        <p:spPr>
          <a:xfrm>
            <a:off x="4562856" y="1883664"/>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9" name="Text 17"/>
          <p:cNvSpPr/>
          <p:nvPr/>
        </p:nvSpPr>
        <p:spPr>
          <a:xfrm>
            <a:off x="4562856" y="2578608"/>
            <a:ext cx="2880360" cy="566928"/>
          </a:xfrm>
          <a:prstGeom prst="rect">
            <a:avLst/>
          </a:prstGeom>
          <a:noFill/>
          <a:ln/>
        </p:spPr>
        <p:txBody>
          <a:bodyPr wrap="square" rtlCol="0" anchor="ctr"/>
          <a:lstStyle/>
          <a:p>
            <a:pPr indent="0" marL="0">
              <a:buNone/>
            </a:pPr>
            <a:r>
              <a:rPr lang="en-US" sz="1700" b="1" dirty="0">
                <a:solidFill>
                  <a:srgbClr val="10233F"/>
                </a:solidFill>
                <a:latin typeface="Calibri" pitchFamily="34" charset="0"/>
                <a:ea typeface="Calibri" pitchFamily="34" charset="-122"/>
                <a:cs typeface="Calibri" pitchFamily="34" charset="-120"/>
              </a:rPr>
              <a:t>Testing beats restudying</a:t>
            </a:r>
            <a:endParaRPr lang="en-US" sz="1700" dirty="0"/>
          </a:p>
        </p:txBody>
      </p:sp>
      <p:sp>
        <p:nvSpPr>
          <p:cNvPr id="20" name="Text 18"/>
          <p:cNvSpPr/>
          <p:nvPr/>
        </p:nvSpPr>
        <p:spPr>
          <a:xfrm>
            <a:off x="4562856" y="3163824"/>
            <a:ext cx="2880360" cy="1325880"/>
          </a:xfrm>
          <a:prstGeom prst="rect">
            <a:avLst/>
          </a:prstGeom>
          <a:noFill/>
          <a:ln/>
        </p:spPr>
        <p:txBody>
          <a:bodyPr wrap="square" rtlCol="0" anchor="ctr"/>
          <a:lstStyle/>
          <a:p>
            <a:pPr indent="0" marL="0">
              <a:lnSpc>
                <a:spcPct val="112000"/>
              </a:lnSpc>
              <a:buNone/>
            </a:pPr>
            <a:r>
              <a:rPr lang="en-US" sz="1250" dirty="0">
                <a:solidFill>
                  <a:srgbClr val="3B4E6B"/>
                </a:solidFill>
                <a:latin typeface="Calibri" pitchFamily="34" charset="0"/>
                <a:ea typeface="Calibri" pitchFamily="34" charset="-122"/>
                <a:cs typeface="Calibri" pitchFamily="34" charset="-120"/>
              </a:rPr>
              <a:t>Learners who self-test retain far more a week later than learners who reread for the same amount of time — but almost nobody does it.</a:t>
            </a:r>
            <a:endParaRPr lang="en-US" sz="1250" dirty="0"/>
          </a:p>
        </p:txBody>
      </p:sp>
      <p:sp>
        <p:nvSpPr>
          <p:cNvPr id="21" name="Shape 19"/>
          <p:cNvSpPr/>
          <p:nvPr/>
        </p:nvSpPr>
        <p:spPr>
          <a:xfrm>
            <a:off x="8010144" y="1572768"/>
            <a:ext cx="3429000" cy="3063240"/>
          </a:xfrm>
          <a:prstGeom prst="roundRect">
            <a:avLst>
              <a:gd name="adj" fmla="val 3582"/>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22" name="Shape 20"/>
          <p:cNvSpPr/>
          <p:nvPr/>
        </p:nvSpPr>
        <p:spPr>
          <a:xfrm>
            <a:off x="8010144" y="1572768"/>
            <a:ext cx="3429000" cy="109728"/>
          </a:xfrm>
          <a:prstGeom prst="rect">
            <a:avLst/>
          </a:prstGeom>
          <a:solidFill>
            <a:srgbClr val="7C3AED"/>
          </a:solidFill>
          <a:ln/>
        </p:spPr>
      </p:sp>
      <p:sp>
        <p:nvSpPr>
          <p:cNvPr id="23" name="Shape 21"/>
          <p:cNvSpPr/>
          <p:nvPr/>
        </p:nvSpPr>
        <p:spPr>
          <a:xfrm>
            <a:off x="8284464" y="1883664"/>
            <a:ext cx="566928" cy="566928"/>
          </a:xfrm>
          <a:prstGeom prst="ellipse">
            <a:avLst/>
          </a:prstGeom>
          <a:solidFill>
            <a:srgbClr val="7C3AED"/>
          </a:solidFill>
          <a:ln/>
        </p:spPr>
      </p:sp>
      <p:sp>
        <p:nvSpPr>
          <p:cNvPr id="24" name="Text 22"/>
          <p:cNvSpPr/>
          <p:nvPr/>
        </p:nvSpPr>
        <p:spPr>
          <a:xfrm>
            <a:off x="8284464" y="1883664"/>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5" name="Text 23"/>
          <p:cNvSpPr/>
          <p:nvPr/>
        </p:nvSpPr>
        <p:spPr>
          <a:xfrm>
            <a:off x="8284464" y="2578608"/>
            <a:ext cx="2880360" cy="566928"/>
          </a:xfrm>
          <a:prstGeom prst="rect">
            <a:avLst/>
          </a:prstGeom>
          <a:noFill/>
          <a:ln/>
        </p:spPr>
        <p:txBody>
          <a:bodyPr wrap="square" rtlCol="0" anchor="ctr"/>
          <a:lstStyle/>
          <a:p>
            <a:pPr indent="0" marL="0">
              <a:buNone/>
            </a:pPr>
            <a:r>
              <a:rPr lang="en-US" sz="1700" b="1" dirty="0">
                <a:solidFill>
                  <a:srgbClr val="10233F"/>
                </a:solidFill>
                <a:latin typeface="Calibri" pitchFamily="34" charset="0"/>
                <a:ea typeface="Calibri" pitchFamily="34" charset="-122"/>
                <a:cs typeface="Calibri" pitchFamily="34" charset="-120"/>
              </a:rPr>
              <a:t>Spacing is the hard part</a:t>
            </a:r>
            <a:endParaRPr lang="en-US" sz="1700" dirty="0"/>
          </a:p>
        </p:txBody>
      </p:sp>
      <p:sp>
        <p:nvSpPr>
          <p:cNvPr id="26" name="Text 24"/>
          <p:cNvSpPr/>
          <p:nvPr/>
        </p:nvSpPr>
        <p:spPr>
          <a:xfrm>
            <a:off x="8284464" y="3163824"/>
            <a:ext cx="2880360" cy="1325880"/>
          </a:xfrm>
          <a:prstGeom prst="rect">
            <a:avLst/>
          </a:prstGeom>
          <a:noFill/>
          <a:ln/>
        </p:spPr>
        <p:txBody>
          <a:bodyPr wrap="square" rtlCol="0" anchor="ctr"/>
          <a:lstStyle/>
          <a:p>
            <a:pPr indent="0" marL="0">
              <a:lnSpc>
                <a:spcPct val="112000"/>
              </a:lnSpc>
              <a:buNone/>
            </a:pPr>
            <a:r>
              <a:rPr lang="en-US" sz="1250" dirty="0">
                <a:solidFill>
                  <a:srgbClr val="3B4E6B"/>
                </a:solidFill>
                <a:latin typeface="Calibri" pitchFamily="34" charset="0"/>
                <a:ea typeface="Calibri" pitchFamily="34" charset="-122"/>
                <a:cs typeface="Calibri" pitchFamily="34" charset="-120"/>
              </a:rPr>
              <a:t>Reviewing each card exactly when it is about to be forgotten is what makes recall permanent, and it is impossible to do by hand.</a:t>
            </a:r>
            <a:endParaRPr lang="en-US" sz="1250" dirty="0"/>
          </a:p>
        </p:txBody>
      </p:sp>
      <p:sp>
        <p:nvSpPr>
          <p:cNvPr id="27" name="Shape 25"/>
          <p:cNvSpPr/>
          <p:nvPr/>
        </p:nvSpPr>
        <p:spPr>
          <a:xfrm>
            <a:off x="566928" y="4828032"/>
            <a:ext cx="11055096" cy="987552"/>
          </a:xfrm>
          <a:prstGeom prst="roundRect">
            <a:avLst>
              <a:gd name="adj" fmla="val 11111"/>
            </a:avLst>
          </a:prstGeom>
          <a:solidFill>
            <a:srgbClr val="FFF8E7"/>
          </a:solidFill>
          <a:ln w="12700">
            <a:solidFill>
              <a:srgbClr val="F7D57E"/>
            </a:solidFill>
            <a:prstDash val="solid"/>
          </a:ln>
          <a:effectLst>
            <a:outerShdw sx="100000" sy="100000" kx="0" ky="0" algn="bl" rotWithShape="0" blurRad="101600" dist="38100" dir="5400000">
              <a:srgbClr val="2B50B4">
                <a:alpha val="16000"/>
              </a:srgbClr>
            </a:outerShdw>
          </a:effectLst>
        </p:spPr>
      </p:sp>
      <p:sp>
        <p:nvSpPr>
          <p:cNvPr id="28" name="Text 26"/>
          <p:cNvSpPr/>
          <p:nvPr/>
        </p:nvSpPr>
        <p:spPr>
          <a:xfrm>
            <a:off x="868680" y="4974336"/>
            <a:ext cx="1188720" cy="694944"/>
          </a:xfrm>
          <a:prstGeom prst="rect">
            <a:avLst/>
          </a:prstGeom>
          <a:noFill/>
          <a:ln/>
        </p:spPr>
        <p:txBody>
          <a:bodyPr wrap="square" rtlCol="0" anchor="ctr"/>
          <a:lstStyle/>
          <a:p>
            <a:pPr indent="0" marL="0">
              <a:buNone/>
            </a:pPr>
            <a:r>
              <a:rPr lang="en-US" sz="1500" b="1" dirty="0">
                <a:solidFill>
                  <a:srgbClr val="8A6100"/>
                </a:solidFill>
                <a:latin typeface="Calibri" pitchFamily="34" charset="0"/>
                <a:ea typeface="Calibri" pitchFamily="34" charset="-122"/>
                <a:cs typeface="Calibri" pitchFamily="34" charset="-120"/>
              </a:rPr>
              <a:t>In short:</a:t>
            </a:r>
            <a:endParaRPr lang="en-US" sz="1500" dirty="0"/>
          </a:p>
        </p:txBody>
      </p:sp>
      <p:sp>
        <p:nvSpPr>
          <p:cNvPr id="29" name="Text 27"/>
          <p:cNvSpPr/>
          <p:nvPr/>
        </p:nvSpPr>
        <p:spPr>
          <a:xfrm>
            <a:off x="1828800" y="4974336"/>
            <a:ext cx="9509760" cy="694944"/>
          </a:xfrm>
          <a:prstGeom prst="rect">
            <a:avLst/>
          </a:prstGeom>
          <a:noFill/>
          <a:ln/>
        </p:spPr>
        <p:txBody>
          <a:bodyPr wrap="square" rtlCol="0" anchor="ctr"/>
          <a:lstStyle/>
          <a:p>
            <a:pPr indent="0" marL="0">
              <a:buNone/>
            </a:pPr>
            <a:r>
              <a:rPr lang="en-US" sz="1500" dirty="0">
                <a:solidFill>
                  <a:srgbClr val="5C4708"/>
                </a:solidFill>
                <a:latin typeface="Calibri" pitchFamily="34" charset="0"/>
                <a:ea typeface="Calibri" pitchFamily="34" charset="-122"/>
                <a:cs typeface="Calibri" pitchFamily="34" charset="-120"/>
              </a:rPr>
              <a:t>Students already hold thousands of pages of digital material, but nothing turns it into retrieval practice — or tells them what to review today.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FFFFFF"/>
          </a:solidFill>
          <a:ln/>
        </p:spPr>
      </p:sp>
      <p:sp>
        <p:nvSpPr>
          <p:cNvPr id="3" name="Shape 1"/>
          <p:cNvSpPr/>
          <p:nvPr/>
        </p:nvSpPr>
        <p:spPr>
          <a:xfrm>
            <a:off x="0" y="1170432"/>
            <a:ext cx="12191695" cy="54864"/>
          </a:xfrm>
          <a:prstGeom prst="rect">
            <a:avLst/>
          </a:prstGeom>
          <a:solidFill>
            <a:srgbClr val="10B981"/>
          </a:solidFill>
          <a:ln/>
        </p:spPr>
      </p:sp>
      <p:sp>
        <p:nvSpPr>
          <p:cNvPr id="4" name="Shape 2"/>
          <p:cNvSpPr/>
          <p:nvPr/>
        </p:nvSpPr>
        <p:spPr>
          <a:xfrm>
            <a:off x="457200" y="274320"/>
            <a:ext cx="100584" cy="658368"/>
          </a:xfrm>
          <a:prstGeom prst="rect">
            <a:avLst/>
          </a:prstGeom>
          <a:solidFill>
            <a:srgbClr val="10B981"/>
          </a:solidFill>
          <a:ln/>
        </p:spPr>
      </p:sp>
      <p:sp>
        <p:nvSpPr>
          <p:cNvPr id="5" name="Text 3"/>
          <p:cNvSpPr/>
          <p:nvPr/>
        </p:nvSpPr>
        <p:spPr>
          <a:xfrm>
            <a:off x="685800" y="201168"/>
            <a:ext cx="9601200" cy="457200"/>
          </a:xfrm>
          <a:prstGeom prst="rect">
            <a:avLst/>
          </a:prstGeom>
          <a:noFill/>
          <a:ln/>
        </p:spPr>
        <p:txBody>
          <a:bodyPr wrap="square" rtlCol="0" anchor="ctr"/>
          <a:lstStyle/>
          <a:p>
            <a:pPr indent="0" marL="0">
              <a:buNone/>
            </a:pPr>
            <a:r>
              <a:rPr lang="en-US" sz="2700" b="1" dirty="0">
                <a:solidFill>
                  <a:srgbClr val="10233F"/>
                </a:solidFill>
                <a:latin typeface="Calibri" pitchFamily="34" charset="0"/>
                <a:ea typeface="Calibri" pitchFamily="34" charset="-122"/>
                <a:cs typeface="Calibri" pitchFamily="34" charset="-120"/>
              </a:rPr>
              <a:t>The opportunity</a:t>
            </a:r>
            <a:endParaRPr lang="en-US" sz="2700" dirty="0"/>
          </a:p>
        </p:txBody>
      </p:sp>
      <p:sp>
        <p:nvSpPr>
          <p:cNvPr id="6" name="Text 4"/>
          <p:cNvSpPr/>
          <p:nvPr/>
        </p:nvSpPr>
        <p:spPr>
          <a:xfrm>
            <a:off x="704088" y="658368"/>
            <a:ext cx="10241280" cy="384048"/>
          </a:xfrm>
          <a:prstGeom prst="rect">
            <a:avLst/>
          </a:prstGeom>
          <a:noFill/>
          <a:ln/>
        </p:spPr>
        <p:txBody>
          <a:bodyPr wrap="square" rtlCol="0" anchor="ctr"/>
          <a:lstStyle/>
          <a:p>
            <a:pPr indent="0" marL="0">
              <a:buNone/>
            </a:pPr>
            <a:r>
              <a:rPr lang="en-US" sz="1400" dirty="0">
                <a:solidFill>
                  <a:srgbClr val="5B7192"/>
                </a:solidFill>
                <a:latin typeface="Calibri" pitchFamily="34" charset="0"/>
                <a:ea typeface="Calibri" pitchFamily="34" charset="-122"/>
                <a:cs typeface="Calibri" pitchFamily="34" charset="-120"/>
              </a:rPr>
              <a:t>Two technologies matured at the right moment.</a:t>
            </a:r>
            <a:endParaRPr lang="en-US" sz="1400" dirty="0"/>
          </a:p>
        </p:txBody>
      </p:sp>
      <p:sp>
        <p:nvSpPr>
          <p:cNvPr id="7" name="Text 5"/>
          <p:cNvSpPr/>
          <p:nvPr/>
        </p:nvSpPr>
        <p:spPr>
          <a:xfrm>
            <a:off x="10957255" y="6291072"/>
            <a:ext cx="777240" cy="329184"/>
          </a:xfrm>
          <a:prstGeom prst="rect">
            <a:avLst/>
          </a:prstGeom>
          <a:noFill/>
          <a:ln/>
        </p:spPr>
        <p:txBody>
          <a:bodyPr wrap="square" rtlCol="0" anchor="ctr"/>
          <a:lstStyle/>
          <a:p>
            <a:pPr algn="r" indent="0" marL="0">
              <a:buNone/>
            </a:pPr>
            <a:r>
              <a:rPr lang="en-US" sz="1200" dirty="0">
                <a:solidFill>
                  <a:srgbClr val="5B7192"/>
                </a:solidFill>
                <a:latin typeface="Calibri" pitchFamily="34" charset="0"/>
                <a:ea typeface="Calibri" pitchFamily="34" charset="-122"/>
                <a:cs typeface="Calibri" pitchFamily="34" charset="-120"/>
              </a:rPr>
              <a:t>3</a:t>
            </a:r>
            <a:endParaRPr lang="en-US" sz="1200" dirty="0"/>
          </a:p>
        </p:txBody>
      </p:sp>
      <p:sp>
        <p:nvSpPr>
          <p:cNvPr id="8" name="Text 6"/>
          <p:cNvSpPr/>
          <p:nvPr/>
        </p:nvSpPr>
        <p:spPr>
          <a:xfrm>
            <a:off x="457200" y="6291072"/>
            <a:ext cx="4114800" cy="329184"/>
          </a:xfrm>
          <a:prstGeom prst="rect">
            <a:avLst/>
          </a:prstGeom>
          <a:noFill/>
          <a:ln/>
        </p:spPr>
        <p:txBody>
          <a:bodyPr wrap="square" rtlCol="0" anchor="ctr"/>
          <a:lstStyle/>
          <a:p>
            <a:pPr indent="0" marL="0">
              <a:buNone/>
            </a:pPr>
            <a:r>
              <a:rPr lang="en-US" sz="1100" dirty="0">
                <a:solidFill>
                  <a:srgbClr val="5B7192"/>
                </a:solidFill>
                <a:latin typeface="Calibri" pitchFamily="34" charset="0"/>
                <a:ea typeface="Calibri" pitchFamily="34" charset="-122"/>
                <a:cs typeface="Calibri" pitchFamily="34" charset="-120"/>
              </a:rPr>
              <a:t>QuizTime · Concept Paper</a:t>
            </a:r>
            <a:endParaRPr lang="en-US" sz="1100" dirty="0"/>
          </a:p>
        </p:txBody>
      </p:sp>
      <p:sp>
        <p:nvSpPr>
          <p:cNvPr id="9" name="Shape 7"/>
          <p:cNvSpPr/>
          <p:nvPr/>
        </p:nvSpPr>
        <p:spPr>
          <a:xfrm>
            <a:off x="566928" y="1572768"/>
            <a:ext cx="5312664" cy="2377440"/>
          </a:xfrm>
          <a:prstGeom prst="roundRect">
            <a:avLst>
              <a:gd name="adj" fmla="val 4615"/>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0" name="Shape 8"/>
          <p:cNvSpPr/>
          <p:nvPr/>
        </p:nvSpPr>
        <p:spPr>
          <a:xfrm>
            <a:off x="566928" y="1572768"/>
            <a:ext cx="118872" cy="2377440"/>
          </a:xfrm>
          <a:prstGeom prst="rect">
            <a:avLst/>
          </a:prstGeom>
          <a:solidFill>
            <a:srgbClr val="10B981"/>
          </a:solidFill>
          <a:ln/>
        </p:spPr>
      </p:sp>
      <p:sp>
        <p:nvSpPr>
          <p:cNvPr id="11" name="Text 9"/>
          <p:cNvSpPr/>
          <p:nvPr/>
        </p:nvSpPr>
        <p:spPr>
          <a:xfrm>
            <a:off x="914400" y="1773936"/>
            <a:ext cx="4754880" cy="548640"/>
          </a:xfrm>
          <a:prstGeom prst="rect">
            <a:avLst/>
          </a:prstGeom>
          <a:noFill/>
          <a:ln/>
        </p:spPr>
        <p:txBody>
          <a:bodyPr wrap="square" rtlCol="0" anchor="ctr"/>
          <a:lstStyle/>
          <a:p>
            <a:pPr indent="0" marL="0">
              <a:buNone/>
            </a:pPr>
            <a:r>
              <a:rPr lang="en-US" sz="1900" b="1" dirty="0">
                <a:solidFill>
                  <a:srgbClr val="10233F"/>
                </a:solidFill>
                <a:latin typeface="Calibri" pitchFamily="34" charset="0"/>
                <a:ea typeface="Calibri" pitchFamily="34" charset="-122"/>
                <a:cs typeface="Calibri" pitchFamily="34" charset="-120"/>
              </a:rPr>
              <a:t>Generative AI can read your material</a:t>
            </a:r>
            <a:endParaRPr lang="en-US" sz="1900" dirty="0"/>
          </a:p>
        </p:txBody>
      </p:sp>
      <p:sp>
        <p:nvSpPr>
          <p:cNvPr id="12" name="Shape 10"/>
          <p:cNvSpPr/>
          <p:nvPr/>
        </p:nvSpPr>
        <p:spPr>
          <a:xfrm>
            <a:off x="950976" y="2606040"/>
            <a:ext cx="146304" cy="146304"/>
          </a:xfrm>
          <a:prstGeom prst="ellipse">
            <a:avLst/>
          </a:prstGeom>
          <a:solidFill>
            <a:srgbClr val="10B981"/>
          </a:solidFill>
          <a:ln/>
        </p:spPr>
      </p:sp>
      <p:sp>
        <p:nvSpPr>
          <p:cNvPr id="13" name="Text 11"/>
          <p:cNvSpPr/>
          <p:nvPr/>
        </p:nvSpPr>
        <p:spPr>
          <a:xfrm>
            <a:off x="1225296" y="2432304"/>
            <a:ext cx="4434840" cy="640080"/>
          </a:xfrm>
          <a:prstGeom prst="rect">
            <a:avLst/>
          </a:prstGeom>
          <a:noFill/>
          <a:ln/>
        </p:spPr>
        <p:txBody>
          <a:bodyPr wrap="square" rtlCol="0" anchor="ctr"/>
          <a:lstStyle/>
          <a:p>
            <a:pPr indent="0" marL="0">
              <a:lnSpc>
                <a:spcPct val="110000"/>
              </a:lnSpc>
              <a:buNone/>
            </a:pPr>
            <a:r>
              <a:rPr lang="en-US" sz="1250" dirty="0">
                <a:solidFill>
                  <a:srgbClr val="3B4E6B"/>
                </a:solidFill>
                <a:latin typeface="Calibri" pitchFamily="34" charset="0"/>
                <a:ea typeface="Calibri" pitchFamily="34" charset="-122"/>
                <a:cs typeface="Calibri" pitchFamily="34" charset="-120"/>
              </a:rPr>
              <a:t>A 40-page lecture can be summarised into key concepts, definitions and enumerations in seconds.</a:t>
            </a:r>
            <a:endParaRPr lang="en-US" sz="1250" dirty="0"/>
          </a:p>
        </p:txBody>
      </p:sp>
      <p:sp>
        <p:nvSpPr>
          <p:cNvPr id="14" name="Shape 12"/>
          <p:cNvSpPr/>
          <p:nvPr/>
        </p:nvSpPr>
        <p:spPr>
          <a:xfrm>
            <a:off x="950976" y="3264408"/>
            <a:ext cx="146304" cy="146304"/>
          </a:xfrm>
          <a:prstGeom prst="ellipse">
            <a:avLst/>
          </a:prstGeom>
          <a:solidFill>
            <a:srgbClr val="10B981"/>
          </a:solidFill>
          <a:ln/>
        </p:spPr>
      </p:sp>
      <p:sp>
        <p:nvSpPr>
          <p:cNvPr id="15" name="Text 13"/>
          <p:cNvSpPr/>
          <p:nvPr/>
        </p:nvSpPr>
        <p:spPr>
          <a:xfrm>
            <a:off x="1225296" y="3090672"/>
            <a:ext cx="4434840" cy="640080"/>
          </a:xfrm>
          <a:prstGeom prst="rect">
            <a:avLst/>
          </a:prstGeom>
          <a:noFill/>
          <a:ln/>
        </p:spPr>
        <p:txBody>
          <a:bodyPr wrap="square" rtlCol="0" anchor="ctr"/>
          <a:lstStyle/>
          <a:p>
            <a:pPr indent="0" marL="0">
              <a:lnSpc>
                <a:spcPct val="110000"/>
              </a:lnSpc>
              <a:buNone/>
            </a:pPr>
            <a:r>
              <a:rPr lang="en-US" sz="1250" dirty="0">
                <a:solidFill>
                  <a:srgbClr val="3B4E6B"/>
                </a:solidFill>
                <a:latin typeface="Calibri" pitchFamily="34" charset="0"/>
                <a:ea typeface="Calibri" pitchFamily="34" charset="-122"/>
                <a:cs typeface="Calibri" pitchFamily="34" charset="-120"/>
              </a:rPr>
              <a:t>That is exactly the tedious part of building flashcards — and the part learners skip.</a:t>
            </a:r>
            <a:endParaRPr lang="en-US" sz="1250" dirty="0"/>
          </a:p>
        </p:txBody>
      </p:sp>
      <p:sp>
        <p:nvSpPr>
          <p:cNvPr id="16" name="Shape 14"/>
          <p:cNvSpPr/>
          <p:nvPr/>
        </p:nvSpPr>
        <p:spPr>
          <a:xfrm>
            <a:off x="6309360" y="1572768"/>
            <a:ext cx="5312664" cy="2377440"/>
          </a:xfrm>
          <a:prstGeom prst="roundRect">
            <a:avLst>
              <a:gd name="adj" fmla="val 4615"/>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7" name="Shape 15"/>
          <p:cNvSpPr/>
          <p:nvPr/>
        </p:nvSpPr>
        <p:spPr>
          <a:xfrm>
            <a:off x="6309360" y="1572768"/>
            <a:ext cx="118872" cy="2377440"/>
          </a:xfrm>
          <a:prstGeom prst="rect">
            <a:avLst/>
          </a:prstGeom>
          <a:solidFill>
            <a:srgbClr val="06B6D4"/>
          </a:solidFill>
          <a:ln/>
        </p:spPr>
      </p:sp>
      <p:sp>
        <p:nvSpPr>
          <p:cNvPr id="18" name="Text 16"/>
          <p:cNvSpPr/>
          <p:nvPr/>
        </p:nvSpPr>
        <p:spPr>
          <a:xfrm>
            <a:off x="6656832" y="1773936"/>
            <a:ext cx="4754880" cy="548640"/>
          </a:xfrm>
          <a:prstGeom prst="rect">
            <a:avLst/>
          </a:prstGeom>
          <a:noFill/>
          <a:ln/>
        </p:spPr>
        <p:txBody>
          <a:bodyPr wrap="square" rtlCol="0" anchor="ctr"/>
          <a:lstStyle/>
          <a:p>
            <a:pPr indent="0" marL="0">
              <a:buNone/>
            </a:pPr>
            <a:r>
              <a:rPr lang="en-US" sz="1900" b="1" dirty="0">
                <a:solidFill>
                  <a:srgbClr val="10233F"/>
                </a:solidFill>
                <a:latin typeface="Calibri" pitchFamily="34" charset="0"/>
                <a:ea typeface="Calibri" pitchFamily="34" charset="-122"/>
                <a:cs typeface="Calibri" pitchFamily="34" charset="-120"/>
              </a:rPr>
              <a:t>Web apps can now work offline</a:t>
            </a:r>
            <a:endParaRPr lang="en-US" sz="1900" dirty="0"/>
          </a:p>
        </p:txBody>
      </p:sp>
      <p:sp>
        <p:nvSpPr>
          <p:cNvPr id="19" name="Shape 17"/>
          <p:cNvSpPr/>
          <p:nvPr/>
        </p:nvSpPr>
        <p:spPr>
          <a:xfrm>
            <a:off x="6693408" y="2606040"/>
            <a:ext cx="146304" cy="146304"/>
          </a:xfrm>
          <a:prstGeom prst="ellipse">
            <a:avLst/>
          </a:prstGeom>
          <a:solidFill>
            <a:srgbClr val="06B6D4"/>
          </a:solidFill>
          <a:ln/>
        </p:spPr>
      </p:sp>
      <p:sp>
        <p:nvSpPr>
          <p:cNvPr id="20" name="Text 18"/>
          <p:cNvSpPr/>
          <p:nvPr/>
        </p:nvSpPr>
        <p:spPr>
          <a:xfrm>
            <a:off x="6967728" y="2432304"/>
            <a:ext cx="4434840" cy="640080"/>
          </a:xfrm>
          <a:prstGeom prst="rect">
            <a:avLst/>
          </a:prstGeom>
          <a:noFill/>
          <a:ln/>
        </p:spPr>
        <p:txBody>
          <a:bodyPr wrap="square" rtlCol="0" anchor="ctr"/>
          <a:lstStyle/>
          <a:p>
            <a:pPr indent="0" marL="0">
              <a:lnSpc>
                <a:spcPct val="110000"/>
              </a:lnSpc>
              <a:buNone/>
            </a:pPr>
            <a:r>
              <a:rPr lang="en-US" sz="1250" dirty="0">
                <a:solidFill>
                  <a:srgbClr val="3B4E6B"/>
                </a:solidFill>
                <a:latin typeface="Calibri" pitchFamily="34" charset="0"/>
                <a:ea typeface="Calibri" pitchFamily="34" charset="-122"/>
                <a:cs typeface="Calibri" pitchFamily="34" charset="-120"/>
              </a:rPr>
              <a:t>A browser-installed app can cache itself, its data and its logic.</a:t>
            </a:r>
            <a:endParaRPr lang="en-US" sz="1250" dirty="0"/>
          </a:p>
        </p:txBody>
      </p:sp>
      <p:sp>
        <p:nvSpPr>
          <p:cNvPr id="21" name="Shape 19"/>
          <p:cNvSpPr/>
          <p:nvPr/>
        </p:nvSpPr>
        <p:spPr>
          <a:xfrm>
            <a:off x="6693408" y="3264408"/>
            <a:ext cx="146304" cy="146304"/>
          </a:xfrm>
          <a:prstGeom prst="ellipse">
            <a:avLst/>
          </a:prstGeom>
          <a:solidFill>
            <a:srgbClr val="06B6D4"/>
          </a:solidFill>
          <a:ln/>
        </p:spPr>
      </p:sp>
      <p:sp>
        <p:nvSpPr>
          <p:cNvPr id="22" name="Text 20"/>
          <p:cNvSpPr/>
          <p:nvPr/>
        </p:nvSpPr>
        <p:spPr>
          <a:xfrm>
            <a:off x="6967728" y="3090672"/>
            <a:ext cx="4434840" cy="640080"/>
          </a:xfrm>
          <a:prstGeom prst="rect">
            <a:avLst/>
          </a:prstGeom>
          <a:noFill/>
          <a:ln/>
        </p:spPr>
        <p:txBody>
          <a:bodyPr wrap="square" rtlCol="0" anchor="ctr"/>
          <a:lstStyle/>
          <a:p>
            <a:pPr indent="0" marL="0">
              <a:lnSpc>
                <a:spcPct val="110000"/>
              </a:lnSpc>
              <a:buNone/>
            </a:pPr>
            <a:r>
              <a:rPr lang="en-US" sz="1250" dirty="0">
                <a:solidFill>
                  <a:srgbClr val="3B4E6B"/>
                </a:solidFill>
                <a:latin typeface="Calibri" pitchFamily="34" charset="0"/>
                <a:ea typeface="Calibri" pitchFamily="34" charset="-122"/>
                <a:cs typeface="Calibri" pitchFamily="34" charset="-120"/>
              </a:rPr>
              <a:t>Study sessions no longer have to depend on a stable connection.</a:t>
            </a:r>
            <a:endParaRPr lang="en-US" sz="1250" dirty="0"/>
          </a:p>
        </p:txBody>
      </p:sp>
      <p:sp>
        <p:nvSpPr>
          <p:cNvPr id="23" name="Shape 21"/>
          <p:cNvSpPr/>
          <p:nvPr/>
        </p:nvSpPr>
        <p:spPr>
          <a:xfrm>
            <a:off x="566928" y="4133088"/>
            <a:ext cx="11055096" cy="1700784"/>
          </a:xfrm>
          <a:prstGeom prst="roundRect">
            <a:avLst>
              <a:gd name="adj" fmla="val 6452"/>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24" name="Text 22"/>
          <p:cNvSpPr/>
          <p:nvPr/>
        </p:nvSpPr>
        <p:spPr>
          <a:xfrm>
            <a:off x="868680" y="4297680"/>
            <a:ext cx="5486400" cy="402336"/>
          </a:xfrm>
          <a:prstGeom prst="rect">
            <a:avLst/>
          </a:prstGeom>
          <a:noFill/>
          <a:ln/>
        </p:spPr>
        <p:txBody>
          <a:bodyPr wrap="square" rtlCol="0" anchor="ctr"/>
          <a:lstStyle/>
          <a:p>
            <a:pPr indent="0" marL="0">
              <a:buNone/>
            </a:pPr>
            <a:r>
              <a:rPr lang="en-US" sz="1800" b="1" dirty="0">
                <a:solidFill>
                  <a:srgbClr val="10233F"/>
                </a:solidFill>
                <a:latin typeface="Calibri" pitchFamily="34" charset="0"/>
                <a:ea typeface="Calibri" pitchFamily="34" charset="-122"/>
                <a:cs typeface="Calibri" pitchFamily="34" charset="-120"/>
              </a:rPr>
              <a:t>The gap this project fills</a:t>
            </a:r>
            <a:endParaRPr lang="en-US" sz="1800" dirty="0"/>
          </a:p>
        </p:txBody>
      </p:sp>
      <p:sp>
        <p:nvSpPr>
          <p:cNvPr id="25" name="Text 23"/>
          <p:cNvSpPr/>
          <p:nvPr/>
        </p:nvSpPr>
        <p:spPr>
          <a:xfrm>
            <a:off x="868680" y="4681728"/>
            <a:ext cx="10424160" cy="457200"/>
          </a:xfrm>
          <a:prstGeom prst="rect">
            <a:avLst/>
          </a:prstGeom>
          <a:noFill/>
          <a:ln/>
        </p:spPr>
        <p:txBody>
          <a:bodyPr wrap="square" rtlCol="0" anchor="ctr"/>
          <a:lstStyle/>
          <a:p>
            <a:pPr indent="0" marL="0">
              <a:buNone/>
            </a:pPr>
            <a:r>
              <a:rPr lang="en-US" sz="1350" dirty="0">
                <a:solidFill>
                  <a:srgbClr val="3B4E6B"/>
                </a:solidFill>
                <a:latin typeface="Calibri" pitchFamily="34" charset="0"/>
                <a:ea typeface="Calibri" pitchFamily="34" charset="-122"/>
                <a:cs typeface="Calibri" pitchFamily="34" charset="-120"/>
              </a:rPr>
              <a:t>Existing flashcard apps make you type every card by hand. AI study tools generate cards but rarely schedule them properly, and many assume a constant connection.</a:t>
            </a:r>
            <a:endParaRPr lang="en-US" sz="1350" dirty="0"/>
          </a:p>
        </p:txBody>
      </p:sp>
      <p:sp>
        <p:nvSpPr>
          <p:cNvPr id="26" name="Text 24"/>
          <p:cNvSpPr/>
          <p:nvPr/>
        </p:nvSpPr>
        <p:spPr>
          <a:xfrm>
            <a:off x="868680" y="5193792"/>
            <a:ext cx="10424160" cy="457200"/>
          </a:xfrm>
          <a:prstGeom prst="rect">
            <a:avLst/>
          </a:prstGeom>
          <a:noFill/>
          <a:ln/>
        </p:spPr>
        <p:txBody>
          <a:bodyPr wrap="square" rtlCol="0" anchor="ctr"/>
          <a:lstStyle/>
          <a:p>
            <a:pPr indent="0" marL="0">
              <a:buNone/>
            </a:pPr>
            <a:r>
              <a:rPr lang="en-US" sz="1350" b="1" dirty="0">
                <a:solidFill>
                  <a:srgbClr val="1D4ED8"/>
                </a:solidFill>
                <a:latin typeface="Calibri" pitchFamily="34" charset="0"/>
                <a:ea typeface="Calibri" pitchFamily="34" charset="-122"/>
                <a:cs typeface="Calibri" pitchFamily="34" charset="-120"/>
              </a:rPr>
              <a:t>QuizTime joins all three: AI generation, evidence-based scheduling, and offline study — from the learner's own documents.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FFFFFF"/>
          </a:solidFill>
          <a:ln/>
        </p:spPr>
      </p:sp>
      <p:sp>
        <p:nvSpPr>
          <p:cNvPr id="3" name="Shape 1"/>
          <p:cNvSpPr/>
          <p:nvPr/>
        </p:nvSpPr>
        <p:spPr>
          <a:xfrm>
            <a:off x="0" y="1170432"/>
            <a:ext cx="12191695" cy="54864"/>
          </a:xfrm>
          <a:prstGeom prst="rect">
            <a:avLst/>
          </a:prstGeom>
          <a:solidFill>
            <a:srgbClr val="1D4ED8"/>
          </a:solidFill>
          <a:ln/>
        </p:spPr>
      </p:sp>
      <p:sp>
        <p:nvSpPr>
          <p:cNvPr id="4" name="Shape 2"/>
          <p:cNvSpPr/>
          <p:nvPr/>
        </p:nvSpPr>
        <p:spPr>
          <a:xfrm>
            <a:off x="457200" y="274320"/>
            <a:ext cx="100584" cy="658368"/>
          </a:xfrm>
          <a:prstGeom prst="rect">
            <a:avLst/>
          </a:prstGeom>
          <a:solidFill>
            <a:srgbClr val="1D4ED8"/>
          </a:solidFill>
          <a:ln/>
        </p:spPr>
      </p:sp>
      <p:sp>
        <p:nvSpPr>
          <p:cNvPr id="5" name="Text 3"/>
          <p:cNvSpPr/>
          <p:nvPr/>
        </p:nvSpPr>
        <p:spPr>
          <a:xfrm>
            <a:off x="685800" y="201168"/>
            <a:ext cx="9601200" cy="457200"/>
          </a:xfrm>
          <a:prstGeom prst="rect">
            <a:avLst/>
          </a:prstGeom>
          <a:noFill/>
          <a:ln/>
        </p:spPr>
        <p:txBody>
          <a:bodyPr wrap="square" rtlCol="0" anchor="ctr"/>
          <a:lstStyle/>
          <a:p>
            <a:pPr indent="0" marL="0">
              <a:buNone/>
            </a:pPr>
            <a:r>
              <a:rPr lang="en-US" sz="2700" b="1" dirty="0">
                <a:solidFill>
                  <a:srgbClr val="10233F"/>
                </a:solidFill>
                <a:latin typeface="Calibri" pitchFamily="34" charset="0"/>
                <a:ea typeface="Calibri" pitchFamily="34" charset="-122"/>
                <a:cs typeface="Calibri" pitchFamily="34" charset="-120"/>
              </a:rPr>
              <a:t>Objectives of the study</a:t>
            </a:r>
            <a:endParaRPr lang="en-US" sz="2700" dirty="0"/>
          </a:p>
        </p:txBody>
      </p:sp>
      <p:sp>
        <p:nvSpPr>
          <p:cNvPr id="6" name="Text 4"/>
          <p:cNvSpPr/>
          <p:nvPr/>
        </p:nvSpPr>
        <p:spPr>
          <a:xfrm>
            <a:off x="704088" y="658368"/>
            <a:ext cx="10241280" cy="384048"/>
          </a:xfrm>
          <a:prstGeom prst="rect">
            <a:avLst/>
          </a:prstGeom>
          <a:noFill/>
          <a:ln/>
        </p:spPr>
        <p:txBody>
          <a:bodyPr wrap="square" rtlCol="0" anchor="ctr"/>
          <a:lstStyle/>
          <a:p>
            <a:pPr indent="0" marL="0">
              <a:buNone/>
            </a:pPr>
            <a:r>
              <a:rPr lang="en-US" sz="1400" dirty="0">
                <a:solidFill>
                  <a:srgbClr val="5B7192"/>
                </a:solidFill>
                <a:latin typeface="Calibri" pitchFamily="34" charset="0"/>
                <a:ea typeface="Calibri" pitchFamily="34" charset="-122"/>
                <a:cs typeface="Calibri" pitchFamily="34" charset="-120"/>
              </a:rPr>
              <a:t>General objective, then seven specific objectives.</a:t>
            </a:r>
            <a:endParaRPr lang="en-US" sz="1400" dirty="0"/>
          </a:p>
        </p:txBody>
      </p:sp>
      <p:sp>
        <p:nvSpPr>
          <p:cNvPr id="7" name="Text 5"/>
          <p:cNvSpPr/>
          <p:nvPr/>
        </p:nvSpPr>
        <p:spPr>
          <a:xfrm>
            <a:off x="10957255" y="6291072"/>
            <a:ext cx="777240" cy="329184"/>
          </a:xfrm>
          <a:prstGeom prst="rect">
            <a:avLst/>
          </a:prstGeom>
          <a:noFill/>
          <a:ln/>
        </p:spPr>
        <p:txBody>
          <a:bodyPr wrap="square" rtlCol="0" anchor="ctr"/>
          <a:lstStyle/>
          <a:p>
            <a:pPr algn="r" indent="0" marL="0">
              <a:buNone/>
            </a:pPr>
            <a:r>
              <a:rPr lang="en-US" sz="1200" dirty="0">
                <a:solidFill>
                  <a:srgbClr val="5B7192"/>
                </a:solidFill>
                <a:latin typeface="Calibri" pitchFamily="34" charset="0"/>
                <a:ea typeface="Calibri" pitchFamily="34" charset="-122"/>
                <a:cs typeface="Calibri" pitchFamily="34" charset="-120"/>
              </a:rPr>
              <a:t>4</a:t>
            </a:r>
            <a:endParaRPr lang="en-US" sz="1200" dirty="0"/>
          </a:p>
        </p:txBody>
      </p:sp>
      <p:sp>
        <p:nvSpPr>
          <p:cNvPr id="8" name="Text 6"/>
          <p:cNvSpPr/>
          <p:nvPr/>
        </p:nvSpPr>
        <p:spPr>
          <a:xfrm>
            <a:off x="457200" y="6291072"/>
            <a:ext cx="4114800" cy="329184"/>
          </a:xfrm>
          <a:prstGeom prst="rect">
            <a:avLst/>
          </a:prstGeom>
          <a:noFill/>
          <a:ln/>
        </p:spPr>
        <p:txBody>
          <a:bodyPr wrap="square" rtlCol="0" anchor="ctr"/>
          <a:lstStyle/>
          <a:p>
            <a:pPr indent="0" marL="0">
              <a:buNone/>
            </a:pPr>
            <a:r>
              <a:rPr lang="en-US" sz="1100" dirty="0">
                <a:solidFill>
                  <a:srgbClr val="5B7192"/>
                </a:solidFill>
                <a:latin typeface="Calibri" pitchFamily="34" charset="0"/>
                <a:ea typeface="Calibri" pitchFamily="34" charset="-122"/>
                <a:cs typeface="Calibri" pitchFamily="34" charset="-120"/>
              </a:rPr>
              <a:t>QuizTime · Concept Paper</a:t>
            </a:r>
            <a:endParaRPr lang="en-US" sz="1100" dirty="0"/>
          </a:p>
        </p:txBody>
      </p:sp>
      <p:sp>
        <p:nvSpPr>
          <p:cNvPr id="9" name="Shape 7"/>
          <p:cNvSpPr/>
          <p:nvPr/>
        </p:nvSpPr>
        <p:spPr>
          <a:xfrm>
            <a:off x="566928" y="1536192"/>
            <a:ext cx="11055096" cy="932688"/>
          </a:xfrm>
          <a:prstGeom prst="roundRect">
            <a:avLst>
              <a:gd name="adj" fmla="val 11765"/>
            </a:avLst>
          </a:prstGeom>
          <a:solidFill>
            <a:srgbClr val="E4EDFD"/>
          </a:solidFill>
          <a:ln w="12700">
            <a:solidFill>
              <a:srgbClr val="C7D7F5"/>
            </a:solidFill>
            <a:prstDash val="solid"/>
          </a:ln>
          <a:effectLst>
            <a:outerShdw sx="100000" sy="100000" kx="0" ky="0" algn="bl" rotWithShape="0" blurRad="101600" dist="38100" dir="5400000">
              <a:srgbClr val="2B50B4">
                <a:alpha val="16000"/>
              </a:srgbClr>
            </a:outerShdw>
          </a:effectLst>
        </p:spPr>
      </p:sp>
      <p:sp>
        <p:nvSpPr>
          <p:cNvPr id="10" name="Text 8"/>
          <p:cNvSpPr/>
          <p:nvPr/>
        </p:nvSpPr>
        <p:spPr>
          <a:xfrm>
            <a:off x="868680" y="1645920"/>
            <a:ext cx="10424160" cy="731520"/>
          </a:xfrm>
          <a:prstGeom prst="rect">
            <a:avLst/>
          </a:prstGeom>
          <a:noFill/>
          <a:ln/>
        </p:spPr>
        <p:txBody>
          <a:bodyPr wrap="square" rtlCol="0" anchor="ctr"/>
          <a:lstStyle/>
          <a:p>
            <a:pPr indent="0" marL="0">
              <a:lnSpc>
                <a:spcPct val="105000"/>
              </a:lnSpc>
              <a:buNone/>
            </a:pPr>
            <a:r>
              <a:rPr lang="en-US" sz="1400" b="1" dirty="0">
                <a:solidFill>
                  <a:srgbClr val="1D4ED8"/>
                </a:solidFill>
                <a:latin typeface="Calibri" pitchFamily="34" charset="0"/>
                <a:ea typeface="Calibri" pitchFamily="34" charset="-122"/>
                <a:cs typeface="Calibri" pitchFamily="34" charset="-120"/>
              </a:rPr>
              <a:t>General objective:  </a:t>
            </a:r>
            <a:pPr indent="0" marL="0">
              <a:lnSpc>
                <a:spcPct val="105000"/>
              </a:lnSpc>
              <a:buNone/>
            </a:pPr>
            <a:r>
              <a:rPr lang="en-US" sz="1400" dirty="0">
                <a:solidFill>
                  <a:srgbClr val="10233F"/>
                </a:solidFill>
                <a:latin typeface="Calibri" pitchFamily="34" charset="0"/>
                <a:ea typeface="Calibri" pitchFamily="34" charset="-122"/>
                <a:cs typeface="Calibri" pitchFamily="34" charset="-120"/>
              </a:rPr>
              <a:t>to design and develop QuizTime — an AI-assisted, offline-capable flashcard and quiz generator that turns a learner's own documents into active-recall practice — and to evaluate its functionality, reliability and acceptability.</a:t>
            </a:r>
            <a:endParaRPr lang="en-US" sz="1400" dirty="0"/>
          </a:p>
        </p:txBody>
      </p:sp>
      <p:sp>
        <p:nvSpPr>
          <p:cNvPr id="11" name="Shape 9"/>
          <p:cNvSpPr/>
          <p:nvPr/>
        </p:nvSpPr>
        <p:spPr>
          <a:xfrm>
            <a:off x="566928" y="2670048"/>
            <a:ext cx="5312664" cy="841248"/>
          </a:xfrm>
          <a:prstGeom prst="roundRect">
            <a:avLst>
              <a:gd name="adj" fmla="val 13043"/>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2" name="Shape 10"/>
          <p:cNvSpPr/>
          <p:nvPr/>
        </p:nvSpPr>
        <p:spPr>
          <a:xfrm>
            <a:off x="768096" y="2871216"/>
            <a:ext cx="438912" cy="438912"/>
          </a:xfrm>
          <a:prstGeom prst="ellipse">
            <a:avLst/>
          </a:prstGeom>
          <a:solidFill>
            <a:srgbClr val="3B82F6"/>
          </a:solidFill>
          <a:ln/>
        </p:spPr>
      </p:sp>
      <p:sp>
        <p:nvSpPr>
          <p:cNvPr id="13" name="Text 11"/>
          <p:cNvSpPr/>
          <p:nvPr/>
        </p:nvSpPr>
        <p:spPr>
          <a:xfrm>
            <a:off x="768096" y="2871216"/>
            <a:ext cx="438912" cy="43891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4" name="Text 12"/>
          <p:cNvSpPr/>
          <p:nvPr/>
        </p:nvSpPr>
        <p:spPr>
          <a:xfrm>
            <a:off x="1335024" y="2743200"/>
            <a:ext cx="4398264" cy="347472"/>
          </a:xfrm>
          <a:prstGeom prst="rect">
            <a:avLst/>
          </a:prstGeom>
          <a:noFill/>
          <a:ln/>
        </p:spPr>
        <p:txBody>
          <a:bodyPr wrap="square" rtlCol="0" anchor="ctr"/>
          <a:lstStyle/>
          <a:p>
            <a:pPr indent="0" marL="0">
              <a:buNone/>
            </a:pPr>
            <a:r>
              <a:rPr lang="en-US" sz="1400" b="1" dirty="0">
                <a:solidFill>
                  <a:srgbClr val="10233F"/>
                </a:solidFill>
                <a:latin typeface="Calibri" pitchFamily="34" charset="0"/>
                <a:ea typeface="Calibri" pitchFamily="34" charset="-122"/>
                <a:cs typeface="Calibri" pitchFamily="34" charset="-120"/>
              </a:rPr>
              <a:t>Build the generation pipeline</a:t>
            </a:r>
            <a:endParaRPr lang="en-US" sz="1400" dirty="0"/>
          </a:p>
        </p:txBody>
      </p:sp>
      <p:sp>
        <p:nvSpPr>
          <p:cNvPr id="15" name="Text 13"/>
          <p:cNvSpPr/>
          <p:nvPr/>
        </p:nvSpPr>
        <p:spPr>
          <a:xfrm>
            <a:off x="1335024" y="3072384"/>
            <a:ext cx="4398264" cy="365760"/>
          </a:xfrm>
          <a:prstGeom prst="rect">
            <a:avLst/>
          </a:prstGeom>
          <a:noFill/>
          <a:ln/>
        </p:spPr>
        <p:txBody>
          <a:bodyPr wrap="square" rtlCol="0" anchor="ctr"/>
          <a:lstStyle/>
          <a:p>
            <a:pPr indent="0" marL="0">
              <a:buNone/>
            </a:pPr>
            <a:r>
              <a:rPr lang="en-US" sz="1150" dirty="0">
                <a:solidFill>
                  <a:srgbClr val="5B7192"/>
                </a:solidFill>
                <a:latin typeface="Calibri" pitchFamily="34" charset="0"/>
                <a:ea typeface="Calibri" pitchFamily="34" charset="-122"/>
                <a:cs typeface="Calibri" pitchFamily="34" charset="-120"/>
              </a:rPr>
              <a:t>8 files or 100k characters → 8–20 cards with hint and difficulty</a:t>
            </a:r>
            <a:endParaRPr lang="en-US" sz="1150" dirty="0"/>
          </a:p>
        </p:txBody>
      </p:sp>
      <p:sp>
        <p:nvSpPr>
          <p:cNvPr id="16" name="Shape 14"/>
          <p:cNvSpPr/>
          <p:nvPr/>
        </p:nvSpPr>
        <p:spPr>
          <a:xfrm>
            <a:off x="6309360" y="2670048"/>
            <a:ext cx="5312664" cy="841248"/>
          </a:xfrm>
          <a:prstGeom prst="roundRect">
            <a:avLst>
              <a:gd name="adj" fmla="val 13043"/>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7" name="Shape 15"/>
          <p:cNvSpPr/>
          <p:nvPr/>
        </p:nvSpPr>
        <p:spPr>
          <a:xfrm>
            <a:off x="6510528" y="2871216"/>
            <a:ext cx="438912" cy="438912"/>
          </a:xfrm>
          <a:prstGeom prst="ellipse">
            <a:avLst/>
          </a:prstGeom>
          <a:solidFill>
            <a:srgbClr val="3B82F6"/>
          </a:solidFill>
          <a:ln/>
        </p:spPr>
      </p:sp>
      <p:sp>
        <p:nvSpPr>
          <p:cNvPr id="18" name="Text 16"/>
          <p:cNvSpPr/>
          <p:nvPr/>
        </p:nvSpPr>
        <p:spPr>
          <a:xfrm>
            <a:off x="6510528" y="2871216"/>
            <a:ext cx="438912" cy="43891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9" name="Text 17"/>
          <p:cNvSpPr/>
          <p:nvPr/>
        </p:nvSpPr>
        <p:spPr>
          <a:xfrm>
            <a:off x="7077456" y="2743200"/>
            <a:ext cx="4398264" cy="347472"/>
          </a:xfrm>
          <a:prstGeom prst="rect">
            <a:avLst/>
          </a:prstGeom>
          <a:noFill/>
          <a:ln/>
        </p:spPr>
        <p:txBody>
          <a:bodyPr wrap="square" rtlCol="0" anchor="ctr"/>
          <a:lstStyle/>
          <a:p>
            <a:pPr indent="0" marL="0">
              <a:buNone/>
            </a:pPr>
            <a:r>
              <a:rPr lang="en-US" sz="1400" b="1" dirty="0">
                <a:solidFill>
                  <a:srgbClr val="10233F"/>
                </a:solidFill>
                <a:latin typeface="Calibri" pitchFamily="34" charset="0"/>
                <a:ea typeface="Calibri" pitchFamily="34" charset="-122"/>
                <a:cs typeface="Calibri" pitchFamily="34" charset="-120"/>
              </a:rPr>
              <a:t>Implement four study modes</a:t>
            </a:r>
            <a:endParaRPr lang="en-US" sz="1400" dirty="0"/>
          </a:p>
        </p:txBody>
      </p:sp>
      <p:sp>
        <p:nvSpPr>
          <p:cNvPr id="20" name="Text 18"/>
          <p:cNvSpPr/>
          <p:nvPr/>
        </p:nvSpPr>
        <p:spPr>
          <a:xfrm>
            <a:off x="7077456" y="3072384"/>
            <a:ext cx="4398264" cy="365760"/>
          </a:xfrm>
          <a:prstGeom prst="rect">
            <a:avLst/>
          </a:prstGeom>
          <a:noFill/>
          <a:ln/>
        </p:spPr>
        <p:txBody>
          <a:bodyPr wrap="square" rtlCol="0" anchor="ctr"/>
          <a:lstStyle/>
          <a:p>
            <a:pPr indent="0" marL="0">
              <a:buNone/>
            </a:pPr>
            <a:r>
              <a:rPr lang="en-US" sz="1150" dirty="0">
                <a:solidFill>
                  <a:srgbClr val="5B7192"/>
                </a:solidFill>
                <a:latin typeface="Calibri" pitchFamily="34" charset="0"/>
                <a:ea typeface="Calibri" pitchFamily="34" charset="-122"/>
                <a:cs typeface="Calibri" pitchFamily="34" charset="-120"/>
              </a:rPr>
              <a:t>Study · Exam · Identification · Enumeration, with scoring</a:t>
            </a:r>
            <a:endParaRPr lang="en-US" sz="1150" dirty="0"/>
          </a:p>
        </p:txBody>
      </p:sp>
      <p:sp>
        <p:nvSpPr>
          <p:cNvPr id="21" name="Shape 19"/>
          <p:cNvSpPr/>
          <p:nvPr/>
        </p:nvSpPr>
        <p:spPr>
          <a:xfrm>
            <a:off x="566928" y="3639312"/>
            <a:ext cx="5312664" cy="841248"/>
          </a:xfrm>
          <a:prstGeom prst="roundRect">
            <a:avLst>
              <a:gd name="adj" fmla="val 13043"/>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22" name="Shape 20"/>
          <p:cNvSpPr/>
          <p:nvPr/>
        </p:nvSpPr>
        <p:spPr>
          <a:xfrm>
            <a:off x="768096" y="3840480"/>
            <a:ext cx="438912" cy="438912"/>
          </a:xfrm>
          <a:prstGeom prst="ellipse">
            <a:avLst/>
          </a:prstGeom>
          <a:solidFill>
            <a:srgbClr val="3B82F6"/>
          </a:solidFill>
          <a:ln/>
        </p:spPr>
      </p:sp>
      <p:sp>
        <p:nvSpPr>
          <p:cNvPr id="23" name="Text 21"/>
          <p:cNvSpPr/>
          <p:nvPr/>
        </p:nvSpPr>
        <p:spPr>
          <a:xfrm>
            <a:off x="768096" y="3840480"/>
            <a:ext cx="438912" cy="43891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4" name="Text 22"/>
          <p:cNvSpPr/>
          <p:nvPr/>
        </p:nvSpPr>
        <p:spPr>
          <a:xfrm>
            <a:off x="1335024" y="3712464"/>
            <a:ext cx="4398264" cy="347472"/>
          </a:xfrm>
          <a:prstGeom prst="rect">
            <a:avLst/>
          </a:prstGeom>
          <a:noFill/>
          <a:ln/>
        </p:spPr>
        <p:txBody>
          <a:bodyPr wrap="square" rtlCol="0" anchor="ctr"/>
          <a:lstStyle/>
          <a:p>
            <a:pPr indent="0" marL="0">
              <a:buNone/>
            </a:pPr>
            <a:r>
              <a:rPr lang="en-US" sz="1400" b="1" dirty="0">
                <a:solidFill>
                  <a:srgbClr val="10233F"/>
                </a:solidFill>
                <a:latin typeface="Calibri" pitchFamily="34" charset="0"/>
                <a:ea typeface="Calibri" pitchFamily="34" charset="-122"/>
                <a:cs typeface="Calibri" pitchFamily="34" charset="-120"/>
              </a:rPr>
              <a:t>Implement spaced repetition</a:t>
            </a:r>
            <a:endParaRPr lang="en-US" sz="1400" dirty="0"/>
          </a:p>
        </p:txBody>
      </p:sp>
      <p:sp>
        <p:nvSpPr>
          <p:cNvPr id="25" name="Text 23"/>
          <p:cNvSpPr/>
          <p:nvPr/>
        </p:nvSpPr>
        <p:spPr>
          <a:xfrm>
            <a:off x="1335024" y="4041648"/>
            <a:ext cx="4398264" cy="365760"/>
          </a:xfrm>
          <a:prstGeom prst="rect">
            <a:avLst/>
          </a:prstGeom>
          <a:noFill/>
          <a:ln/>
        </p:spPr>
        <p:txBody>
          <a:bodyPr wrap="square" rtlCol="0" anchor="ctr"/>
          <a:lstStyle/>
          <a:p>
            <a:pPr indent="0" marL="0">
              <a:buNone/>
            </a:pPr>
            <a:r>
              <a:rPr lang="en-US" sz="1150" dirty="0">
                <a:solidFill>
                  <a:srgbClr val="5B7192"/>
                </a:solidFill>
                <a:latin typeface="Calibri" pitchFamily="34" charset="0"/>
                <a:ea typeface="Calibri" pitchFamily="34" charset="-122"/>
                <a:cs typeface="Calibri" pitchFamily="34" charset="-120"/>
              </a:rPr>
              <a:t>Grade Again / Hard / Good / Easy → a daily review queue</a:t>
            </a:r>
            <a:endParaRPr lang="en-US" sz="1150" dirty="0"/>
          </a:p>
        </p:txBody>
      </p:sp>
      <p:sp>
        <p:nvSpPr>
          <p:cNvPr id="26" name="Shape 24"/>
          <p:cNvSpPr/>
          <p:nvPr/>
        </p:nvSpPr>
        <p:spPr>
          <a:xfrm>
            <a:off x="6309360" y="3639312"/>
            <a:ext cx="5312664" cy="841248"/>
          </a:xfrm>
          <a:prstGeom prst="roundRect">
            <a:avLst>
              <a:gd name="adj" fmla="val 13043"/>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27" name="Shape 25"/>
          <p:cNvSpPr/>
          <p:nvPr/>
        </p:nvSpPr>
        <p:spPr>
          <a:xfrm>
            <a:off x="6510528" y="3840480"/>
            <a:ext cx="438912" cy="438912"/>
          </a:xfrm>
          <a:prstGeom prst="ellipse">
            <a:avLst/>
          </a:prstGeom>
          <a:solidFill>
            <a:srgbClr val="3B82F6"/>
          </a:solidFill>
          <a:ln/>
        </p:spPr>
      </p:sp>
      <p:sp>
        <p:nvSpPr>
          <p:cNvPr id="28" name="Text 26"/>
          <p:cNvSpPr/>
          <p:nvPr/>
        </p:nvSpPr>
        <p:spPr>
          <a:xfrm>
            <a:off x="6510528" y="3840480"/>
            <a:ext cx="438912" cy="43891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7"/>
          <p:cNvSpPr/>
          <p:nvPr/>
        </p:nvSpPr>
        <p:spPr>
          <a:xfrm>
            <a:off x="7077456" y="3712464"/>
            <a:ext cx="4398264" cy="347472"/>
          </a:xfrm>
          <a:prstGeom prst="rect">
            <a:avLst/>
          </a:prstGeom>
          <a:noFill/>
          <a:ln/>
        </p:spPr>
        <p:txBody>
          <a:bodyPr wrap="square" rtlCol="0" anchor="ctr"/>
          <a:lstStyle/>
          <a:p>
            <a:pPr indent="0" marL="0">
              <a:buNone/>
            </a:pPr>
            <a:r>
              <a:rPr lang="en-US" sz="1400" b="1" dirty="0">
                <a:solidFill>
                  <a:srgbClr val="10233F"/>
                </a:solidFill>
                <a:latin typeface="Calibri" pitchFamily="34" charset="0"/>
                <a:ea typeface="Calibri" pitchFamily="34" charset="-122"/>
                <a:cs typeface="Calibri" pitchFamily="34" charset="-120"/>
              </a:rPr>
              <a:t>Record progress analytics</a:t>
            </a:r>
            <a:endParaRPr lang="en-US" sz="1400" dirty="0"/>
          </a:p>
        </p:txBody>
      </p:sp>
      <p:sp>
        <p:nvSpPr>
          <p:cNvPr id="30" name="Text 28"/>
          <p:cNvSpPr/>
          <p:nvPr/>
        </p:nvSpPr>
        <p:spPr>
          <a:xfrm>
            <a:off x="7077456" y="4041648"/>
            <a:ext cx="4398264" cy="365760"/>
          </a:xfrm>
          <a:prstGeom prst="rect">
            <a:avLst/>
          </a:prstGeom>
          <a:noFill/>
          <a:ln/>
        </p:spPr>
        <p:txBody>
          <a:bodyPr wrap="square" rtlCol="0" anchor="ctr"/>
          <a:lstStyle/>
          <a:p>
            <a:pPr indent="0" marL="0">
              <a:buNone/>
            </a:pPr>
            <a:r>
              <a:rPr lang="en-US" sz="1150" dirty="0">
                <a:solidFill>
                  <a:srgbClr val="5B7192"/>
                </a:solidFill>
                <a:latin typeface="Calibri" pitchFamily="34" charset="0"/>
                <a:ea typeface="Calibri" pitchFamily="34" charset="-122"/>
                <a:cs typeface="Calibri" pitchFamily="34" charset="-120"/>
              </a:rPr>
              <a:t>Accuracy, mastery, streaks and review health per deck</a:t>
            </a:r>
            <a:endParaRPr lang="en-US" sz="1150" dirty="0"/>
          </a:p>
        </p:txBody>
      </p:sp>
      <p:sp>
        <p:nvSpPr>
          <p:cNvPr id="31" name="Shape 29"/>
          <p:cNvSpPr/>
          <p:nvPr/>
        </p:nvSpPr>
        <p:spPr>
          <a:xfrm>
            <a:off x="566928" y="4608576"/>
            <a:ext cx="5312664" cy="841248"/>
          </a:xfrm>
          <a:prstGeom prst="roundRect">
            <a:avLst>
              <a:gd name="adj" fmla="val 13043"/>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32" name="Shape 30"/>
          <p:cNvSpPr/>
          <p:nvPr/>
        </p:nvSpPr>
        <p:spPr>
          <a:xfrm>
            <a:off x="768096" y="4809744"/>
            <a:ext cx="438912" cy="438912"/>
          </a:xfrm>
          <a:prstGeom prst="ellipse">
            <a:avLst/>
          </a:prstGeom>
          <a:solidFill>
            <a:srgbClr val="3B82F6"/>
          </a:solidFill>
          <a:ln/>
        </p:spPr>
      </p:sp>
      <p:sp>
        <p:nvSpPr>
          <p:cNvPr id="33" name="Text 31"/>
          <p:cNvSpPr/>
          <p:nvPr/>
        </p:nvSpPr>
        <p:spPr>
          <a:xfrm>
            <a:off x="768096" y="4809744"/>
            <a:ext cx="438912" cy="43891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4" name="Text 32"/>
          <p:cNvSpPr/>
          <p:nvPr/>
        </p:nvSpPr>
        <p:spPr>
          <a:xfrm>
            <a:off x="1335024" y="4681728"/>
            <a:ext cx="4398264" cy="347472"/>
          </a:xfrm>
          <a:prstGeom prst="rect">
            <a:avLst/>
          </a:prstGeom>
          <a:noFill/>
          <a:ln/>
        </p:spPr>
        <p:txBody>
          <a:bodyPr wrap="square" rtlCol="0" anchor="ctr"/>
          <a:lstStyle/>
          <a:p>
            <a:pPr indent="0" marL="0">
              <a:buNone/>
            </a:pPr>
            <a:r>
              <a:rPr lang="en-US" sz="1400" b="1" dirty="0">
                <a:solidFill>
                  <a:srgbClr val="10233F"/>
                </a:solidFill>
                <a:latin typeface="Calibri" pitchFamily="34" charset="0"/>
                <a:ea typeface="Calibri" pitchFamily="34" charset="-122"/>
                <a:cs typeface="Calibri" pitchFamily="34" charset="-120"/>
              </a:rPr>
              <a:t>Make it work offline</a:t>
            </a:r>
            <a:endParaRPr lang="en-US" sz="1400" dirty="0"/>
          </a:p>
        </p:txBody>
      </p:sp>
      <p:sp>
        <p:nvSpPr>
          <p:cNvPr id="35" name="Text 33"/>
          <p:cNvSpPr/>
          <p:nvPr/>
        </p:nvSpPr>
        <p:spPr>
          <a:xfrm>
            <a:off x="1335024" y="5010912"/>
            <a:ext cx="4398264" cy="365760"/>
          </a:xfrm>
          <a:prstGeom prst="rect">
            <a:avLst/>
          </a:prstGeom>
          <a:noFill/>
          <a:ln/>
        </p:spPr>
        <p:txBody>
          <a:bodyPr wrap="square" rtlCol="0" anchor="ctr"/>
          <a:lstStyle/>
          <a:p>
            <a:pPr indent="0" marL="0">
              <a:buNone/>
            </a:pPr>
            <a:r>
              <a:rPr lang="en-US" sz="1150" dirty="0">
                <a:solidFill>
                  <a:srgbClr val="5B7192"/>
                </a:solidFill>
                <a:latin typeface="Calibri" pitchFamily="34" charset="0"/>
                <a:ea typeface="Calibri" pitchFamily="34" charset="-122"/>
                <a:cs typeface="Calibri" pitchFamily="34" charset="-120"/>
              </a:rPr>
              <a:t>Service worker, snapshots, queued answers that sync later</a:t>
            </a:r>
            <a:endParaRPr lang="en-US" sz="1150" dirty="0"/>
          </a:p>
        </p:txBody>
      </p:sp>
      <p:sp>
        <p:nvSpPr>
          <p:cNvPr id="36" name="Shape 34"/>
          <p:cNvSpPr/>
          <p:nvPr/>
        </p:nvSpPr>
        <p:spPr>
          <a:xfrm>
            <a:off x="6309360" y="4608576"/>
            <a:ext cx="5312664" cy="841248"/>
          </a:xfrm>
          <a:prstGeom prst="roundRect">
            <a:avLst>
              <a:gd name="adj" fmla="val 13043"/>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37" name="Shape 35"/>
          <p:cNvSpPr/>
          <p:nvPr/>
        </p:nvSpPr>
        <p:spPr>
          <a:xfrm>
            <a:off x="6510528" y="4809744"/>
            <a:ext cx="438912" cy="438912"/>
          </a:xfrm>
          <a:prstGeom prst="ellipse">
            <a:avLst/>
          </a:prstGeom>
          <a:solidFill>
            <a:srgbClr val="3B82F6"/>
          </a:solidFill>
          <a:ln/>
        </p:spPr>
      </p:sp>
      <p:sp>
        <p:nvSpPr>
          <p:cNvPr id="38" name="Text 36"/>
          <p:cNvSpPr/>
          <p:nvPr/>
        </p:nvSpPr>
        <p:spPr>
          <a:xfrm>
            <a:off x="6510528" y="4809744"/>
            <a:ext cx="438912" cy="43891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9" name="Text 37"/>
          <p:cNvSpPr/>
          <p:nvPr/>
        </p:nvSpPr>
        <p:spPr>
          <a:xfrm>
            <a:off x="7077456" y="4681728"/>
            <a:ext cx="4398264" cy="347472"/>
          </a:xfrm>
          <a:prstGeom prst="rect">
            <a:avLst/>
          </a:prstGeom>
          <a:noFill/>
          <a:ln/>
        </p:spPr>
        <p:txBody>
          <a:bodyPr wrap="square" rtlCol="0" anchor="ctr"/>
          <a:lstStyle/>
          <a:p>
            <a:pPr indent="0" marL="0">
              <a:buNone/>
            </a:pPr>
            <a:r>
              <a:rPr lang="en-US" sz="1400" b="1" dirty="0">
                <a:solidFill>
                  <a:srgbClr val="10233F"/>
                </a:solidFill>
                <a:latin typeface="Calibri" pitchFamily="34" charset="0"/>
                <a:ea typeface="Calibri" pitchFamily="34" charset="-122"/>
                <a:cs typeface="Calibri" pitchFamily="34" charset="-120"/>
              </a:rPr>
              <a:t>Keep it reliable and private</a:t>
            </a:r>
            <a:endParaRPr lang="en-US" sz="1400" dirty="0"/>
          </a:p>
        </p:txBody>
      </p:sp>
      <p:sp>
        <p:nvSpPr>
          <p:cNvPr id="40" name="Text 38"/>
          <p:cNvSpPr/>
          <p:nvPr/>
        </p:nvSpPr>
        <p:spPr>
          <a:xfrm>
            <a:off x="7077456" y="5010912"/>
            <a:ext cx="4398264" cy="365760"/>
          </a:xfrm>
          <a:prstGeom prst="rect">
            <a:avLst/>
          </a:prstGeom>
          <a:noFill/>
          <a:ln/>
        </p:spPr>
        <p:txBody>
          <a:bodyPr wrap="square" rtlCol="0" anchor="ctr"/>
          <a:lstStyle/>
          <a:p>
            <a:pPr indent="0" marL="0">
              <a:buNone/>
            </a:pPr>
            <a:r>
              <a:rPr lang="en-US" sz="1150" dirty="0">
                <a:solidFill>
                  <a:srgbClr val="5B7192"/>
                </a:solidFill>
                <a:latin typeface="Calibri" pitchFamily="34" charset="0"/>
                <a:ea typeface="Calibri" pitchFamily="34" charset="-122"/>
                <a:cs typeface="Calibri" pitchFamily="34" charset="-120"/>
              </a:rPr>
              <a:t>AI failover, rate limits, per-account data isolation</a:t>
            </a:r>
            <a:endParaRPr lang="en-US" sz="1150" dirty="0"/>
          </a:p>
        </p:txBody>
      </p:sp>
      <p:sp>
        <p:nvSpPr>
          <p:cNvPr id="41" name="Shape 39"/>
          <p:cNvSpPr/>
          <p:nvPr/>
        </p:nvSpPr>
        <p:spPr>
          <a:xfrm>
            <a:off x="566928" y="5577840"/>
            <a:ext cx="11055096" cy="841248"/>
          </a:xfrm>
          <a:prstGeom prst="roundRect">
            <a:avLst>
              <a:gd name="adj" fmla="val 13043"/>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42" name="Shape 40"/>
          <p:cNvSpPr/>
          <p:nvPr/>
        </p:nvSpPr>
        <p:spPr>
          <a:xfrm>
            <a:off x="768096" y="5779008"/>
            <a:ext cx="438912" cy="438912"/>
          </a:xfrm>
          <a:prstGeom prst="ellipse">
            <a:avLst/>
          </a:prstGeom>
          <a:solidFill>
            <a:srgbClr val="3B82F6"/>
          </a:solidFill>
          <a:ln/>
        </p:spPr>
      </p:sp>
      <p:sp>
        <p:nvSpPr>
          <p:cNvPr id="43" name="Text 41"/>
          <p:cNvSpPr/>
          <p:nvPr/>
        </p:nvSpPr>
        <p:spPr>
          <a:xfrm>
            <a:off x="768096" y="5779008"/>
            <a:ext cx="438912" cy="43891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4" name="Text 42"/>
          <p:cNvSpPr/>
          <p:nvPr/>
        </p:nvSpPr>
        <p:spPr>
          <a:xfrm>
            <a:off x="1335024" y="5650992"/>
            <a:ext cx="10140696" cy="347472"/>
          </a:xfrm>
          <a:prstGeom prst="rect">
            <a:avLst/>
          </a:prstGeom>
          <a:noFill/>
          <a:ln/>
        </p:spPr>
        <p:txBody>
          <a:bodyPr wrap="square" rtlCol="0" anchor="ctr"/>
          <a:lstStyle/>
          <a:p>
            <a:pPr indent="0" marL="0">
              <a:buNone/>
            </a:pPr>
            <a:r>
              <a:rPr lang="en-US" sz="1400" b="1" dirty="0">
                <a:solidFill>
                  <a:srgbClr val="10233F"/>
                </a:solidFill>
                <a:latin typeface="Calibri" pitchFamily="34" charset="0"/>
                <a:ea typeface="Calibri" pitchFamily="34" charset="-122"/>
                <a:cs typeface="Calibri" pitchFamily="34" charset="-120"/>
              </a:rPr>
              <a:t>Validate the system</a:t>
            </a:r>
            <a:endParaRPr lang="en-US" sz="1400" dirty="0"/>
          </a:p>
        </p:txBody>
      </p:sp>
      <p:sp>
        <p:nvSpPr>
          <p:cNvPr id="45" name="Text 43"/>
          <p:cNvSpPr/>
          <p:nvPr/>
        </p:nvSpPr>
        <p:spPr>
          <a:xfrm>
            <a:off x="1335024" y="5980176"/>
            <a:ext cx="10140696" cy="365760"/>
          </a:xfrm>
          <a:prstGeom prst="rect">
            <a:avLst/>
          </a:prstGeom>
          <a:noFill/>
          <a:ln/>
        </p:spPr>
        <p:txBody>
          <a:bodyPr wrap="square" rtlCol="0" anchor="ctr"/>
          <a:lstStyle/>
          <a:p>
            <a:pPr indent="0" marL="0">
              <a:buNone/>
            </a:pPr>
            <a:r>
              <a:rPr lang="en-US" sz="1150" dirty="0">
                <a:solidFill>
                  <a:srgbClr val="5B7192"/>
                </a:solidFill>
                <a:latin typeface="Calibri" pitchFamily="34" charset="0"/>
                <a:ea typeface="Calibri" pitchFamily="34" charset="-122"/>
                <a:cs typeface="Calibri" pitchFamily="34" charset="-120"/>
              </a:rPr>
              <a:t>156 automated checks plus an acceptability evaluation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FFFFFF"/>
          </a:solidFill>
          <a:ln/>
        </p:spPr>
      </p:sp>
      <p:sp>
        <p:nvSpPr>
          <p:cNvPr id="3" name="Shape 1"/>
          <p:cNvSpPr/>
          <p:nvPr/>
        </p:nvSpPr>
        <p:spPr>
          <a:xfrm>
            <a:off x="0" y="1170432"/>
            <a:ext cx="12191695" cy="54864"/>
          </a:xfrm>
          <a:prstGeom prst="rect">
            <a:avLst/>
          </a:prstGeom>
          <a:solidFill>
            <a:srgbClr val="6366F1"/>
          </a:solidFill>
          <a:ln/>
        </p:spPr>
      </p:sp>
      <p:sp>
        <p:nvSpPr>
          <p:cNvPr id="4" name="Shape 2"/>
          <p:cNvSpPr/>
          <p:nvPr/>
        </p:nvSpPr>
        <p:spPr>
          <a:xfrm>
            <a:off x="457200" y="274320"/>
            <a:ext cx="100584" cy="658368"/>
          </a:xfrm>
          <a:prstGeom prst="rect">
            <a:avLst/>
          </a:prstGeom>
          <a:solidFill>
            <a:srgbClr val="6366F1"/>
          </a:solidFill>
          <a:ln/>
        </p:spPr>
      </p:sp>
      <p:sp>
        <p:nvSpPr>
          <p:cNvPr id="5" name="Text 3"/>
          <p:cNvSpPr/>
          <p:nvPr/>
        </p:nvSpPr>
        <p:spPr>
          <a:xfrm>
            <a:off x="685800" y="201168"/>
            <a:ext cx="9601200" cy="457200"/>
          </a:xfrm>
          <a:prstGeom prst="rect">
            <a:avLst/>
          </a:prstGeom>
          <a:noFill/>
          <a:ln/>
        </p:spPr>
        <p:txBody>
          <a:bodyPr wrap="square" rtlCol="0" anchor="ctr"/>
          <a:lstStyle/>
          <a:p>
            <a:pPr indent="0" marL="0">
              <a:buNone/>
            </a:pPr>
            <a:r>
              <a:rPr lang="en-US" sz="2700" b="1" dirty="0">
                <a:solidFill>
                  <a:srgbClr val="10233F"/>
                </a:solidFill>
                <a:latin typeface="Calibri" pitchFamily="34" charset="0"/>
                <a:ea typeface="Calibri" pitchFamily="34" charset="-122"/>
                <a:cs typeface="Calibri" pitchFamily="34" charset="-120"/>
              </a:rPr>
              <a:t>Conceptual framework</a:t>
            </a:r>
            <a:endParaRPr lang="en-US" sz="2700" dirty="0"/>
          </a:p>
        </p:txBody>
      </p:sp>
      <p:sp>
        <p:nvSpPr>
          <p:cNvPr id="6" name="Text 4"/>
          <p:cNvSpPr/>
          <p:nvPr/>
        </p:nvSpPr>
        <p:spPr>
          <a:xfrm>
            <a:off x="704088" y="658368"/>
            <a:ext cx="10241280" cy="384048"/>
          </a:xfrm>
          <a:prstGeom prst="rect">
            <a:avLst/>
          </a:prstGeom>
          <a:noFill/>
          <a:ln/>
        </p:spPr>
        <p:txBody>
          <a:bodyPr wrap="square" rtlCol="0" anchor="ctr"/>
          <a:lstStyle/>
          <a:p>
            <a:pPr indent="0" marL="0">
              <a:buNone/>
            </a:pPr>
            <a:r>
              <a:rPr lang="en-US" sz="1400" dirty="0">
                <a:solidFill>
                  <a:srgbClr val="5B7192"/>
                </a:solidFill>
                <a:latin typeface="Calibri" pitchFamily="34" charset="0"/>
                <a:ea typeface="Calibri" pitchFamily="34" charset="-122"/>
                <a:cs typeface="Calibri" pitchFamily="34" charset="-120"/>
              </a:rPr>
              <a:t>Inputs are the learner's own material; the process turns study into a feedback loop.</a:t>
            </a:r>
            <a:endParaRPr lang="en-US" sz="1400" dirty="0"/>
          </a:p>
        </p:txBody>
      </p:sp>
      <p:sp>
        <p:nvSpPr>
          <p:cNvPr id="7" name="Text 5"/>
          <p:cNvSpPr/>
          <p:nvPr/>
        </p:nvSpPr>
        <p:spPr>
          <a:xfrm>
            <a:off x="10957255" y="6291072"/>
            <a:ext cx="777240" cy="329184"/>
          </a:xfrm>
          <a:prstGeom prst="rect">
            <a:avLst/>
          </a:prstGeom>
          <a:noFill/>
          <a:ln/>
        </p:spPr>
        <p:txBody>
          <a:bodyPr wrap="square" rtlCol="0" anchor="ctr"/>
          <a:lstStyle/>
          <a:p>
            <a:pPr algn="r" indent="0" marL="0">
              <a:buNone/>
            </a:pPr>
            <a:r>
              <a:rPr lang="en-US" sz="1200" dirty="0">
                <a:solidFill>
                  <a:srgbClr val="5B7192"/>
                </a:solidFill>
                <a:latin typeface="Calibri" pitchFamily="34" charset="0"/>
                <a:ea typeface="Calibri" pitchFamily="34" charset="-122"/>
                <a:cs typeface="Calibri" pitchFamily="34" charset="-120"/>
              </a:rPr>
              <a:t>5</a:t>
            </a:r>
            <a:endParaRPr lang="en-US" sz="1200" dirty="0"/>
          </a:p>
        </p:txBody>
      </p:sp>
      <p:sp>
        <p:nvSpPr>
          <p:cNvPr id="8" name="Text 6"/>
          <p:cNvSpPr/>
          <p:nvPr/>
        </p:nvSpPr>
        <p:spPr>
          <a:xfrm>
            <a:off x="457200" y="6291072"/>
            <a:ext cx="4114800" cy="329184"/>
          </a:xfrm>
          <a:prstGeom prst="rect">
            <a:avLst/>
          </a:prstGeom>
          <a:noFill/>
          <a:ln/>
        </p:spPr>
        <p:txBody>
          <a:bodyPr wrap="square" rtlCol="0" anchor="ctr"/>
          <a:lstStyle/>
          <a:p>
            <a:pPr indent="0" marL="0">
              <a:buNone/>
            </a:pPr>
            <a:r>
              <a:rPr lang="en-US" sz="1100" dirty="0">
                <a:solidFill>
                  <a:srgbClr val="5B7192"/>
                </a:solidFill>
                <a:latin typeface="Calibri" pitchFamily="34" charset="0"/>
                <a:ea typeface="Calibri" pitchFamily="34" charset="-122"/>
                <a:cs typeface="Calibri" pitchFamily="34" charset="-120"/>
              </a:rPr>
              <a:t>QuizTime · Concept Paper</a:t>
            </a:r>
            <a:endParaRPr lang="en-US" sz="1100" dirty="0"/>
          </a:p>
        </p:txBody>
      </p:sp>
      <p:pic>
        <p:nvPicPr>
          <p:cNvPr id="9" name="Image 0" descr="/tmp/quiztime-docs-img/ipo-body.png">    </p:cNvPr>
          <p:cNvPicPr>
            <a:picLocks noChangeAspect="1"/>
          </p:cNvPicPr>
          <p:nvPr/>
        </p:nvPicPr>
        <p:blipFill>
          <a:blip r:embed="rId1"/>
          <a:stretch>
            <a:fillRect/>
          </a:stretch>
        </p:blipFill>
        <p:spPr>
          <a:xfrm>
            <a:off x="845317" y="1463040"/>
            <a:ext cx="10498318" cy="48920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FFFFFF"/>
          </a:solidFill>
          <a:ln/>
        </p:spPr>
      </p:sp>
      <p:sp>
        <p:nvSpPr>
          <p:cNvPr id="3" name="Shape 1"/>
          <p:cNvSpPr/>
          <p:nvPr/>
        </p:nvSpPr>
        <p:spPr>
          <a:xfrm>
            <a:off x="0" y="1170432"/>
            <a:ext cx="12191695" cy="54864"/>
          </a:xfrm>
          <a:prstGeom prst="rect">
            <a:avLst/>
          </a:prstGeom>
          <a:solidFill>
            <a:srgbClr val="06B6D4"/>
          </a:solidFill>
          <a:ln/>
        </p:spPr>
      </p:sp>
      <p:sp>
        <p:nvSpPr>
          <p:cNvPr id="4" name="Shape 2"/>
          <p:cNvSpPr/>
          <p:nvPr/>
        </p:nvSpPr>
        <p:spPr>
          <a:xfrm>
            <a:off x="457200" y="274320"/>
            <a:ext cx="100584" cy="658368"/>
          </a:xfrm>
          <a:prstGeom prst="rect">
            <a:avLst/>
          </a:prstGeom>
          <a:solidFill>
            <a:srgbClr val="06B6D4"/>
          </a:solidFill>
          <a:ln/>
        </p:spPr>
      </p:sp>
      <p:sp>
        <p:nvSpPr>
          <p:cNvPr id="5" name="Text 3"/>
          <p:cNvSpPr/>
          <p:nvPr/>
        </p:nvSpPr>
        <p:spPr>
          <a:xfrm>
            <a:off x="685800" y="201168"/>
            <a:ext cx="9601200" cy="457200"/>
          </a:xfrm>
          <a:prstGeom prst="rect">
            <a:avLst/>
          </a:prstGeom>
          <a:noFill/>
          <a:ln/>
        </p:spPr>
        <p:txBody>
          <a:bodyPr wrap="square" rtlCol="0" anchor="ctr"/>
          <a:lstStyle/>
          <a:p>
            <a:pPr indent="0" marL="0">
              <a:buNone/>
            </a:pPr>
            <a:r>
              <a:rPr lang="en-US" sz="2700" b="1" dirty="0">
                <a:solidFill>
                  <a:srgbClr val="10233F"/>
                </a:solidFill>
                <a:latin typeface="Calibri" pitchFamily="34" charset="0"/>
                <a:ea typeface="Calibri" pitchFamily="34" charset="-122"/>
                <a:cs typeface="Calibri" pitchFamily="34" charset="-120"/>
              </a:rPr>
              <a:t>How it works</a:t>
            </a:r>
            <a:endParaRPr lang="en-US" sz="2700" dirty="0"/>
          </a:p>
        </p:txBody>
      </p:sp>
      <p:sp>
        <p:nvSpPr>
          <p:cNvPr id="6" name="Text 4"/>
          <p:cNvSpPr/>
          <p:nvPr/>
        </p:nvSpPr>
        <p:spPr>
          <a:xfrm>
            <a:off x="704088" y="658368"/>
            <a:ext cx="10241280" cy="384048"/>
          </a:xfrm>
          <a:prstGeom prst="rect">
            <a:avLst/>
          </a:prstGeom>
          <a:noFill/>
          <a:ln/>
        </p:spPr>
        <p:txBody>
          <a:bodyPr wrap="square" rtlCol="0" anchor="ctr"/>
          <a:lstStyle/>
          <a:p>
            <a:pPr indent="0" marL="0">
              <a:buNone/>
            </a:pPr>
            <a:r>
              <a:rPr lang="en-US" sz="1400" dirty="0">
                <a:solidFill>
                  <a:srgbClr val="5B7192"/>
                </a:solidFill>
                <a:latin typeface="Calibri" pitchFamily="34" charset="0"/>
                <a:ea typeface="Calibri" pitchFamily="34" charset="-122"/>
                <a:cs typeface="Calibri" pitchFamily="34" charset="-120"/>
              </a:rPr>
              <a:t>From an uploaded file to a scheduled study habit.</a:t>
            </a:r>
            <a:endParaRPr lang="en-US" sz="1400" dirty="0"/>
          </a:p>
        </p:txBody>
      </p:sp>
      <p:sp>
        <p:nvSpPr>
          <p:cNvPr id="7" name="Text 5"/>
          <p:cNvSpPr/>
          <p:nvPr/>
        </p:nvSpPr>
        <p:spPr>
          <a:xfrm>
            <a:off x="10957255" y="6291072"/>
            <a:ext cx="777240" cy="329184"/>
          </a:xfrm>
          <a:prstGeom prst="rect">
            <a:avLst/>
          </a:prstGeom>
          <a:noFill/>
          <a:ln/>
        </p:spPr>
        <p:txBody>
          <a:bodyPr wrap="square" rtlCol="0" anchor="ctr"/>
          <a:lstStyle/>
          <a:p>
            <a:pPr algn="r" indent="0" marL="0">
              <a:buNone/>
            </a:pPr>
            <a:r>
              <a:rPr lang="en-US" sz="1200" dirty="0">
                <a:solidFill>
                  <a:srgbClr val="5B7192"/>
                </a:solidFill>
                <a:latin typeface="Calibri" pitchFamily="34" charset="0"/>
                <a:ea typeface="Calibri" pitchFamily="34" charset="-122"/>
                <a:cs typeface="Calibri" pitchFamily="34" charset="-120"/>
              </a:rPr>
              <a:t>6</a:t>
            </a:r>
            <a:endParaRPr lang="en-US" sz="1200" dirty="0"/>
          </a:p>
        </p:txBody>
      </p:sp>
      <p:sp>
        <p:nvSpPr>
          <p:cNvPr id="8" name="Text 6"/>
          <p:cNvSpPr/>
          <p:nvPr/>
        </p:nvSpPr>
        <p:spPr>
          <a:xfrm>
            <a:off x="457200" y="6291072"/>
            <a:ext cx="4114800" cy="329184"/>
          </a:xfrm>
          <a:prstGeom prst="rect">
            <a:avLst/>
          </a:prstGeom>
          <a:noFill/>
          <a:ln/>
        </p:spPr>
        <p:txBody>
          <a:bodyPr wrap="square" rtlCol="0" anchor="ctr"/>
          <a:lstStyle/>
          <a:p>
            <a:pPr indent="0" marL="0">
              <a:buNone/>
            </a:pPr>
            <a:r>
              <a:rPr lang="en-US" sz="1100" dirty="0">
                <a:solidFill>
                  <a:srgbClr val="5B7192"/>
                </a:solidFill>
                <a:latin typeface="Calibri" pitchFamily="34" charset="0"/>
                <a:ea typeface="Calibri" pitchFamily="34" charset="-122"/>
                <a:cs typeface="Calibri" pitchFamily="34" charset="-120"/>
              </a:rPr>
              <a:t>QuizTime · Concept Paper</a:t>
            </a:r>
            <a:endParaRPr lang="en-US" sz="1100" dirty="0"/>
          </a:p>
        </p:txBody>
      </p:sp>
      <p:pic>
        <p:nvPicPr>
          <p:cNvPr id="9" name="Image 0" descr="/tmp/quiztime-docs-img/pipeline-body.png">    </p:cNvPr>
          <p:cNvPicPr>
            <a:picLocks noChangeAspect="1"/>
          </p:cNvPicPr>
          <p:nvPr/>
        </p:nvPicPr>
        <p:blipFill>
          <a:blip r:embed="rId1"/>
          <a:stretch>
            <a:fillRect/>
          </a:stretch>
        </p:blipFill>
        <p:spPr>
          <a:xfrm>
            <a:off x="457200" y="2783165"/>
            <a:ext cx="11274552" cy="3440510"/>
          </a:xfrm>
          <a:prstGeom prst="rect">
            <a:avLst/>
          </a:prstGeom>
        </p:spPr>
      </p:pic>
      <p:sp>
        <p:nvSpPr>
          <p:cNvPr id="10" name="Shape 7"/>
          <p:cNvSpPr/>
          <p:nvPr/>
        </p:nvSpPr>
        <p:spPr>
          <a:xfrm>
            <a:off x="566928" y="1554480"/>
            <a:ext cx="3429000" cy="1005840"/>
          </a:xfrm>
          <a:prstGeom prst="roundRect">
            <a:avLst>
              <a:gd name="adj" fmla="val 10909"/>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1" name="Shape 8"/>
          <p:cNvSpPr/>
          <p:nvPr/>
        </p:nvSpPr>
        <p:spPr>
          <a:xfrm>
            <a:off x="566928" y="1554480"/>
            <a:ext cx="100584" cy="1005840"/>
          </a:xfrm>
          <a:prstGeom prst="rect">
            <a:avLst/>
          </a:prstGeom>
          <a:solidFill>
            <a:srgbClr val="3B82F6"/>
          </a:solidFill>
          <a:ln/>
        </p:spPr>
      </p:sp>
      <p:sp>
        <p:nvSpPr>
          <p:cNvPr id="12" name="Text 9"/>
          <p:cNvSpPr/>
          <p:nvPr/>
        </p:nvSpPr>
        <p:spPr>
          <a:xfrm>
            <a:off x="804672" y="1627632"/>
            <a:ext cx="3063240" cy="310896"/>
          </a:xfrm>
          <a:prstGeom prst="rect">
            <a:avLst/>
          </a:prstGeom>
          <a:noFill/>
          <a:ln/>
        </p:spPr>
        <p:txBody>
          <a:bodyPr wrap="square" rtlCol="0" anchor="ctr"/>
          <a:lstStyle/>
          <a:p>
            <a:pPr indent="0" marL="0">
              <a:buNone/>
            </a:pPr>
            <a:r>
              <a:rPr lang="en-US" sz="1500" b="1" dirty="0">
                <a:solidFill>
                  <a:srgbClr val="10233F"/>
                </a:solidFill>
                <a:latin typeface="Calibri" pitchFamily="34" charset="0"/>
                <a:ea typeface="Calibri" pitchFamily="34" charset="-122"/>
                <a:cs typeface="Calibri" pitchFamily="34" charset="-120"/>
              </a:rPr>
              <a:t>Upload</a:t>
            </a:r>
            <a:endParaRPr lang="en-US" sz="1500" dirty="0"/>
          </a:p>
        </p:txBody>
      </p:sp>
      <p:sp>
        <p:nvSpPr>
          <p:cNvPr id="13" name="Text 10"/>
          <p:cNvSpPr/>
          <p:nvPr/>
        </p:nvSpPr>
        <p:spPr>
          <a:xfrm>
            <a:off x="804672" y="1938528"/>
            <a:ext cx="3063240" cy="548640"/>
          </a:xfrm>
          <a:prstGeom prst="rect">
            <a:avLst/>
          </a:prstGeom>
          <a:noFill/>
          <a:ln/>
        </p:spPr>
        <p:txBody>
          <a:bodyPr wrap="square" rtlCol="0" anchor="t"/>
          <a:lstStyle/>
          <a:p>
            <a:pPr indent="0" marL="0">
              <a:buNone/>
            </a:pPr>
            <a:r>
              <a:rPr lang="en-US" sz="1150" dirty="0">
                <a:solidFill>
                  <a:srgbClr val="5B7192"/>
                </a:solidFill>
                <a:latin typeface="Calibri" pitchFamily="34" charset="0"/>
                <a:ea typeface="Calibri" pitchFamily="34" charset="-122"/>
                <a:cs typeface="Calibri" pitchFamily="34" charset="-120"/>
              </a:rPr>
              <a:t>PDF · Word · PowerPoint · photos · pasted text — up to 8 files at once</a:t>
            </a:r>
            <a:endParaRPr lang="en-US" sz="1150" dirty="0"/>
          </a:p>
        </p:txBody>
      </p:sp>
      <p:sp>
        <p:nvSpPr>
          <p:cNvPr id="14" name="Shape 11"/>
          <p:cNvSpPr/>
          <p:nvPr/>
        </p:nvSpPr>
        <p:spPr>
          <a:xfrm>
            <a:off x="4288536" y="1554480"/>
            <a:ext cx="3429000" cy="1005840"/>
          </a:xfrm>
          <a:prstGeom prst="roundRect">
            <a:avLst>
              <a:gd name="adj" fmla="val 10909"/>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5" name="Shape 12"/>
          <p:cNvSpPr/>
          <p:nvPr/>
        </p:nvSpPr>
        <p:spPr>
          <a:xfrm>
            <a:off x="4288536" y="1554480"/>
            <a:ext cx="100584" cy="1005840"/>
          </a:xfrm>
          <a:prstGeom prst="rect">
            <a:avLst/>
          </a:prstGeom>
          <a:solidFill>
            <a:srgbClr val="6366F1"/>
          </a:solidFill>
          <a:ln/>
        </p:spPr>
      </p:sp>
      <p:sp>
        <p:nvSpPr>
          <p:cNvPr id="16" name="Text 13"/>
          <p:cNvSpPr/>
          <p:nvPr/>
        </p:nvSpPr>
        <p:spPr>
          <a:xfrm>
            <a:off x="4526280" y="1627632"/>
            <a:ext cx="3063240" cy="310896"/>
          </a:xfrm>
          <a:prstGeom prst="rect">
            <a:avLst/>
          </a:prstGeom>
          <a:noFill/>
          <a:ln/>
        </p:spPr>
        <p:txBody>
          <a:bodyPr wrap="square" rtlCol="0" anchor="ctr"/>
          <a:lstStyle/>
          <a:p>
            <a:pPr indent="0" marL="0">
              <a:buNone/>
            </a:pPr>
            <a:r>
              <a:rPr lang="en-US" sz="1500" b="1" dirty="0">
                <a:solidFill>
                  <a:srgbClr val="10233F"/>
                </a:solidFill>
                <a:latin typeface="Calibri" pitchFamily="34" charset="0"/>
                <a:ea typeface="Calibri" pitchFamily="34" charset="-122"/>
                <a:cs typeface="Calibri" pitchFamily="34" charset="-120"/>
              </a:rPr>
              <a:t>Generate</a:t>
            </a:r>
            <a:endParaRPr lang="en-US" sz="1500" dirty="0"/>
          </a:p>
        </p:txBody>
      </p:sp>
      <p:sp>
        <p:nvSpPr>
          <p:cNvPr id="17" name="Text 14"/>
          <p:cNvSpPr/>
          <p:nvPr/>
        </p:nvSpPr>
        <p:spPr>
          <a:xfrm>
            <a:off x="4526280" y="1938528"/>
            <a:ext cx="3063240" cy="548640"/>
          </a:xfrm>
          <a:prstGeom prst="rect">
            <a:avLst/>
          </a:prstGeom>
          <a:noFill/>
          <a:ln/>
        </p:spPr>
        <p:txBody>
          <a:bodyPr wrap="square" rtlCol="0" anchor="t"/>
          <a:lstStyle/>
          <a:p>
            <a:pPr indent="0" marL="0">
              <a:buNone/>
            </a:pPr>
            <a:r>
              <a:rPr lang="en-US" sz="1150" dirty="0">
                <a:solidFill>
                  <a:srgbClr val="5B7192"/>
                </a:solidFill>
                <a:latin typeface="Calibri" pitchFamily="34" charset="0"/>
                <a:ea typeface="Calibri" pitchFamily="34" charset="-122"/>
                <a:cs typeface="Calibri" pitchFamily="34" charset="-120"/>
              </a:rPr>
              <a:t>8–20 cards with question, answer, hint and difficulty</a:t>
            </a:r>
            <a:endParaRPr lang="en-US" sz="1150" dirty="0"/>
          </a:p>
        </p:txBody>
      </p:sp>
      <p:sp>
        <p:nvSpPr>
          <p:cNvPr id="18" name="Shape 15"/>
          <p:cNvSpPr/>
          <p:nvPr/>
        </p:nvSpPr>
        <p:spPr>
          <a:xfrm>
            <a:off x="8010144" y="1554480"/>
            <a:ext cx="3429000" cy="1005840"/>
          </a:xfrm>
          <a:prstGeom prst="roundRect">
            <a:avLst>
              <a:gd name="adj" fmla="val 10909"/>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9" name="Shape 16"/>
          <p:cNvSpPr/>
          <p:nvPr/>
        </p:nvSpPr>
        <p:spPr>
          <a:xfrm>
            <a:off x="8010144" y="1554480"/>
            <a:ext cx="100584" cy="1005840"/>
          </a:xfrm>
          <a:prstGeom prst="rect">
            <a:avLst/>
          </a:prstGeom>
          <a:solidFill>
            <a:srgbClr val="7C3AED"/>
          </a:solidFill>
          <a:ln/>
        </p:spPr>
      </p:sp>
      <p:sp>
        <p:nvSpPr>
          <p:cNvPr id="20" name="Text 17"/>
          <p:cNvSpPr/>
          <p:nvPr/>
        </p:nvSpPr>
        <p:spPr>
          <a:xfrm>
            <a:off x="8247888" y="1627632"/>
            <a:ext cx="3063240" cy="310896"/>
          </a:xfrm>
          <a:prstGeom prst="rect">
            <a:avLst/>
          </a:prstGeom>
          <a:noFill/>
          <a:ln/>
        </p:spPr>
        <p:txBody>
          <a:bodyPr wrap="square" rtlCol="0" anchor="ctr"/>
          <a:lstStyle/>
          <a:p>
            <a:pPr indent="0" marL="0">
              <a:buNone/>
            </a:pPr>
            <a:r>
              <a:rPr lang="en-US" sz="1500" b="1" dirty="0">
                <a:solidFill>
                  <a:srgbClr val="10233F"/>
                </a:solidFill>
                <a:latin typeface="Calibri" pitchFamily="34" charset="0"/>
                <a:ea typeface="Calibri" pitchFamily="34" charset="-122"/>
                <a:cs typeface="Calibri" pitchFamily="34" charset="-120"/>
              </a:rPr>
              <a:t>Curate</a:t>
            </a:r>
            <a:endParaRPr lang="en-US" sz="1500" dirty="0"/>
          </a:p>
        </p:txBody>
      </p:sp>
      <p:sp>
        <p:nvSpPr>
          <p:cNvPr id="21" name="Text 18"/>
          <p:cNvSpPr/>
          <p:nvPr/>
        </p:nvSpPr>
        <p:spPr>
          <a:xfrm>
            <a:off x="8247888" y="1938528"/>
            <a:ext cx="3063240" cy="548640"/>
          </a:xfrm>
          <a:prstGeom prst="rect">
            <a:avLst/>
          </a:prstGeom>
          <a:noFill/>
          <a:ln/>
        </p:spPr>
        <p:txBody>
          <a:bodyPr wrap="square" rtlCol="0" anchor="t"/>
          <a:lstStyle/>
          <a:p>
            <a:pPr indent="0" marL="0">
              <a:buNone/>
            </a:pPr>
            <a:r>
              <a:rPr lang="en-US" sz="1150" dirty="0">
                <a:solidFill>
                  <a:srgbClr val="5B7192"/>
                </a:solidFill>
                <a:latin typeface="Calibri" pitchFamily="34" charset="0"/>
                <a:ea typeface="Calibri" pitchFamily="34" charset="-122"/>
                <a:cs typeface="Calibri" pitchFamily="34" charset="-120"/>
              </a:rPr>
              <a:t>Edit, reorder or delete — progress survives every edit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FFFFFF"/>
          </a:solidFill>
          <a:ln/>
        </p:spPr>
      </p:sp>
      <p:sp>
        <p:nvSpPr>
          <p:cNvPr id="3" name="Shape 1"/>
          <p:cNvSpPr/>
          <p:nvPr/>
        </p:nvSpPr>
        <p:spPr>
          <a:xfrm>
            <a:off x="0" y="1170432"/>
            <a:ext cx="12191695" cy="54864"/>
          </a:xfrm>
          <a:prstGeom prst="rect">
            <a:avLst/>
          </a:prstGeom>
          <a:solidFill>
            <a:srgbClr val="6366F1"/>
          </a:solidFill>
          <a:ln/>
        </p:spPr>
      </p:sp>
      <p:sp>
        <p:nvSpPr>
          <p:cNvPr id="4" name="Shape 2"/>
          <p:cNvSpPr/>
          <p:nvPr/>
        </p:nvSpPr>
        <p:spPr>
          <a:xfrm>
            <a:off x="457200" y="274320"/>
            <a:ext cx="100584" cy="658368"/>
          </a:xfrm>
          <a:prstGeom prst="rect">
            <a:avLst/>
          </a:prstGeom>
          <a:solidFill>
            <a:srgbClr val="6366F1"/>
          </a:solidFill>
          <a:ln/>
        </p:spPr>
      </p:sp>
      <p:sp>
        <p:nvSpPr>
          <p:cNvPr id="5" name="Text 3"/>
          <p:cNvSpPr/>
          <p:nvPr/>
        </p:nvSpPr>
        <p:spPr>
          <a:xfrm>
            <a:off x="685800" y="201168"/>
            <a:ext cx="9601200" cy="457200"/>
          </a:xfrm>
          <a:prstGeom prst="rect">
            <a:avLst/>
          </a:prstGeom>
          <a:noFill/>
          <a:ln/>
        </p:spPr>
        <p:txBody>
          <a:bodyPr wrap="square" rtlCol="0" anchor="ctr"/>
          <a:lstStyle/>
          <a:p>
            <a:pPr indent="0" marL="0">
              <a:buNone/>
            </a:pPr>
            <a:r>
              <a:rPr lang="en-US" sz="2700" b="1" dirty="0">
                <a:solidFill>
                  <a:srgbClr val="10233F"/>
                </a:solidFill>
                <a:latin typeface="Calibri" pitchFamily="34" charset="0"/>
                <a:ea typeface="Calibri" pitchFamily="34" charset="-122"/>
                <a:cs typeface="Calibri" pitchFamily="34" charset="-120"/>
              </a:rPr>
              <a:t>Four ways to be tested</a:t>
            </a:r>
            <a:endParaRPr lang="en-US" sz="2700" dirty="0"/>
          </a:p>
        </p:txBody>
      </p:sp>
      <p:sp>
        <p:nvSpPr>
          <p:cNvPr id="6" name="Text 4"/>
          <p:cNvSpPr/>
          <p:nvPr/>
        </p:nvSpPr>
        <p:spPr>
          <a:xfrm>
            <a:off x="704088" y="658368"/>
            <a:ext cx="10241280" cy="384048"/>
          </a:xfrm>
          <a:prstGeom prst="rect">
            <a:avLst/>
          </a:prstGeom>
          <a:noFill/>
          <a:ln/>
        </p:spPr>
        <p:txBody>
          <a:bodyPr wrap="square" rtlCol="0" anchor="ctr"/>
          <a:lstStyle/>
          <a:p>
            <a:pPr indent="0" marL="0">
              <a:buNone/>
            </a:pPr>
            <a:r>
              <a:rPr lang="en-US" sz="1400" dirty="0">
                <a:solidFill>
                  <a:srgbClr val="5B7192"/>
                </a:solidFill>
                <a:latin typeface="Calibri" pitchFamily="34" charset="0"/>
                <a:ea typeface="Calibri" pitchFamily="34" charset="-122"/>
                <a:cs typeface="Calibri" pitchFamily="34" charset="-120"/>
              </a:rPr>
              <a:t>Each mode exercises recall differently and feeds the same progress record.</a:t>
            </a:r>
            <a:endParaRPr lang="en-US" sz="1400" dirty="0"/>
          </a:p>
        </p:txBody>
      </p:sp>
      <p:sp>
        <p:nvSpPr>
          <p:cNvPr id="7" name="Text 5"/>
          <p:cNvSpPr/>
          <p:nvPr/>
        </p:nvSpPr>
        <p:spPr>
          <a:xfrm>
            <a:off x="10957255" y="6291072"/>
            <a:ext cx="777240" cy="329184"/>
          </a:xfrm>
          <a:prstGeom prst="rect">
            <a:avLst/>
          </a:prstGeom>
          <a:noFill/>
          <a:ln/>
        </p:spPr>
        <p:txBody>
          <a:bodyPr wrap="square" rtlCol="0" anchor="ctr"/>
          <a:lstStyle/>
          <a:p>
            <a:pPr algn="r" indent="0" marL="0">
              <a:buNone/>
            </a:pPr>
            <a:r>
              <a:rPr lang="en-US" sz="1200" dirty="0">
                <a:solidFill>
                  <a:srgbClr val="5B7192"/>
                </a:solidFill>
                <a:latin typeface="Calibri" pitchFamily="34" charset="0"/>
                <a:ea typeface="Calibri" pitchFamily="34" charset="-122"/>
                <a:cs typeface="Calibri" pitchFamily="34" charset="-120"/>
              </a:rPr>
              <a:t>7</a:t>
            </a:r>
            <a:endParaRPr lang="en-US" sz="1200" dirty="0"/>
          </a:p>
        </p:txBody>
      </p:sp>
      <p:sp>
        <p:nvSpPr>
          <p:cNvPr id="8" name="Text 6"/>
          <p:cNvSpPr/>
          <p:nvPr/>
        </p:nvSpPr>
        <p:spPr>
          <a:xfrm>
            <a:off x="457200" y="6291072"/>
            <a:ext cx="4114800" cy="329184"/>
          </a:xfrm>
          <a:prstGeom prst="rect">
            <a:avLst/>
          </a:prstGeom>
          <a:noFill/>
          <a:ln/>
        </p:spPr>
        <p:txBody>
          <a:bodyPr wrap="square" rtlCol="0" anchor="ctr"/>
          <a:lstStyle/>
          <a:p>
            <a:pPr indent="0" marL="0">
              <a:buNone/>
            </a:pPr>
            <a:r>
              <a:rPr lang="en-US" sz="1100" dirty="0">
                <a:solidFill>
                  <a:srgbClr val="5B7192"/>
                </a:solidFill>
                <a:latin typeface="Calibri" pitchFamily="34" charset="0"/>
                <a:ea typeface="Calibri" pitchFamily="34" charset="-122"/>
                <a:cs typeface="Calibri" pitchFamily="34" charset="-120"/>
              </a:rPr>
              <a:t>QuizTime · Concept Paper</a:t>
            </a:r>
            <a:endParaRPr lang="en-US" sz="1100" dirty="0"/>
          </a:p>
        </p:txBody>
      </p:sp>
      <p:sp>
        <p:nvSpPr>
          <p:cNvPr id="9" name="Shape 7"/>
          <p:cNvSpPr/>
          <p:nvPr/>
        </p:nvSpPr>
        <p:spPr>
          <a:xfrm>
            <a:off x="566928" y="1554480"/>
            <a:ext cx="2615184" cy="3246120"/>
          </a:xfrm>
          <a:prstGeom prst="roundRect">
            <a:avLst>
              <a:gd name="adj" fmla="val 4196"/>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0" name="Shape 8"/>
          <p:cNvSpPr/>
          <p:nvPr/>
        </p:nvSpPr>
        <p:spPr>
          <a:xfrm>
            <a:off x="566928" y="1554480"/>
            <a:ext cx="2615184" cy="786384"/>
          </a:xfrm>
          <a:prstGeom prst="rect">
            <a:avLst/>
          </a:prstGeom>
          <a:solidFill>
            <a:srgbClr val="3B82F6"/>
          </a:solidFill>
          <a:ln/>
        </p:spPr>
      </p:sp>
      <p:sp>
        <p:nvSpPr>
          <p:cNvPr id="11" name="Text 9"/>
          <p:cNvSpPr/>
          <p:nvPr/>
        </p:nvSpPr>
        <p:spPr>
          <a:xfrm>
            <a:off x="731520" y="1627632"/>
            <a:ext cx="2286000" cy="38404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Study</a:t>
            </a:r>
            <a:endParaRPr lang="en-US" sz="1600" dirty="0"/>
          </a:p>
        </p:txBody>
      </p:sp>
      <p:sp>
        <p:nvSpPr>
          <p:cNvPr id="12" name="Text 10"/>
          <p:cNvSpPr/>
          <p:nvPr/>
        </p:nvSpPr>
        <p:spPr>
          <a:xfrm>
            <a:off x="731520" y="1975104"/>
            <a:ext cx="2286000" cy="310896"/>
          </a:xfrm>
          <a:prstGeom prst="rect">
            <a:avLst/>
          </a:prstGeom>
          <a:noFill/>
          <a:ln/>
        </p:spPr>
        <p:txBody>
          <a:bodyPr wrap="square" rtlCol="0" anchor="ctr"/>
          <a:lstStyle/>
          <a:p>
            <a:pPr indent="0" marL="0">
              <a:buNone/>
            </a:pPr>
            <a:r>
              <a:rPr lang="en-US" sz="1150" dirty="0">
                <a:solidFill>
                  <a:srgbClr val="EAF2FF"/>
                </a:solidFill>
                <a:latin typeface="Calibri" pitchFamily="34" charset="0"/>
                <a:ea typeface="Calibri" pitchFamily="34" charset="-122"/>
                <a:cs typeface="Calibri" pitchFamily="34" charset="-120"/>
              </a:rPr>
              <a:t>Flashcards</a:t>
            </a:r>
            <a:endParaRPr lang="en-US" sz="1150" dirty="0"/>
          </a:p>
        </p:txBody>
      </p:sp>
      <p:sp>
        <p:nvSpPr>
          <p:cNvPr id="13" name="Shape 11"/>
          <p:cNvSpPr/>
          <p:nvPr/>
        </p:nvSpPr>
        <p:spPr>
          <a:xfrm>
            <a:off x="749808" y="2606040"/>
            <a:ext cx="128016" cy="128016"/>
          </a:xfrm>
          <a:prstGeom prst="ellipse">
            <a:avLst/>
          </a:prstGeom>
          <a:solidFill>
            <a:srgbClr val="3B82F6"/>
          </a:solidFill>
          <a:ln/>
        </p:spPr>
      </p:sp>
      <p:sp>
        <p:nvSpPr>
          <p:cNvPr id="14" name="Text 12"/>
          <p:cNvSpPr/>
          <p:nvPr/>
        </p:nvSpPr>
        <p:spPr>
          <a:xfrm>
            <a:off x="969264" y="2432304"/>
            <a:ext cx="2048256" cy="676656"/>
          </a:xfrm>
          <a:prstGeom prst="rect">
            <a:avLst/>
          </a:prstGeom>
          <a:noFill/>
          <a:ln/>
        </p:spPr>
        <p:txBody>
          <a:bodyPr wrap="square" rtlCol="0" anchor="ctr"/>
          <a:lstStyle/>
          <a:p>
            <a:pPr indent="0" marL="0">
              <a:lnSpc>
                <a:spcPct val="108000"/>
              </a:lnSpc>
              <a:buNone/>
            </a:pPr>
            <a:r>
              <a:rPr lang="en-US" sz="1100" dirty="0">
                <a:solidFill>
                  <a:srgbClr val="3B4E6B"/>
                </a:solidFill>
                <a:latin typeface="Calibri" pitchFamily="34" charset="0"/>
                <a:ea typeface="Calibri" pitchFamily="34" charset="-122"/>
                <a:cs typeface="Calibri" pitchFamily="34" charset="-120"/>
              </a:rPr>
              <a:t>Read, flip, reveal the answer and an optional hint.</a:t>
            </a:r>
            <a:endParaRPr lang="en-US" sz="1100" dirty="0"/>
          </a:p>
        </p:txBody>
      </p:sp>
      <p:sp>
        <p:nvSpPr>
          <p:cNvPr id="15" name="Shape 13"/>
          <p:cNvSpPr/>
          <p:nvPr/>
        </p:nvSpPr>
        <p:spPr>
          <a:xfrm>
            <a:off x="749808" y="3319272"/>
            <a:ext cx="128016" cy="128016"/>
          </a:xfrm>
          <a:prstGeom prst="ellipse">
            <a:avLst/>
          </a:prstGeom>
          <a:solidFill>
            <a:srgbClr val="3B82F6"/>
          </a:solidFill>
          <a:ln/>
        </p:spPr>
      </p:sp>
      <p:sp>
        <p:nvSpPr>
          <p:cNvPr id="16" name="Text 14"/>
          <p:cNvSpPr/>
          <p:nvPr/>
        </p:nvSpPr>
        <p:spPr>
          <a:xfrm>
            <a:off x="969264" y="3145536"/>
            <a:ext cx="2048256" cy="676656"/>
          </a:xfrm>
          <a:prstGeom prst="rect">
            <a:avLst/>
          </a:prstGeom>
          <a:noFill/>
          <a:ln/>
        </p:spPr>
        <p:txBody>
          <a:bodyPr wrap="square" rtlCol="0" anchor="ctr"/>
          <a:lstStyle/>
          <a:p>
            <a:pPr indent="0" marL="0">
              <a:lnSpc>
                <a:spcPct val="108000"/>
              </a:lnSpc>
              <a:buNone/>
            </a:pPr>
            <a:r>
              <a:rPr lang="en-US" sz="1100" dirty="0">
                <a:solidFill>
                  <a:srgbClr val="3B4E6B"/>
                </a:solidFill>
                <a:latin typeface="Calibri" pitchFamily="34" charset="0"/>
                <a:ea typeface="Calibri" pitchFamily="34" charset="-122"/>
                <a:cs typeface="Calibri" pitchFamily="34" charset="-120"/>
              </a:rPr>
              <a:t>Self-check: “Got it” or “Still learning”.</a:t>
            </a:r>
            <a:endParaRPr lang="en-US" sz="1100" dirty="0"/>
          </a:p>
        </p:txBody>
      </p:sp>
      <p:sp>
        <p:nvSpPr>
          <p:cNvPr id="17" name="Shape 15"/>
          <p:cNvSpPr/>
          <p:nvPr/>
        </p:nvSpPr>
        <p:spPr>
          <a:xfrm>
            <a:off x="749808" y="4032504"/>
            <a:ext cx="128016" cy="128016"/>
          </a:xfrm>
          <a:prstGeom prst="ellipse">
            <a:avLst/>
          </a:prstGeom>
          <a:solidFill>
            <a:srgbClr val="3B82F6"/>
          </a:solidFill>
          <a:ln/>
        </p:spPr>
      </p:sp>
      <p:sp>
        <p:nvSpPr>
          <p:cNvPr id="18" name="Text 16"/>
          <p:cNvSpPr/>
          <p:nvPr/>
        </p:nvSpPr>
        <p:spPr>
          <a:xfrm>
            <a:off x="969264" y="3858768"/>
            <a:ext cx="2048256" cy="676656"/>
          </a:xfrm>
          <a:prstGeom prst="rect">
            <a:avLst/>
          </a:prstGeom>
          <a:noFill/>
          <a:ln/>
        </p:spPr>
        <p:txBody>
          <a:bodyPr wrap="square" rtlCol="0" anchor="ctr"/>
          <a:lstStyle/>
          <a:p>
            <a:pPr indent="0" marL="0">
              <a:lnSpc>
                <a:spcPct val="108000"/>
              </a:lnSpc>
              <a:buNone/>
            </a:pPr>
            <a:r>
              <a:rPr lang="en-US" sz="1100" dirty="0">
                <a:solidFill>
                  <a:srgbClr val="3B4E6B"/>
                </a:solidFill>
                <a:latin typeface="Calibri" pitchFamily="34" charset="0"/>
                <a:ea typeface="Calibri" pitchFamily="34" charset="-122"/>
                <a:cs typeface="Calibri" pitchFamily="34" charset="-120"/>
              </a:rPr>
              <a:t>Missed cards come back in the same session.</a:t>
            </a:r>
            <a:endParaRPr lang="en-US" sz="1100" dirty="0"/>
          </a:p>
        </p:txBody>
      </p:sp>
      <p:sp>
        <p:nvSpPr>
          <p:cNvPr id="19" name="Shape 17"/>
          <p:cNvSpPr/>
          <p:nvPr/>
        </p:nvSpPr>
        <p:spPr>
          <a:xfrm>
            <a:off x="3392424" y="1554480"/>
            <a:ext cx="2615184" cy="3246120"/>
          </a:xfrm>
          <a:prstGeom prst="roundRect">
            <a:avLst>
              <a:gd name="adj" fmla="val 4196"/>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20" name="Shape 18"/>
          <p:cNvSpPr/>
          <p:nvPr/>
        </p:nvSpPr>
        <p:spPr>
          <a:xfrm>
            <a:off x="3392424" y="1554480"/>
            <a:ext cx="2615184" cy="786384"/>
          </a:xfrm>
          <a:prstGeom prst="rect">
            <a:avLst/>
          </a:prstGeom>
          <a:solidFill>
            <a:srgbClr val="6366F1"/>
          </a:solidFill>
          <a:ln/>
        </p:spPr>
      </p:sp>
      <p:sp>
        <p:nvSpPr>
          <p:cNvPr id="21" name="Text 19"/>
          <p:cNvSpPr/>
          <p:nvPr/>
        </p:nvSpPr>
        <p:spPr>
          <a:xfrm>
            <a:off x="3557016" y="1627632"/>
            <a:ext cx="2286000" cy="38404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Exam</a:t>
            </a:r>
            <a:endParaRPr lang="en-US" sz="1600" dirty="0"/>
          </a:p>
        </p:txBody>
      </p:sp>
      <p:sp>
        <p:nvSpPr>
          <p:cNvPr id="22" name="Text 20"/>
          <p:cNvSpPr/>
          <p:nvPr/>
        </p:nvSpPr>
        <p:spPr>
          <a:xfrm>
            <a:off x="3557016" y="1975104"/>
            <a:ext cx="2286000" cy="310896"/>
          </a:xfrm>
          <a:prstGeom prst="rect">
            <a:avLst/>
          </a:prstGeom>
          <a:noFill/>
          <a:ln/>
        </p:spPr>
        <p:txBody>
          <a:bodyPr wrap="square" rtlCol="0" anchor="ctr"/>
          <a:lstStyle/>
          <a:p>
            <a:pPr indent="0" marL="0">
              <a:buNone/>
            </a:pPr>
            <a:r>
              <a:rPr lang="en-US" sz="1150" dirty="0">
                <a:solidFill>
                  <a:srgbClr val="EAF2FF"/>
                </a:solidFill>
                <a:latin typeface="Calibri" pitchFamily="34" charset="0"/>
                <a:ea typeface="Calibri" pitchFamily="34" charset="-122"/>
                <a:cs typeface="Calibri" pitchFamily="34" charset="-120"/>
              </a:rPr>
              <a:t>Multiple choice</a:t>
            </a:r>
            <a:endParaRPr lang="en-US" sz="1150" dirty="0"/>
          </a:p>
        </p:txBody>
      </p:sp>
      <p:sp>
        <p:nvSpPr>
          <p:cNvPr id="23" name="Shape 21"/>
          <p:cNvSpPr/>
          <p:nvPr/>
        </p:nvSpPr>
        <p:spPr>
          <a:xfrm>
            <a:off x="3575304" y="2606040"/>
            <a:ext cx="128016" cy="128016"/>
          </a:xfrm>
          <a:prstGeom prst="ellipse">
            <a:avLst/>
          </a:prstGeom>
          <a:solidFill>
            <a:srgbClr val="6366F1"/>
          </a:solidFill>
          <a:ln/>
        </p:spPr>
      </p:sp>
      <p:sp>
        <p:nvSpPr>
          <p:cNvPr id="24" name="Text 22"/>
          <p:cNvSpPr/>
          <p:nvPr/>
        </p:nvSpPr>
        <p:spPr>
          <a:xfrm>
            <a:off x="3794760" y="2432304"/>
            <a:ext cx="2048256" cy="676656"/>
          </a:xfrm>
          <a:prstGeom prst="rect">
            <a:avLst/>
          </a:prstGeom>
          <a:noFill/>
          <a:ln/>
        </p:spPr>
        <p:txBody>
          <a:bodyPr wrap="square" rtlCol="0" anchor="ctr"/>
          <a:lstStyle/>
          <a:p>
            <a:pPr indent="0" marL="0">
              <a:lnSpc>
                <a:spcPct val="108000"/>
              </a:lnSpc>
              <a:buNone/>
            </a:pPr>
            <a:r>
              <a:rPr lang="en-US" sz="1100" dirty="0">
                <a:solidFill>
                  <a:srgbClr val="3B4E6B"/>
                </a:solidFill>
                <a:latin typeface="Calibri" pitchFamily="34" charset="0"/>
                <a:ea typeface="Calibri" pitchFamily="34" charset="-122"/>
                <a:cs typeface="Calibri" pitchFamily="34" charset="-120"/>
              </a:rPr>
              <a:t>Four options per question with instant feedback.</a:t>
            </a:r>
            <a:endParaRPr lang="en-US" sz="1100" dirty="0"/>
          </a:p>
        </p:txBody>
      </p:sp>
      <p:sp>
        <p:nvSpPr>
          <p:cNvPr id="25" name="Shape 23"/>
          <p:cNvSpPr/>
          <p:nvPr/>
        </p:nvSpPr>
        <p:spPr>
          <a:xfrm>
            <a:off x="3575304" y="3319272"/>
            <a:ext cx="128016" cy="128016"/>
          </a:xfrm>
          <a:prstGeom prst="ellipse">
            <a:avLst/>
          </a:prstGeom>
          <a:solidFill>
            <a:srgbClr val="6366F1"/>
          </a:solidFill>
          <a:ln/>
        </p:spPr>
      </p:sp>
      <p:sp>
        <p:nvSpPr>
          <p:cNvPr id="26" name="Text 24"/>
          <p:cNvSpPr/>
          <p:nvPr/>
        </p:nvSpPr>
        <p:spPr>
          <a:xfrm>
            <a:off x="3794760" y="3145536"/>
            <a:ext cx="2048256" cy="676656"/>
          </a:xfrm>
          <a:prstGeom prst="rect">
            <a:avLst/>
          </a:prstGeom>
          <a:noFill/>
          <a:ln/>
        </p:spPr>
        <p:txBody>
          <a:bodyPr wrap="square" rtlCol="0" anchor="ctr"/>
          <a:lstStyle/>
          <a:p>
            <a:pPr indent="0" marL="0">
              <a:lnSpc>
                <a:spcPct val="108000"/>
              </a:lnSpc>
              <a:buNone/>
            </a:pPr>
            <a:r>
              <a:rPr lang="en-US" sz="1100" dirty="0">
                <a:solidFill>
                  <a:srgbClr val="3B4E6B"/>
                </a:solidFill>
                <a:latin typeface="Calibri" pitchFamily="34" charset="0"/>
                <a:ea typeface="Calibri" pitchFamily="34" charset="-122"/>
                <a:cs typeface="Calibri" pitchFamily="34" charset="-120"/>
              </a:rPr>
              <a:t>10 points a card, +5 medium, +10 hard.</a:t>
            </a:r>
            <a:endParaRPr lang="en-US" sz="1100" dirty="0"/>
          </a:p>
        </p:txBody>
      </p:sp>
      <p:sp>
        <p:nvSpPr>
          <p:cNvPr id="27" name="Shape 25"/>
          <p:cNvSpPr/>
          <p:nvPr/>
        </p:nvSpPr>
        <p:spPr>
          <a:xfrm>
            <a:off x="3575304" y="4032504"/>
            <a:ext cx="128016" cy="128016"/>
          </a:xfrm>
          <a:prstGeom prst="ellipse">
            <a:avLst/>
          </a:prstGeom>
          <a:solidFill>
            <a:srgbClr val="6366F1"/>
          </a:solidFill>
          <a:ln/>
        </p:spPr>
      </p:sp>
      <p:sp>
        <p:nvSpPr>
          <p:cNvPr id="28" name="Text 26"/>
          <p:cNvSpPr/>
          <p:nvPr/>
        </p:nvSpPr>
        <p:spPr>
          <a:xfrm>
            <a:off x="3794760" y="3858768"/>
            <a:ext cx="2048256" cy="676656"/>
          </a:xfrm>
          <a:prstGeom prst="rect">
            <a:avLst/>
          </a:prstGeom>
          <a:noFill/>
          <a:ln/>
        </p:spPr>
        <p:txBody>
          <a:bodyPr wrap="square" rtlCol="0" anchor="ctr"/>
          <a:lstStyle/>
          <a:p>
            <a:pPr indent="0" marL="0">
              <a:lnSpc>
                <a:spcPct val="108000"/>
              </a:lnSpc>
              <a:buNone/>
            </a:pPr>
            <a:r>
              <a:rPr lang="en-US" sz="1100" dirty="0">
                <a:solidFill>
                  <a:srgbClr val="3B4E6B"/>
                </a:solidFill>
                <a:latin typeface="Calibri" pitchFamily="34" charset="0"/>
                <a:ea typeface="Calibri" pitchFamily="34" charset="-122"/>
                <a:cs typeface="Calibri" pitchFamily="34" charset="-120"/>
              </a:rPr>
              <a:t>Streak bonus +2, capped at +10.</a:t>
            </a:r>
            <a:endParaRPr lang="en-US" sz="1100" dirty="0"/>
          </a:p>
        </p:txBody>
      </p:sp>
      <p:sp>
        <p:nvSpPr>
          <p:cNvPr id="29" name="Shape 27"/>
          <p:cNvSpPr/>
          <p:nvPr/>
        </p:nvSpPr>
        <p:spPr>
          <a:xfrm>
            <a:off x="6217920" y="1554480"/>
            <a:ext cx="2615184" cy="3246120"/>
          </a:xfrm>
          <a:prstGeom prst="roundRect">
            <a:avLst>
              <a:gd name="adj" fmla="val 4196"/>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30" name="Shape 28"/>
          <p:cNvSpPr/>
          <p:nvPr/>
        </p:nvSpPr>
        <p:spPr>
          <a:xfrm>
            <a:off x="6217920" y="1554480"/>
            <a:ext cx="2615184" cy="786384"/>
          </a:xfrm>
          <a:prstGeom prst="rect">
            <a:avLst/>
          </a:prstGeom>
          <a:solidFill>
            <a:srgbClr val="06B6D4"/>
          </a:solidFill>
          <a:ln/>
        </p:spPr>
      </p:sp>
      <p:sp>
        <p:nvSpPr>
          <p:cNvPr id="31" name="Text 29"/>
          <p:cNvSpPr/>
          <p:nvPr/>
        </p:nvSpPr>
        <p:spPr>
          <a:xfrm>
            <a:off x="6382512" y="1627632"/>
            <a:ext cx="2286000" cy="38404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Identification</a:t>
            </a:r>
            <a:endParaRPr lang="en-US" sz="1600" dirty="0"/>
          </a:p>
        </p:txBody>
      </p:sp>
      <p:sp>
        <p:nvSpPr>
          <p:cNvPr id="32" name="Text 30"/>
          <p:cNvSpPr/>
          <p:nvPr/>
        </p:nvSpPr>
        <p:spPr>
          <a:xfrm>
            <a:off x="6382512" y="1975104"/>
            <a:ext cx="2286000" cy="310896"/>
          </a:xfrm>
          <a:prstGeom prst="rect">
            <a:avLst/>
          </a:prstGeom>
          <a:noFill/>
          <a:ln/>
        </p:spPr>
        <p:txBody>
          <a:bodyPr wrap="square" rtlCol="0" anchor="ctr"/>
          <a:lstStyle/>
          <a:p>
            <a:pPr indent="0" marL="0">
              <a:buNone/>
            </a:pPr>
            <a:r>
              <a:rPr lang="en-US" sz="1150" dirty="0">
                <a:solidFill>
                  <a:srgbClr val="EAF2FF"/>
                </a:solidFill>
                <a:latin typeface="Calibri" pitchFamily="34" charset="0"/>
                <a:ea typeface="Calibri" pitchFamily="34" charset="-122"/>
                <a:cs typeface="Calibri" pitchFamily="34" charset="-120"/>
              </a:rPr>
              <a:t>Type the answer</a:t>
            </a:r>
            <a:endParaRPr lang="en-US" sz="1150" dirty="0"/>
          </a:p>
        </p:txBody>
      </p:sp>
      <p:sp>
        <p:nvSpPr>
          <p:cNvPr id="33" name="Shape 31"/>
          <p:cNvSpPr/>
          <p:nvPr/>
        </p:nvSpPr>
        <p:spPr>
          <a:xfrm>
            <a:off x="6400800" y="2606040"/>
            <a:ext cx="128016" cy="128016"/>
          </a:xfrm>
          <a:prstGeom prst="ellipse">
            <a:avLst/>
          </a:prstGeom>
          <a:solidFill>
            <a:srgbClr val="06B6D4"/>
          </a:solidFill>
          <a:ln/>
        </p:spPr>
      </p:sp>
      <p:sp>
        <p:nvSpPr>
          <p:cNvPr id="34" name="Text 32"/>
          <p:cNvSpPr/>
          <p:nvPr/>
        </p:nvSpPr>
        <p:spPr>
          <a:xfrm>
            <a:off x="6620256" y="2432304"/>
            <a:ext cx="2048256" cy="676656"/>
          </a:xfrm>
          <a:prstGeom prst="rect">
            <a:avLst/>
          </a:prstGeom>
          <a:noFill/>
          <a:ln/>
        </p:spPr>
        <p:txBody>
          <a:bodyPr wrap="square" rtlCol="0" anchor="ctr"/>
          <a:lstStyle/>
          <a:p>
            <a:pPr indent="0" marL="0">
              <a:lnSpc>
                <a:spcPct val="108000"/>
              </a:lnSpc>
              <a:buNone/>
            </a:pPr>
            <a:r>
              <a:rPr lang="en-US" sz="1100" dirty="0">
                <a:solidFill>
                  <a:srgbClr val="3B4E6B"/>
                </a:solidFill>
                <a:latin typeface="Calibri" pitchFamily="34" charset="0"/>
                <a:ea typeface="Calibri" pitchFamily="34" charset="-122"/>
                <a:cs typeface="Calibri" pitchFamily="34" charset="-120"/>
              </a:rPr>
              <a:t>Recall from memory, no options to lean on.</a:t>
            </a:r>
            <a:endParaRPr lang="en-US" sz="1100" dirty="0"/>
          </a:p>
        </p:txBody>
      </p:sp>
      <p:sp>
        <p:nvSpPr>
          <p:cNvPr id="35" name="Shape 33"/>
          <p:cNvSpPr/>
          <p:nvPr/>
        </p:nvSpPr>
        <p:spPr>
          <a:xfrm>
            <a:off x="6400800" y="3319272"/>
            <a:ext cx="128016" cy="128016"/>
          </a:xfrm>
          <a:prstGeom prst="ellipse">
            <a:avLst/>
          </a:prstGeom>
          <a:solidFill>
            <a:srgbClr val="06B6D4"/>
          </a:solidFill>
          <a:ln/>
        </p:spPr>
      </p:sp>
      <p:sp>
        <p:nvSpPr>
          <p:cNvPr id="36" name="Text 34"/>
          <p:cNvSpPr/>
          <p:nvPr/>
        </p:nvSpPr>
        <p:spPr>
          <a:xfrm>
            <a:off x="6620256" y="3145536"/>
            <a:ext cx="2048256" cy="676656"/>
          </a:xfrm>
          <a:prstGeom prst="rect">
            <a:avLst/>
          </a:prstGeom>
          <a:noFill/>
          <a:ln/>
        </p:spPr>
        <p:txBody>
          <a:bodyPr wrap="square" rtlCol="0" anchor="ctr"/>
          <a:lstStyle/>
          <a:p>
            <a:pPr indent="0" marL="0">
              <a:lnSpc>
                <a:spcPct val="108000"/>
              </a:lnSpc>
              <a:buNone/>
            </a:pPr>
            <a:r>
              <a:rPr lang="en-US" sz="1100" dirty="0">
                <a:solidFill>
                  <a:srgbClr val="3B4E6B"/>
                </a:solidFill>
                <a:latin typeface="Calibri" pitchFamily="34" charset="0"/>
                <a:ea typeface="Calibri" pitchFamily="34" charset="-122"/>
                <a:cs typeface="Calibri" pitchFamily="34" charset="-120"/>
              </a:rPr>
              <a:t>Forgives case, punctuation and small typos.</a:t>
            </a:r>
            <a:endParaRPr lang="en-US" sz="1100" dirty="0"/>
          </a:p>
        </p:txBody>
      </p:sp>
      <p:sp>
        <p:nvSpPr>
          <p:cNvPr id="37" name="Shape 35"/>
          <p:cNvSpPr/>
          <p:nvPr/>
        </p:nvSpPr>
        <p:spPr>
          <a:xfrm>
            <a:off x="6400800" y="4032504"/>
            <a:ext cx="128016" cy="128016"/>
          </a:xfrm>
          <a:prstGeom prst="ellipse">
            <a:avLst/>
          </a:prstGeom>
          <a:solidFill>
            <a:srgbClr val="06B6D4"/>
          </a:solidFill>
          <a:ln/>
        </p:spPr>
      </p:sp>
      <p:sp>
        <p:nvSpPr>
          <p:cNvPr id="38" name="Text 36"/>
          <p:cNvSpPr/>
          <p:nvPr/>
        </p:nvSpPr>
        <p:spPr>
          <a:xfrm>
            <a:off x="6620256" y="3858768"/>
            <a:ext cx="2048256" cy="676656"/>
          </a:xfrm>
          <a:prstGeom prst="rect">
            <a:avLst/>
          </a:prstGeom>
          <a:noFill/>
          <a:ln/>
        </p:spPr>
        <p:txBody>
          <a:bodyPr wrap="square" rtlCol="0" anchor="ctr"/>
          <a:lstStyle/>
          <a:p>
            <a:pPr indent="0" marL="0">
              <a:lnSpc>
                <a:spcPct val="108000"/>
              </a:lnSpc>
              <a:buNone/>
            </a:pPr>
            <a:r>
              <a:rPr lang="en-US" sz="1100" dirty="0">
                <a:solidFill>
                  <a:srgbClr val="3B4E6B"/>
                </a:solidFill>
                <a:latin typeface="Calibri" pitchFamily="34" charset="0"/>
                <a:ea typeface="Calibri" pitchFamily="34" charset="-122"/>
                <a:cs typeface="Calibri" pitchFamily="34" charset="-120"/>
              </a:rPr>
              <a:t>Supports “/”-separated alternative answers.</a:t>
            </a:r>
            <a:endParaRPr lang="en-US" sz="1100" dirty="0"/>
          </a:p>
        </p:txBody>
      </p:sp>
      <p:sp>
        <p:nvSpPr>
          <p:cNvPr id="39" name="Shape 37"/>
          <p:cNvSpPr/>
          <p:nvPr/>
        </p:nvSpPr>
        <p:spPr>
          <a:xfrm>
            <a:off x="9043416" y="1554480"/>
            <a:ext cx="2615184" cy="3246120"/>
          </a:xfrm>
          <a:prstGeom prst="roundRect">
            <a:avLst>
              <a:gd name="adj" fmla="val 4196"/>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40" name="Shape 38"/>
          <p:cNvSpPr/>
          <p:nvPr/>
        </p:nvSpPr>
        <p:spPr>
          <a:xfrm>
            <a:off x="9043416" y="1554480"/>
            <a:ext cx="2615184" cy="786384"/>
          </a:xfrm>
          <a:prstGeom prst="rect">
            <a:avLst/>
          </a:prstGeom>
          <a:solidFill>
            <a:srgbClr val="7C3AED"/>
          </a:solidFill>
          <a:ln/>
        </p:spPr>
      </p:sp>
      <p:sp>
        <p:nvSpPr>
          <p:cNvPr id="41" name="Text 39"/>
          <p:cNvSpPr/>
          <p:nvPr/>
        </p:nvSpPr>
        <p:spPr>
          <a:xfrm>
            <a:off x="9208008" y="1627632"/>
            <a:ext cx="2286000" cy="38404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Enumeration</a:t>
            </a:r>
            <a:endParaRPr lang="en-US" sz="1600" dirty="0"/>
          </a:p>
        </p:txBody>
      </p:sp>
      <p:sp>
        <p:nvSpPr>
          <p:cNvPr id="42" name="Text 40"/>
          <p:cNvSpPr/>
          <p:nvPr/>
        </p:nvSpPr>
        <p:spPr>
          <a:xfrm>
            <a:off x="9208008" y="1975104"/>
            <a:ext cx="2286000" cy="310896"/>
          </a:xfrm>
          <a:prstGeom prst="rect">
            <a:avLst/>
          </a:prstGeom>
          <a:noFill/>
          <a:ln/>
        </p:spPr>
        <p:txBody>
          <a:bodyPr wrap="square" rtlCol="0" anchor="ctr"/>
          <a:lstStyle/>
          <a:p>
            <a:pPr indent="0" marL="0">
              <a:buNone/>
            </a:pPr>
            <a:r>
              <a:rPr lang="en-US" sz="1150" dirty="0">
                <a:solidFill>
                  <a:srgbClr val="EAF2FF"/>
                </a:solidFill>
                <a:latin typeface="Calibri" pitchFamily="34" charset="0"/>
                <a:ea typeface="Calibri" pitchFamily="34" charset="-122"/>
                <a:cs typeface="Calibri" pitchFamily="34" charset="-120"/>
              </a:rPr>
              <a:t>List them all</a:t>
            </a:r>
            <a:endParaRPr lang="en-US" sz="1150" dirty="0"/>
          </a:p>
        </p:txBody>
      </p:sp>
      <p:sp>
        <p:nvSpPr>
          <p:cNvPr id="43" name="Shape 41"/>
          <p:cNvSpPr/>
          <p:nvPr/>
        </p:nvSpPr>
        <p:spPr>
          <a:xfrm>
            <a:off x="9226296" y="2606040"/>
            <a:ext cx="128016" cy="128016"/>
          </a:xfrm>
          <a:prstGeom prst="ellipse">
            <a:avLst/>
          </a:prstGeom>
          <a:solidFill>
            <a:srgbClr val="7C3AED"/>
          </a:solidFill>
          <a:ln/>
        </p:spPr>
      </p:sp>
      <p:sp>
        <p:nvSpPr>
          <p:cNvPr id="44" name="Text 42"/>
          <p:cNvSpPr/>
          <p:nvPr/>
        </p:nvSpPr>
        <p:spPr>
          <a:xfrm>
            <a:off x="9445752" y="2432304"/>
            <a:ext cx="2048256" cy="676656"/>
          </a:xfrm>
          <a:prstGeom prst="rect">
            <a:avLst/>
          </a:prstGeom>
          <a:noFill/>
          <a:ln/>
        </p:spPr>
        <p:txBody>
          <a:bodyPr wrap="square" rtlCol="0" anchor="ctr"/>
          <a:lstStyle/>
          <a:p>
            <a:pPr indent="0" marL="0">
              <a:lnSpc>
                <a:spcPct val="108000"/>
              </a:lnSpc>
              <a:buNone/>
            </a:pPr>
            <a:r>
              <a:rPr lang="en-US" sz="1100" dirty="0">
                <a:solidFill>
                  <a:srgbClr val="3B4E6B"/>
                </a:solidFill>
                <a:latin typeface="Calibri" pitchFamily="34" charset="0"/>
                <a:ea typeface="Calibri" pitchFamily="34" charset="-122"/>
                <a:cs typeface="Calibri" pitchFamily="34" charset="-120"/>
              </a:rPr>
              <a:t>Type every item of a list answer, in any order.</a:t>
            </a:r>
            <a:endParaRPr lang="en-US" sz="1100" dirty="0"/>
          </a:p>
        </p:txBody>
      </p:sp>
      <p:sp>
        <p:nvSpPr>
          <p:cNvPr id="45" name="Shape 43"/>
          <p:cNvSpPr/>
          <p:nvPr/>
        </p:nvSpPr>
        <p:spPr>
          <a:xfrm>
            <a:off x="9226296" y="3319272"/>
            <a:ext cx="128016" cy="128016"/>
          </a:xfrm>
          <a:prstGeom prst="ellipse">
            <a:avLst/>
          </a:prstGeom>
          <a:solidFill>
            <a:srgbClr val="7C3AED"/>
          </a:solidFill>
          <a:ln/>
        </p:spPr>
      </p:sp>
      <p:sp>
        <p:nvSpPr>
          <p:cNvPr id="46" name="Text 44"/>
          <p:cNvSpPr/>
          <p:nvPr/>
        </p:nvSpPr>
        <p:spPr>
          <a:xfrm>
            <a:off x="9445752" y="3145536"/>
            <a:ext cx="2048256" cy="676656"/>
          </a:xfrm>
          <a:prstGeom prst="rect">
            <a:avLst/>
          </a:prstGeom>
          <a:noFill/>
          <a:ln/>
        </p:spPr>
        <p:txBody>
          <a:bodyPr wrap="square" rtlCol="0" anchor="ctr"/>
          <a:lstStyle/>
          <a:p>
            <a:pPr indent="0" marL="0">
              <a:lnSpc>
                <a:spcPct val="108000"/>
              </a:lnSpc>
              <a:buNone/>
            </a:pPr>
            <a:r>
              <a:rPr lang="en-US" sz="1100" dirty="0">
                <a:solidFill>
                  <a:srgbClr val="3B4E6B"/>
                </a:solidFill>
                <a:latin typeface="Calibri" pitchFamily="34" charset="0"/>
                <a:ea typeface="Calibri" pitchFamily="34" charset="-122"/>
                <a:cs typeface="Calibri" pitchFamily="34" charset="-120"/>
              </a:rPr>
              <a:t>Per-item feedback as you go.</a:t>
            </a:r>
            <a:endParaRPr lang="en-US" sz="1100" dirty="0"/>
          </a:p>
        </p:txBody>
      </p:sp>
      <p:sp>
        <p:nvSpPr>
          <p:cNvPr id="47" name="Shape 45"/>
          <p:cNvSpPr/>
          <p:nvPr/>
        </p:nvSpPr>
        <p:spPr>
          <a:xfrm>
            <a:off x="9226296" y="4032504"/>
            <a:ext cx="128016" cy="128016"/>
          </a:xfrm>
          <a:prstGeom prst="ellipse">
            <a:avLst/>
          </a:prstGeom>
          <a:solidFill>
            <a:srgbClr val="7C3AED"/>
          </a:solidFill>
          <a:ln/>
        </p:spPr>
      </p:sp>
      <p:sp>
        <p:nvSpPr>
          <p:cNvPr id="48" name="Text 46"/>
          <p:cNvSpPr/>
          <p:nvPr/>
        </p:nvSpPr>
        <p:spPr>
          <a:xfrm>
            <a:off x="9445752" y="3858768"/>
            <a:ext cx="2048256" cy="676656"/>
          </a:xfrm>
          <a:prstGeom prst="rect">
            <a:avLst/>
          </a:prstGeom>
          <a:noFill/>
          <a:ln/>
        </p:spPr>
        <p:txBody>
          <a:bodyPr wrap="square" rtlCol="0" anchor="ctr"/>
          <a:lstStyle/>
          <a:p>
            <a:pPr indent="0" marL="0">
              <a:lnSpc>
                <a:spcPct val="108000"/>
              </a:lnSpc>
              <a:buNone/>
            </a:pPr>
            <a:r>
              <a:rPr lang="en-US" sz="1100" dirty="0">
                <a:solidFill>
                  <a:srgbClr val="3B4E6B"/>
                </a:solidFill>
                <a:latin typeface="Calibri" pitchFamily="34" charset="0"/>
                <a:ea typeface="Calibri" pitchFamily="34" charset="-122"/>
                <a:cs typeface="Calibri" pitchFamily="34" charset="-120"/>
              </a:rPr>
              <a:t>Complete only when every item is named.</a:t>
            </a:r>
            <a:endParaRPr lang="en-US" sz="1100" dirty="0"/>
          </a:p>
        </p:txBody>
      </p:sp>
      <p:sp>
        <p:nvSpPr>
          <p:cNvPr id="49" name="Shape 47"/>
          <p:cNvSpPr/>
          <p:nvPr/>
        </p:nvSpPr>
        <p:spPr>
          <a:xfrm>
            <a:off x="566928" y="4956048"/>
            <a:ext cx="11055096" cy="877824"/>
          </a:xfrm>
          <a:prstGeom prst="roundRect">
            <a:avLst>
              <a:gd name="adj" fmla="val 12500"/>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50" name="Text 48"/>
          <p:cNvSpPr/>
          <p:nvPr/>
        </p:nvSpPr>
        <p:spPr>
          <a:xfrm>
            <a:off x="868680" y="5047488"/>
            <a:ext cx="10424160" cy="694944"/>
          </a:xfrm>
          <a:prstGeom prst="rect">
            <a:avLst/>
          </a:prstGeom>
          <a:noFill/>
          <a:ln/>
        </p:spPr>
        <p:txBody>
          <a:bodyPr wrap="square" rtlCol="0" anchor="ctr"/>
          <a:lstStyle/>
          <a:p>
            <a:pPr indent="0" marL="0">
              <a:buNone/>
            </a:pPr>
            <a:r>
              <a:rPr lang="en-US" sz="1300" dirty="0">
                <a:solidFill>
                  <a:srgbClr val="3B4E6B"/>
                </a:solidFill>
                <a:latin typeface="Calibri" pitchFamily="34" charset="0"/>
                <a:ea typeface="Calibri" pitchFamily="34" charset="-122"/>
                <a:cs typeface="Calibri" pitchFamily="34" charset="-120"/>
              </a:rPr>
              <a:t>Every completed session ends with a results screen: accuracy, letter grade, points against the maximum, best streak, elapsed time, and the questions that were missed — which can be sent straight into Study Mode.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FFFFFF"/>
          </a:solidFill>
          <a:ln/>
        </p:spPr>
      </p:sp>
      <p:sp>
        <p:nvSpPr>
          <p:cNvPr id="3" name="Shape 1"/>
          <p:cNvSpPr/>
          <p:nvPr/>
        </p:nvSpPr>
        <p:spPr>
          <a:xfrm>
            <a:off x="0" y="1170432"/>
            <a:ext cx="12191695" cy="54864"/>
          </a:xfrm>
          <a:prstGeom prst="rect">
            <a:avLst/>
          </a:prstGeom>
          <a:solidFill>
            <a:srgbClr val="7C3AED"/>
          </a:solidFill>
          <a:ln/>
        </p:spPr>
      </p:sp>
      <p:sp>
        <p:nvSpPr>
          <p:cNvPr id="4" name="Shape 2"/>
          <p:cNvSpPr/>
          <p:nvPr/>
        </p:nvSpPr>
        <p:spPr>
          <a:xfrm>
            <a:off x="457200" y="274320"/>
            <a:ext cx="100584" cy="658368"/>
          </a:xfrm>
          <a:prstGeom prst="rect">
            <a:avLst/>
          </a:prstGeom>
          <a:solidFill>
            <a:srgbClr val="7C3AED"/>
          </a:solidFill>
          <a:ln/>
        </p:spPr>
      </p:sp>
      <p:sp>
        <p:nvSpPr>
          <p:cNvPr id="5" name="Text 3"/>
          <p:cNvSpPr/>
          <p:nvPr/>
        </p:nvSpPr>
        <p:spPr>
          <a:xfrm>
            <a:off x="685800" y="201168"/>
            <a:ext cx="9601200" cy="457200"/>
          </a:xfrm>
          <a:prstGeom prst="rect">
            <a:avLst/>
          </a:prstGeom>
          <a:noFill/>
          <a:ln/>
        </p:spPr>
        <p:txBody>
          <a:bodyPr wrap="square" rtlCol="0" anchor="ctr"/>
          <a:lstStyle/>
          <a:p>
            <a:pPr indent="0" marL="0">
              <a:buNone/>
            </a:pPr>
            <a:r>
              <a:rPr lang="en-US" sz="2700" b="1" dirty="0">
                <a:solidFill>
                  <a:srgbClr val="10233F"/>
                </a:solidFill>
                <a:latin typeface="Calibri" pitchFamily="34" charset="0"/>
                <a:ea typeface="Calibri" pitchFamily="34" charset="-122"/>
                <a:cs typeface="Calibri" pitchFamily="34" charset="-120"/>
              </a:rPr>
              <a:t>Spaced repetition</a:t>
            </a:r>
            <a:endParaRPr lang="en-US" sz="2700" dirty="0"/>
          </a:p>
        </p:txBody>
      </p:sp>
      <p:sp>
        <p:nvSpPr>
          <p:cNvPr id="6" name="Text 4"/>
          <p:cNvSpPr/>
          <p:nvPr/>
        </p:nvSpPr>
        <p:spPr>
          <a:xfrm>
            <a:off x="704088" y="658368"/>
            <a:ext cx="10241280" cy="384048"/>
          </a:xfrm>
          <a:prstGeom prst="rect">
            <a:avLst/>
          </a:prstGeom>
          <a:noFill/>
          <a:ln/>
        </p:spPr>
        <p:txBody>
          <a:bodyPr wrap="square" rtlCol="0" anchor="ctr"/>
          <a:lstStyle/>
          <a:p>
            <a:pPr indent="0" marL="0">
              <a:buNone/>
            </a:pPr>
            <a:r>
              <a:rPr lang="en-US" sz="1400" dirty="0">
                <a:solidFill>
                  <a:srgbClr val="5B7192"/>
                </a:solidFill>
                <a:latin typeface="Calibri" pitchFamily="34" charset="0"/>
                <a:ea typeface="Calibri" pitchFamily="34" charset="-122"/>
                <a:cs typeface="Calibri" pitchFamily="34" charset="-120"/>
              </a:rPr>
              <a:t>The app decides what you should study today — an SM-2 descendant with four grades.</a:t>
            </a:r>
            <a:endParaRPr lang="en-US" sz="1400" dirty="0"/>
          </a:p>
        </p:txBody>
      </p:sp>
      <p:sp>
        <p:nvSpPr>
          <p:cNvPr id="7" name="Text 5"/>
          <p:cNvSpPr/>
          <p:nvPr/>
        </p:nvSpPr>
        <p:spPr>
          <a:xfrm>
            <a:off x="10957255" y="6291072"/>
            <a:ext cx="777240" cy="329184"/>
          </a:xfrm>
          <a:prstGeom prst="rect">
            <a:avLst/>
          </a:prstGeom>
          <a:noFill/>
          <a:ln/>
        </p:spPr>
        <p:txBody>
          <a:bodyPr wrap="square" rtlCol="0" anchor="ctr"/>
          <a:lstStyle/>
          <a:p>
            <a:pPr algn="r" indent="0" marL="0">
              <a:buNone/>
            </a:pPr>
            <a:r>
              <a:rPr lang="en-US" sz="1200" dirty="0">
                <a:solidFill>
                  <a:srgbClr val="5B7192"/>
                </a:solidFill>
                <a:latin typeface="Calibri" pitchFamily="34" charset="0"/>
                <a:ea typeface="Calibri" pitchFamily="34" charset="-122"/>
                <a:cs typeface="Calibri" pitchFamily="34" charset="-120"/>
              </a:rPr>
              <a:t>8</a:t>
            </a:r>
            <a:endParaRPr lang="en-US" sz="1200" dirty="0"/>
          </a:p>
        </p:txBody>
      </p:sp>
      <p:sp>
        <p:nvSpPr>
          <p:cNvPr id="8" name="Text 6"/>
          <p:cNvSpPr/>
          <p:nvPr/>
        </p:nvSpPr>
        <p:spPr>
          <a:xfrm>
            <a:off x="457200" y="6291072"/>
            <a:ext cx="4114800" cy="329184"/>
          </a:xfrm>
          <a:prstGeom prst="rect">
            <a:avLst/>
          </a:prstGeom>
          <a:noFill/>
          <a:ln/>
        </p:spPr>
        <p:txBody>
          <a:bodyPr wrap="square" rtlCol="0" anchor="ctr"/>
          <a:lstStyle/>
          <a:p>
            <a:pPr indent="0" marL="0">
              <a:buNone/>
            </a:pPr>
            <a:r>
              <a:rPr lang="en-US" sz="1100" dirty="0">
                <a:solidFill>
                  <a:srgbClr val="5B7192"/>
                </a:solidFill>
                <a:latin typeface="Calibri" pitchFamily="34" charset="0"/>
                <a:ea typeface="Calibri" pitchFamily="34" charset="-122"/>
                <a:cs typeface="Calibri" pitchFamily="34" charset="-120"/>
              </a:rPr>
              <a:t>QuizTime · Concept Paper</a:t>
            </a:r>
            <a:endParaRPr lang="en-US" sz="1100" dirty="0"/>
          </a:p>
        </p:txBody>
      </p:sp>
      <p:pic>
        <p:nvPicPr>
          <p:cNvPr id="9" name="Image 0" descr="/tmp/quiztime-docs-img/curve-body.png">    </p:cNvPr>
          <p:cNvPicPr>
            <a:picLocks noChangeAspect="1"/>
          </p:cNvPicPr>
          <p:nvPr/>
        </p:nvPicPr>
        <p:blipFill>
          <a:blip r:embed="rId1"/>
          <a:stretch>
            <a:fillRect/>
          </a:stretch>
        </p:blipFill>
        <p:spPr>
          <a:xfrm>
            <a:off x="365760" y="1535372"/>
            <a:ext cx="6949440" cy="2872857"/>
          </a:xfrm>
          <a:prstGeom prst="rect">
            <a:avLst/>
          </a:prstGeom>
        </p:spPr>
      </p:pic>
      <p:sp>
        <p:nvSpPr>
          <p:cNvPr id="10" name="Shape 7"/>
          <p:cNvSpPr/>
          <p:nvPr/>
        </p:nvSpPr>
        <p:spPr>
          <a:xfrm>
            <a:off x="7543800" y="1463040"/>
            <a:ext cx="4187952" cy="3017520"/>
          </a:xfrm>
          <a:prstGeom prst="roundRect">
            <a:avLst>
              <a:gd name="adj" fmla="val 3636"/>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1" name="Text 8"/>
          <p:cNvSpPr/>
          <p:nvPr/>
        </p:nvSpPr>
        <p:spPr>
          <a:xfrm>
            <a:off x="7772400" y="1572768"/>
            <a:ext cx="3749040" cy="384048"/>
          </a:xfrm>
          <a:prstGeom prst="rect">
            <a:avLst/>
          </a:prstGeom>
          <a:noFill/>
          <a:ln/>
        </p:spPr>
        <p:txBody>
          <a:bodyPr wrap="square" rtlCol="0" anchor="ctr"/>
          <a:lstStyle/>
          <a:p>
            <a:pPr indent="0" marL="0">
              <a:buNone/>
            </a:pPr>
            <a:r>
              <a:rPr lang="en-US" sz="1500" b="1" dirty="0">
                <a:solidFill>
                  <a:srgbClr val="10233F"/>
                </a:solidFill>
                <a:latin typeface="Calibri" pitchFamily="34" charset="0"/>
                <a:ea typeface="Calibri" pitchFamily="34" charset="-122"/>
                <a:cs typeface="Calibri" pitchFamily="34" charset="-120"/>
              </a:rPr>
              <a:t>How each grade reschedules a card</a:t>
            </a:r>
            <a:endParaRPr lang="en-US" sz="1500" dirty="0"/>
          </a:p>
        </p:txBody>
      </p:sp>
      <p:sp>
        <p:nvSpPr>
          <p:cNvPr id="12" name="Shape 9"/>
          <p:cNvSpPr/>
          <p:nvPr/>
        </p:nvSpPr>
        <p:spPr>
          <a:xfrm>
            <a:off x="7772400" y="2029968"/>
            <a:ext cx="1005840" cy="402336"/>
          </a:xfrm>
          <a:prstGeom prst="roundRect">
            <a:avLst>
              <a:gd name="adj" fmla="val 50000"/>
            </a:avLst>
          </a:prstGeom>
          <a:solidFill>
            <a:srgbClr val="F43F5E"/>
          </a:solidFill>
          <a:ln w="12700">
            <a:solidFill>
              <a:srgbClr val="F43F5E"/>
            </a:solidFill>
            <a:prstDash val="solid"/>
          </a:ln>
        </p:spPr>
      </p:sp>
      <p:sp>
        <p:nvSpPr>
          <p:cNvPr id="13" name="Text 10"/>
          <p:cNvSpPr/>
          <p:nvPr/>
        </p:nvSpPr>
        <p:spPr>
          <a:xfrm>
            <a:off x="7772400" y="2029968"/>
            <a:ext cx="1005840" cy="402336"/>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Again</a:t>
            </a:r>
            <a:endParaRPr lang="en-US" sz="1150" dirty="0"/>
          </a:p>
        </p:txBody>
      </p:sp>
      <p:sp>
        <p:nvSpPr>
          <p:cNvPr id="14" name="Text 11"/>
          <p:cNvSpPr/>
          <p:nvPr/>
        </p:nvSpPr>
        <p:spPr>
          <a:xfrm>
            <a:off x="8887968" y="2029968"/>
            <a:ext cx="2697480" cy="402336"/>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back in 10 minutes, ease −0.20</a:t>
            </a:r>
            <a:endParaRPr lang="en-US" sz="1050" dirty="0"/>
          </a:p>
        </p:txBody>
      </p:sp>
      <p:sp>
        <p:nvSpPr>
          <p:cNvPr id="15" name="Shape 12"/>
          <p:cNvSpPr/>
          <p:nvPr/>
        </p:nvSpPr>
        <p:spPr>
          <a:xfrm>
            <a:off x="7772400" y="2596896"/>
            <a:ext cx="1005840" cy="402336"/>
          </a:xfrm>
          <a:prstGeom prst="roundRect">
            <a:avLst>
              <a:gd name="adj" fmla="val 50000"/>
            </a:avLst>
          </a:prstGeom>
          <a:solidFill>
            <a:srgbClr val="FBBF24"/>
          </a:solidFill>
          <a:ln w="12700">
            <a:solidFill>
              <a:srgbClr val="FBBF24"/>
            </a:solidFill>
            <a:prstDash val="solid"/>
          </a:ln>
        </p:spPr>
      </p:sp>
      <p:sp>
        <p:nvSpPr>
          <p:cNvPr id="16" name="Text 13"/>
          <p:cNvSpPr/>
          <p:nvPr/>
        </p:nvSpPr>
        <p:spPr>
          <a:xfrm>
            <a:off x="7772400" y="2596896"/>
            <a:ext cx="1005840" cy="402336"/>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Hard</a:t>
            </a:r>
            <a:endParaRPr lang="en-US" sz="1150" dirty="0"/>
          </a:p>
        </p:txBody>
      </p:sp>
      <p:sp>
        <p:nvSpPr>
          <p:cNvPr id="17" name="Text 14"/>
          <p:cNvSpPr/>
          <p:nvPr/>
        </p:nvSpPr>
        <p:spPr>
          <a:xfrm>
            <a:off x="8887968" y="2596896"/>
            <a:ext cx="2697480" cy="402336"/>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interval × 1.2, ease −0.15</a:t>
            </a:r>
            <a:endParaRPr lang="en-US" sz="1050" dirty="0"/>
          </a:p>
        </p:txBody>
      </p:sp>
      <p:sp>
        <p:nvSpPr>
          <p:cNvPr id="18" name="Shape 15"/>
          <p:cNvSpPr/>
          <p:nvPr/>
        </p:nvSpPr>
        <p:spPr>
          <a:xfrm>
            <a:off x="7772400" y="3163824"/>
            <a:ext cx="1005840" cy="402336"/>
          </a:xfrm>
          <a:prstGeom prst="roundRect">
            <a:avLst>
              <a:gd name="adj" fmla="val 50000"/>
            </a:avLst>
          </a:prstGeom>
          <a:solidFill>
            <a:srgbClr val="3B82F6"/>
          </a:solidFill>
          <a:ln w="12700">
            <a:solidFill>
              <a:srgbClr val="3B82F6"/>
            </a:solidFill>
            <a:prstDash val="solid"/>
          </a:ln>
        </p:spPr>
      </p:sp>
      <p:sp>
        <p:nvSpPr>
          <p:cNvPr id="19" name="Text 16"/>
          <p:cNvSpPr/>
          <p:nvPr/>
        </p:nvSpPr>
        <p:spPr>
          <a:xfrm>
            <a:off x="7772400" y="3163824"/>
            <a:ext cx="1005840" cy="402336"/>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Good</a:t>
            </a:r>
            <a:endParaRPr lang="en-US" sz="1150" dirty="0"/>
          </a:p>
        </p:txBody>
      </p:sp>
      <p:sp>
        <p:nvSpPr>
          <p:cNvPr id="20" name="Text 17"/>
          <p:cNvSpPr/>
          <p:nvPr/>
        </p:nvSpPr>
        <p:spPr>
          <a:xfrm>
            <a:off x="8887968" y="3163824"/>
            <a:ext cx="2697480" cy="402336"/>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interval × the ease factor</a:t>
            </a:r>
            <a:endParaRPr lang="en-US" sz="1050" dirty="0"/>
          </a:p>
        </p:txBody>
      </p:sp>
      <p:sp>
        <p:nvSpPr>
          <p:cNvPr id="21" name="Shape 18"/>
          <p:cNvSpPr/>
          <p:nvPr/>
        </p:nvSpPr>
        <p:spPr>
          <a:xfrm>
            <a:off x="7772400" y="3730752"/>
            <a:ext cx="1005840" cy="402336"/>
          </a:xfrm>
          <a:prstGeom prst="roundRect">
            <a:avLst>
              <a:gd name="adj" fmla="val 50000"/>
            </a:avLst>
          </a:prstGeom>
          <a:solidFill>
            <a:srgbClr val="10B981"/>
          </a:solidFill>
          <a:ln w="12700">
            <a:solidFill>
              <a:srgbClr val="10B981"/>
            </a:solidFill>
            <a:prstDash val="solid"/>
          </a:ln>
        </p:spPr>
      </p:sp>
      <p:sp>
        <p:nvSpPr>
          <p:cNvPr id="22" name="Text 19"/>
          <p:cNvSpPr/>
          <p:nvPr/>
        </p:nvSpPr>
        <p:spPr>
          <a:xfrm>
            <a:off x="7772400" y="3730752"/>
            <a:ext cx="1005840" cy="402336"/>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Easy</a:t>
            </a:r>
            <a:endParaRPr lang="en-US" sz="1150" dirty="0"/>
          </a:p>
        </p:txBody>
      </p:sp>
      <p:sp>
        <p:nvSpPr>
          <p:cNvPr id="23" name="Text 20"/>
          <p:cNvSpPr/>
          <p:nvPr/>
        </p:nvSpPr>
        <p:spPr>
          <a:xfrm>
            <a:off x="8887968" y="3730752"/>
            <a:ext cx="2697480" cy="402336"/>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interval × ease × 1.3, ease +0.15</a:t>
            </a:r>
            <a:endParaRPr lang="en-US" sz="1050" dirty="0"/>
          </a:p>
        </p:txBody>
      </p:sp>
      <p:sp>
        <p:nvSpPr>
          <p:cNvPr id="24" name="Text 21"/>
          <p:cNvSpPr/>
          <p:nvPr/>
        </p:nvSpPr>
        <p:spPr>
          <a:xfrm>
            <a:off x="7772400" y="4114800"/>
            <a:ext cx="3749040" cy="310896"/>
          </a:xfrm>
          <a:prstGeom prst="rect">
            <a:avLst/>
          </a:prstGeom>
          <a:noFill/>
          <a:ln/>
        </p:spPr>
        <p:txBody>
          <a:bodyPr wrap="square" rtlCol="0" anchor="ctr"/>
          <a:lstStyle/>
          <a:p>
            <a:pPr indent="0" marL="0">
              <a:buNone/>
            </a:pPr>
            <a:r>
              <a:rPr lang="en-US" sz="950" i="1" dirty="0">
                <a:solidFill>
                  <a:srgbClr val="5B7192"/>
                </a:solidFill>
                <a:latin typeface="Calibri" pitchFamily="34" charset="0"/>
                <a:ea typeface="Calibri" pitchFamily="34" charset="-122"/>
                <a:cs typeface="Calibri" pitchFamily="34" charset="-120"/>
              </a:rPr>
              <a:t>Each button previews its own result (“Good · 3 days”): the client and the server run the same scheduler.</a:t>
            </a:r>
            <a:endParaRPr lang="en-US" sz="950" dirty="0"/>
          </a:p>
        </p:txBody>
      </p:sp>
      <p:sp>
        <p:nvSpPr>
          <p:cNvPr id="25" name="Shape 22"/>
          <p:cNvSpPr/>
          <p:nvPr/>
        </p:nvSpPr>
        <p:spPr>
          <a:xfrm>
            <a:off x="566928" y="4645152"/>
            <a:ext cx="5532120" cy="1572768"/>
          </a:xfrm>
          <a:prstGeom prst="roundRect">
            <a:avLst>
              <a:gd name="adj" fmla="val 6977"/>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26" name="Shape 23"/>
          <p:cNvSpPr/>
          <p:nvPr/>
        </p:nvSpPr>
        <p:spPr>
          <a:xfrm>
            <a:off x="566928" y="4645152"/>
            <a:ext cx="5532120" cy="457200"/>
          </a:xfrm>
          <a:prstGeom prst="rect">
            <a:avLst/>
          </a:prstGeom>
          <a:solidFill>
            <a:srgbClr val="7C3AED"/>
          </a:solidFill>
          <a:ln/>
        </p:spPr>
      </p:sp>
      <p:sp>
        <p:nvSpPr>
          <p:cNvPr id="27" name="Text 24"/>
          <p:cNvSpPr/>
          <p:nvPr/>
        </p:nvSpPr>
        <p:spPr>
          <a:xfrm>
            <a:off x="804672" y="4645152"/>
            <a:ext cx="5120640" cy="4572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the scheduler guarantees</a:t>
            </a:r>
            <a:endParaRPr lang="en-US" sz="1350" dirty="0"/>
          </a:p>
        </p:txBody>
      </p:sp>
      <p:sp>
        <p:nvSpPr>
          <p:cNvPr id="28" name="Shape 25"/>
          <p:cNvSpPr/>
          <p:nvPr/>
        </p:nvSpPr>
        <p:spPr>
          <a:xfrm>
            <a:off x="822960" y="5248656"/>
            <a:ext cx="100584" cy="100584"/>
          </a:xfrm>
          <a:prstGeom prst="ellipse">
            <a:avLst/>
          </a:prstGeom>
          <a:solidFill>
            <a:srgbClr val="7C3AED"/>
          </a:solidFill>
          <a:ln/>
        </p:spPr>
      </p:sp>
      <p:sp>
        <p:nvSpPr>
          <p:cNvPr id="29" name="Text 26"/>
          <p:cNvSpPr/>
          <p:nvPr/>
        </p:nvSpPr>
        <p:spPr>
          <a:xfrm>
            <a:off x="1005840" y="5212080"/>
            <a:ext cx="4937760" cy="228600"/>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New cards start in minute-long learning steps; Easy skips to 4 days</a:t>
            </a:r>
            <a:endParaRPr lang="en-US" sz="1050" dirty="0"/>
          </a:p>
        </p:txBody>
      </p:sp>
      <p:sp>
        <p:nvSpPr>
          <p:cNvPr id="30" name="Shape 27"/>
          <p:cNvSpPr/>
          <p:nvPr/>
        </p:nvSpPr>
        <p:spPr>
          <a:xfrm>
            <a:off x="822960" y="5495544"/>
            <a:ext cx="100584" cy="100584"/>
          </a:xfrm>
          <a:prstGeom prst="ellipse">
            <a:avLst/>
          </a:prstGeom>
          <a:solidFill>
            <a:srgbClr val="7C3AED"/>
          </a:solidFill>
          <a:ln/>
        </p:spPr>
      </p:sp>
      <p:sp>
        <p:nvSpPr>
          <p:cNvPr id="31" name="Text 28"/>
          <p:cNvSpPr/>
          <p:nvPr/>
        </p:nvSpPr>
        <p:spPr>
          <a:xfrm>
            <a:off x="1005840" y="5458968"/>
            <a:ext cx="4937760" cy="228600"/>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A forgotten card relearns from 10 minutes and returns sooner</a:t>
            </a:r>
            <a:endParaRPr lang="en-US" sz="1050" dirty="0"/>
          </a:p>
        </p:txBody>
      </p:sp>
      <p:sp>
        <p:nvSpPr>
          <p:cNvPr id="32" name="Shape 29"/>
          <p:cNvSpPr/>
          <p:nvPr/>
        </p:nvSpPr>
        <p:spPr>
          <a:xfrm>
            <a:off x="822960" y="5742432"/>
            <a:ext cx="100584" cy="100584"/>
          </a:xfrm>
          <a:prstGeom prst="ellipse">
            <a:avLst/>
          </a:prstGeom>
          <a:solidFill>
            <a:srgbClr val="7C3AED"/>
          </a:solidFill>
          <a:ln/>
        </p:spPr>
      </p:sp>
      <p:sp>
        <p:nvSpPr>
          <p:cNvPr id="33" name="Text 30"/>
          <p:cNvSpPr/>
          <p:nvPr/>
        </p:nvSpPr>
        <p:spPr>
          <a:xfrm>
            <a:off x="1005840" y="5705856"/>
            <a:ext cx="4937760" cy="228600"/>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Intervals are clamped to 1–365 days, ease to 1.3–2.8</a:t>
            </a:r>
            <a:endParaRPr lang="en-US" sz="1050" dirty="0"/>
          </a:p>
        </p:txBody>
      </p:sp>
      <p:sp>
        <p:nvSpPr>
          <p:cNvPr id="34" name="Shape 31"/>
          <p:cNvSpPr/>
          <p:nvPr/>
        </p:nvSpPr>
        <p:spPr>
          <a:xfrm>
            <a:off x="822960" y="5989320"/>
            <a:ext cx="100584" cy="100584"/>
          </a:xfrm>
          <a:prstGeom prst="ellipse">
            <a:avLst/>
          </a:prstGeom>
          <a:solidFill>
            <a:srgbClr val="7C3AED"/>
          </a:solidFill>
          <a:ln/>
        </p:spPr>
      </p:sp>
      <p:sp>
        <p:nvSpPr>
          <p:cNvPr id="35" name="Text 32"/>
          <p:cNvSpPr/>
          <p:nvPr/>
        </p:nvSpPr>
        <p:spPr>
          <a:xfrm>
            <a:off x="1005840" y="5952744"/>
            <a:ext cx="4937760" cy="228600"/>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At most 20 new cards a day — what you owe comes first</a:t>
            </a:r>
            <a:endParaRPr lang="en-US" sz="1050" dirty="0"/>
          </a:p>
        </p:txBody>
      </p:sp>
      <p:sp>
        <p:nvSpPr>
          <p:cNvPr id="36" name="Shape 33"/>
          <p:cNvSpPr/>
          <p:nvPr/>
        </p:nvSpPr>
        <p:spPr>
          <a:xfrm>
            <a:off x="6236208" y="4645152"/>
            <a:ext cx="5495544" cy="1572768"/>
          </a:xfrm>
          <a:prstGeom prst="roundRect">
            <a:avLst>
              <a:gd name="adj" fmla="val 6977"/>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37" name="Shape 34"/>
          <p:cNvSpPr/>
          <p:nvPr/>
        </p:nvSpPr>
        <p:spPr>
          <a:xfrm>
            <a:off x="6236208" y="4645152"/>
            <a:ext cx="5495544" cy="457200"/>
          </a:xfrm>
          <a:prstGeom prst="rect">
            <a:avLst/>
          </a:prstGeom>
          <a:solidFill>
            <a:srgbClr val="6366F1"/>
          </a:solidFill>
          <a:ln/>
        </p:spPr>
      </p:sp>
      <p:sp>
        <p:nvSpPr>
          <p:cNvPr id="38" name="Text 35"/>
          <p:cNvSpPr/>
          <p:nvPr/>
        </p:nvSpPr>
        <p:spPr>
          <a:xfrm>
            <a:off x="6473952" y="4645152"/>
            <a:ext cx="5120640" cy="4572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Where it shows up in the app</a:t>
            </a:r>
            <a:endParaRPr lang="en-US" sz="1350" dirty="0"/>
          </a:p>
        </p:txBody>
      </p:sp>
      <p:sp>
        <p:nvSpPr>
          <p:cNvPr id="39" name="Shape 36"/>
          <p:cNvSpPr/>
          <p:nvPr/>
        </p:nvSpPr>
        <p:spPr>
          <a:xfrm>
            <a:off x="6492240" y="5248656"/>
            <a:ext cx="100584" cy="100584"/>
          </a:xfrm>
          <a:prstGeom prst="ellipse">
            <a:avLst/>
          </a:prstGeom>
          <a:solidFill>
            <a:srgbClr val="6366F1"/>
          </a:solidFill>
          <a:ln/>
        </p:spPr>
      </p:sp>
      <p:sp>
        <p:nvSpPr>
          <p:cNvPr id="40" name="Text 37"/>
          <p:cNvSpPr/>
          <p:nvPr/>
        </p:nvSpPr>
        <p:spPr>
          <a:xfrm>
            <a:off x="6675120" y="5212080"/>
            <a:ext cx="4937760" cy="228600"/>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A Review tab with today's queue, split into due and new</a:t>
            </a:r>
            <a:endParaRPr lang="en-US" sz="1050" dirty="0"/>
          </a:p>
        </p:txBody>
      </p:sp>
      <p:sp>
        <p:nvSpPr>
          <p:cNvPr id="41" name="Shape 38"/>
          <p:cNvSpPr/>
          <p:nvPr/>
        </p:nvSpPr>
        <p:spPr>
          <a:xfrm>
            <a:off x="6492240" y="5495544"/>
            <a:ext cx="100584" cy="100584"/>
          </a:xfrm>
          <a:prstGeom prst="ellipse">
            <a:avLst/>
          </a:prstGeom>
          <a:solidFill>
            <a:srgbClr val="6366F1"/>
          </a:solidFill>
          <a:ln/>
        </p:spPr>
      </p:sp>
      <p:sp>
        <p:nvSpPr>
          <p:cNvPr id="42" name="Text 39"/>
          <p:cNvSpPr/>
          <p:nvPr/>
        </p:nvSpPr>
        <p:spPr>
          <a:xfrm>
            <a:off x="6675120" y="5458968"/>
            <a:ext cx="4937760" cy="228600"/>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A due badge on every deck and on the navigation item</a:t>
            </a:r>
            <a:endParaRPr lang="en-US" sz="1050" dirty="0"/>
          </a:p>
        </p:txBody>
      </p:sp>
      <p:sp>
        <p:nvSpPr>
          <p:cNvPr id="43" name="Shape 40"/>
          <p:cNvSpPr/>
          <p:nvPr/>
        </p:nvSpPr>
        <p:spPr>
          <a:xfrm>
            <a:off x="6492240" y="5742432"/>
            <a:ext cx="100584" cy="100584"/>
          </a:xfrm>
          <a:prstGeom prst="ellipse">
            <a:avLst/>
          </a:prstGeom>
          <a:solidFill>
            <a:srgbClr val="6366F1"/>
          </a:solidFill>
          <a:ln/>
        </p:spPr>
      </p:sp>
      <p:sp>
        <p:nvSpPr>
          <p:cNvPr id="44" name="Text 41"/>
          <p:cNvSpPr/>
          <p:nvPr/>
        </p:nvSpPr>
        <p:spPr>
          <a:xfrm>
            <a:off x="6675120" y="5705856"/>
            <a:ext cx="4937760" cy="228600"/>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A banner on Home when something is waiting</a:t>
            </a:r>
            <a:endParaRPr lang="en-US" sz="1050" dirty="0"/>
          </a:p>
        </p:txBody>
      </p:sp>
      <p:sp>
        <p:nvSpPr>
          <p:cNvPr id="45" name="Shape 42"/>
          <p:cNvSpPr/>
          <p:nvPr/>
        </p:nvSpPr>
        <p:spPr>
          <a:xfrm>
            <a:off x="6492240" y="5989320"/>
            <a:ext cx="100584" cy="100584"/>
          </a:xfrm>
          <a:prstGeom prst="ellipse">
            <a:avLst/>
          </a:prstGeom>
          <a:solidFill>
            <a:srgbClr val="6366F1"/>
          </a:solidFill>
          <a:ln/>
        </p:spPr>
      </p:sp>
      <p:sp>
        <p:nvSpPr>
          <p:cNvPr id="46" name="Text 43"/>
          <p:cNvSpPr/>
          <p:nvPr/>
        </p:nvSpPr>
        <p:spPr>
          <a:xfrm>
            <a:off x="6675120" y="5952744"/>
            <a:ext cx="4937760" cy="228600"/>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Due-now, learning and mature tiles on the Stats tab</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FFFFFF"/>
          </a:solidFill>
          <a:ln/>
        </p:spPr>
      </p:sp>
      <p:sp>
        <p:nvSpPr>
          <p:cNvPr id="3" name="Shape 1"/>
          <p:cNvSpPr/>
          <p:nvPr/>
        </p:nvSpPr>
        <p:spPr>
          <a:xfrm>
            <a:off x="0" y="1170432"/>
            <a:ext cx="12191695" cy="54864"/>
          </a:xfrm>
          <a:prstGeom prst="rect">
            <a:avLst/>
          </a:prstGeom>
          <a:solidFill>
            <a:srgbClr val="10B981"/>
          </a:solidFill>
          <a:ln/>
        </p:spPr>
      </p:sp>
      <p:sp>
        <p:nvSpPr>
          <p:cNvPr id="4" name="Shape 2"/>
          <p:cNvSpPr/>
          <p:nvPr/>
        </p:nvSpPr>
        <p:spPr>
          <a:xfrm>
            <a:off x="457200" y="274320"/>
            <a:ext cx="100584" cy="658368"/>
          </a:xfrm>
          <a:prstGeom prst="rect">
            <a:avLst/>
          </a:prstGeom>
          <a:solidFill>
            <a:srgbClr val="10B981"/>
          </a:solidFill>
          <a:ln/>
        </p:spPr>
      </p:sp>
      <p:sp>
        <p:nvSpPr>
          <p:cNvPr id="5" name="Text 3"/>
          <p:cNvSpPr/>
          <p:nvPr/>
        </p:nvSpPr>
        <p:spPr>
          <a:xfrm>
            <a:off x="685800" y="201168"/>
            <a:ext cx="9601200" cy="457200"/>
          </a:xfrm>
          <a:prstGeom prst="rect">
            <a:avLst/>
          </a:prstGeom>
          <a:noFill/>
          <a:ln/>
        </p:spPr>
        <p:txBody>
          <a:bodyPr wrap="square" rtlCol="0" anchor="ctr"/>
          <a:lstStyle/>
          <a:p>
            <a:pPr indent="0" marL="0">
              <a:buNone/>
            </a:pPr>
            <a:r>
              <a:rPr lang="en-US" sz="2700" b="1" dirty="0">
                <a:solidFill>
                  <a:srgbClr val="10233F"/>
                </a:solidFill>
                <a:latin typeface="Calibri" pitchFamily="34" charset="0"/>
                <a:ea typeface="Calibri" pitchFamily="34" charset="-122"/>
                <a:cs typeface="Calibri" pitchFamily="34" charset="-120"/>
              </a:rPr>
              <a:t>Works with no signal</a:t>
            </a:r>
            <a:endParaRPr lang="en-US" sz="2700" dirty="0"/>
          </a:p>
        </p:txBody>
      </p:sp>
      <p:sp>
        <p:nvSpPr>
          <p:cNvPr id="6" name="Text 4"/>
          <p:cNvSpPr/>
          <p:nvPr/>
        </p:nvSpPr>
        <p:spPr>
          <a:xfrm>
            <a:off x="704088" y="658368"/>
            <a:ext cx="10241280" cy="384048"/>
          </a:xfrm>
          <a:prstGeom prst="rect">
            <a:avLst/>
          </a:prstGeom>
          <a:noFill/>
          <a:ln/>
        </p:spPr>
        <p:txBody>
          <a:bodyPr wrap="square" rtlCol="0" anchor="ctr"/>
          <a:lstStyle/>
          <a:p>
            <a:pPr indent="0" marL="0">
              <a:buNone/>
            </a:pPr>
            <a:r>
              <a:rPr lang="en-US" sz="1400" dirty="0">
                <a:solidFill>
                  <a:srgbClr val="5B7192"/>
                </a:solidFill>
                <a:latin typeface="Calibri" pitchFamily="34" charset="0"/>
                <a:ea typeface="Calibri" pitchFamily="34" charset="-122"/>
                <a:cs typeface="Calibri" pitchFamily="34" charset="-120"/>
              </a:rPr>
              <a:t>Offline-first design: the review queue lives on the device, not just online.</a:t>
            </a:r>
            <a:endParaRPr lang="en-US" sz="1400" dirty="0"/>
          </a:p>
        </p:txBody>
      </p:sp>
      <p:sp>
        <p:nvSpPr>
          <p:cNvPr id="7" name="Text 5"/>
          <p:cNvSpPr/>
          <p:nvPr/>
        </p:nvSpPr>
        <p:spPr>
          <a:xfrm>
            <a:off x="10957255" y="6291072"/>
            <a:ext cx="777240" cy="329184"/>
          </a:xfrm>
          <a:prstGeom prst="rect">
            <a:avLst/>
          </a:prstGeom>
          <a:noFill/>
          <a:ln/>
        </p:spPr>
        <p:txBody>
          <a:bodyPr wrap="square" rtlCol="0" anchor="ctr"/>
          <a:lstStyle/>
          <a:p>
            <a:pPr algn="r" indent="0" marL="0">
              <a:buNone/>
            </a:pPr>
            <a:r>
              <a:rPr lang="en-US" sz="1200" dirty="0">
                <a:solidFill>
                  <a:srgbClr val="5B7192"/>
                </a:solidFill>
                <a:latin typeface="Calibri" pitchFamily="34" charset="0"/>
                <a:ea typeface="Calibri" pitchFamily="34" charset="-122"/>
                <a:cs typeface="Calibri" pitchFamily="34" charset="-120"/>
              </a:rPr>
              <a:t>9</a:t>
            </a:r>
            <a:endParaRPr lang="en-US" sz="1200" dirty="0"/>
          </a:p>
        </p:txBody>
      </p:sp>
      <p:sp>
        <p:nvSpPr>
          <p:cNvPr id="8" name="Text 6"/>
          <p:cNvSpPr/>
          <p:nvPr/>
        </p:nvSpPr>
        <p:spPr>
          <a:xfrm>
            <a:off x="457200" y="6291072"/>
            <a:ext cx="4114800" cy="329184"/>
          </a:xfrm>
          <a:prstGeom prst="rect">
            <a:avLst/>
          </a:prstGeom>
          <a:noFill/>
          <a:ln/>
        </p:spPr>
        <p:txBody>
          <a:bodyPr wrap="square" rtlCol="0" anchor="ctr"/>
          <a:lstStyle/>
          <a:p>
            <a:pPr indent="0" marL="0">
              <a:buNone/>
            </a:pPr>
            <a:r>
              <a:rPr lang="en-US" sz="1100" dirty="0">
                <a:solidFill>
                  <a:srgbClr val="5B7192"/>
                </a:solidFill>
                <a:latin typeface="Calibri" pitchFamily="34" charset="0"/>
                <a:ea typeface="Calibri" pitchFamily="34" charset="-122"/>
                <a:cs typeface="Calibri" pitchFamily="34" charset="-120"/>
              </a:rPr>
              <a:t>QuizTime · Concept Paper</a:t>
            </a:r>
            <a:endParaRPr lang="en-US" sz="1100" dirty="0"/>
          </a:p>
        </p:txBody>
      </p:sp>
      <p:pic>
        <p:nvPicPr>
          <p:cNvPr id="9" name="Image 0" descr="/tmp/quiztime-docs-img/offline-body.png">    </p:cNvPr>
          <p:cNvPicPr>
            <a:picLocks noChangeAspect="1"/>
          </p:cNvPicPr>
          <p:nvPr/>
        </p:nvPicPr>
        <p:blipFill>
          <a:blip r:embed="rId1"/>
          <a:stretch>
            <a:fillRect/>
          </a:stretch>
        </p:blipFill>
        <p:spPr>
          <a:xfrm>
            <a:off x="457200" y="1504153"/>
            <a:ext cx="11274552" cy="48555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FFFFFF"/>
          </a:solidFill>
          <a:ln/>
        </p:spPr>
      </p:sp>
      <p:sp>
        <p:nvSpPr>
          <p:cNvPr id="3" name="Shape 1"/>
          <p:cNvSpPr/>
          <p:nvPr/>
        </p:nvSpPr>
        <p:spPr>
          <a:xfrm>
            <a:off x="0" y="1170432"/>
            <a:ext cx="12191695" cy="54864"/>
          </a:xfrm>
          <a:prstGeom prst="rect">
            <a:avLst/>
          </a:prstGeom>
          <a:solidFill>
            <a:srgbClr val="1D4ED8"/>
          </a:solidFill>
          <a:ln/>
        </p:spPr>
      </p:sp>
      <p:sp>
        <p:nvSpPr>
          <p:cNvPr id="4" name="Shape 2"/>
          <p:cNvSpPr/>
          <p:nvPr/>
        </p:nvSpPr>
        <p:spPr>
          <a:xfrm>
            <a:off x="457200" y="274320"/>
            <a:ext cx="100584" cy="658368"/>
          </a:xfrm>
          <a:prstGeom prst="rect">
            <a:avLst/>
          </a:prstGeom>
          <a:solidFill>
            <a:srgbClr val="1D4ED8"/>
          </a:solidFill>
          <a:ln/>
        </p:spPr>
      </p:sp>
      <p:sp>
        <p:nvSpPr>
          <p:cNvPr id="5" name="Text 3"/>
          <p:cNvSpPr/>
          <p:nvPr/>
        </p:nvSpPr>
        <p:spPr>
          <a:xfrm>
            <a:off x="685800" y="201168"/>
            <a:ext cx="9601200" cy="457200"/>
          </a:xfrm>
          <a:prstGeom prst="rect">
            <a:avLst/>
          </a:prstGeom>
          <a:noFill/>
          <a:ln/>
        </p:spPr>
        <p:txBody>
          <a:bodyPr wrap="square" rtlCol="0" anchor="ctr"/>
          <a:lstStyle/>
          <a:p>
            <a:pPr indent="0" marL="0">
              <a:buNone/>
            </a:pPr>
            <a:r>
              <a:rPr lang="en-US" sz="2700" b="1" dirty="0">
                <a:solidFill>
                  <a:srgbClr val="10233F"/>
                </a:solidFill>
                <a:latin typeface="Calibri" pitchFamily="34" charset="0"/>
                <a:ea typeface="Calibri" pitchFamily="34" charset="-122"/>
                <a:cs typeface="Calibri" pitchFamily="34" charset="-120"/>
              </a:rPr>
              <a:t>System architecture</a:t>
            </a:r>
            <a:endParaRPr lang="en-US" sz="2700" dirty="0"/>
          </a:p>
        </p:txBody>
      </p:sp>
      <p:sp>
        <p:nvSpPr>
          <p:cNvPr id="6" name="Text 4"/>
          <p:cNvSpPr/>
          <p:nvPr/>
        </p:nvSpPr>
        <p:spPr>
          <a:xfrm>
            <a:off x="704088" y="658368"/>
            <a:ext cx="10241280" cy="384048"/>
          </a:xfrm>
          <a:prstGeom prst="rect">
            <a:avLst/>
          </a:prstGeom>
          <a:noFill/>
          <a:ln/>
        </p:spPr>
        <p:txBody>
          <a:bodyPr wrap="square" rtlCol="0" anchor="ctr"/>
          <a:lstStyle/>
          <a:p>
            <a:pPr indent="0" marL="0">
              <a:buNone/>
            </a:pPr>
            <a:r>
              <a:rPr lang="en-US" sz="1400" dirty="0">
                <a:solidFill>
                  <a:srgbClr val="5B7192"/>
                </a:solidFill>
                <a:latin typeface="Calibri" pitchFamily="34" charset="0"/>
                <a:ea typeface="Calibri" pitchFamily="34" charset="-122"/>
                <a:cs typeface="Calibri" pitchFamily="34" charset="-120"/>
              </a:rPr>
              <a:t>Three tiers, plus an offline tier that lives inside the browser.</a:t>
            </a:r>
            <a:endParaRPr lang="en-US" sz="1400" dirty="0"/>
          </a:p>
        </p:txBody>
      </p:sp>
      <p:sp>
        <p:nvSpPr>
          <p:cNvPr id="7" name="Text 5"/>
          <p:cNvSpPr/>
          <p:nvPr/>
        </p:nvSpPr>
        <p:spPr>
          <a:xfrm>
            <a:off x="10957255" y="6291072"/>
            <a:ext cx="777240" cy="329184"/>
          </a:xfrm>
          <a:prstGeom prst="rect">
            <a:avLst/>
          </a:prstGeom>
          <a:noFill/>
          <a:ln/>
        </p:spPr>
        <p:txBody>
          <a:bodyPr wrap="square" rtlCol="0" anchor="ctr"/>
          <a:lstStyle/>
          <a:p>
            <a:pPr algn="r" indent="0" marL="0">
              <a:buNone/>
            </a:pPr>
            <a:r>
              <a:rPr lang="en-US" sz="1200" dirty="0">
                <a:solidFill>
                  <a:srgbClr val="5B7192"/>
                </a:solidFill>
                <a:latin typeface="Calibri" pitchFamily="34" charset="0"/>
                <a:ea typeface="Calibri" pitchFamily="34" charset="-122"/>
                <a:cs typeface="Calibri" pitchFamily="34" charset="-120"/>
              </a:rPr>
              <a:t>10</a:t>
            </a:r>
            <a:endParaRPr lang="en-US" sz="1200" dirty="0"/>
          </a:p>
        </p:txBody>
      </p:sp>
      <p:sp>
        <p:nvSpPr>
          <p:cNvPr id="8" name="Text 6"/>
          <p:cNvSpPr/>
          <p:nvPr/>
        </p:nvSpPr>
        <p:spPr>
          <a:xfrm>
            <a:off x="457200" y="6291072"/>
            <a:ext cx="4114800" cy="329184"/>
          </a:xfrm>
          <a:prstGeom prst="rect">
            <a:avLst/>
          </a:prstGeom>
          <a:noFill/>
          <a:ln/>
        </p:spPr>
        <p:txBody>
          <a:bodyPr wrap="square" rtlCol="0" anchor="ctr"/>
          <a:lstStyle/>
          <a:p>
            <a:pPr indent="0" marL="0">
              <a:buNone/>
            </a:pPr>
            <a:r>
              <a:rPr lang="en-US" sz="1100" dirty="0">
                <a:solidFill>
                  <a:srgbClr val="5B7192"/>
                </a:solidFill>
                <a:latin typeface="Calibri" pitchFamily="34" charset="0"/>
                <a:ea typeface="Calibri" pitchFamily="34" charset="-122"/>
                <a:cs typeface="Calibri" pitchFamily="34" charset="-120"/>
              </a:rPr>
              <a:t>QuizTime · Concept Paper</a:t>
            </a:r>
            <a:endParaRPr lang="en-US" sz="1100" dirty="0"/>
          </a:p>
        </p:txBody>
      </p:sp>
      <p:pic>
        <p:nvPicPr>
          <p:cNvPr id="9" name="Image 0" descr="/tmp/quiztime-docs-img/architecture-body.png">    </p:cNvPr>
          <p:cNvPicPr>
            <a:picLocks noChangeAspect="1"/>
          </p:cNvPicPr>
          <p:nvPr/>
        </p:nvPicPr>
        <p:blipFill>
          <a:blip r:embed="rId1"/>
          <a:stretch>
            <a:fillRect/>
          </a:stretch>
        </p:blipFill>
        <p:spPr>
          <a:xfrm>
            <a:off x="658002" y="1463040"/>
            <a:ext cx="10872948" cy="49377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FFFFFF"/>
          </a:solidFill>
          <a:ln/>
        </p:spPr>
      </p:sp>
      <p:sp>
        <p:nvSpPr>
          <p:cNvPr id="3" name="Shape 1"/>
          <p:cNvSpPr/>
          <p:nvPr/>
        </p:nvSpPr>
        <p:spPr>
          <a:xfrm>
            <a:off x="0" y="1170432"/>
            <a:ext cx="12191695" cy="54864"/>
          </a:xfrm>
          <a:prstGeom prst="rect">
            <a:avLst/>
          </a:prstGeom>
          <a:solidFill>
            <a:srgbClr val="06B6D4"/>
          </a:solidFill>
          <a:ln/>
        </p:spPr>
      </p:sp>
      <p:sp>
        <p:nvSpPr>
          <p:cNvPr id="4" name="Shape 2"/>
          <p:cNvSpPr/>
          <p:nvPr/>
        </p:nvSpPr>
        <p:spPr>
          <a:xfrm>
            <a:off x="457200" y="274320"/>
            <a:ext cx="100584" cy="658368"/>
          </a:xfrm>
          <a:prstGeom prst="rect">
            <a:avLst/>
          </a:prstGeom>
          <a:solidFill>
            <a:srgbClr val="06B6D4"/>
          </a:solidFill>
          <a:ln/>
        </p:spPr>
      </p:sp>
      <p:sp>
        <p:nvSpPr>
          <p:cNvPr id="5" name="Text 3"/>
          <p:cNvSpPr/>
          <p:nvPr/>
        </p:nvSpPr>
        <p:spPr>
          <a:xfrm>
            <a:off x="685800" y="201168"/>
            <a:ext cx="9601200" cy="457200"/>
          </a:xfrm>
          <a:prstGeom prst="rect">
            <a:avLst/>
          </a:prstGeom>
          <a:noFill/>
          <a:ln/>
        </p:spPr>
        <p:txBody>
          <a:bodyPr wrap="square" rtlCol="0" anchor="ctr"/>
          <a:lstStyle/>
          <a:p>
            <a:pPr indent="0" marL="0">
              <a:buNone/>
            </a:pPr>
            <a:r>
              <a:rPr lang="en-US" sz="2700" b="1" dirty="0">
                <a:solidFill>
                  <a:srgbClr val="10233F"/>
                </a:solidFill>
                <a:latin typeface="Calibri" pitchFamily="34" charset="0"/>
                <a:ea typeface="Calibri" pitchFamily="34" charset="-122"/>
                <a:cs typeface="Calibri" pitchFamily="34" charset="-120"/>
              </a:rPr>
              <a:t>Scope and delimitation</a:t>
            </a:r>
            <a:endParaRPr lang="en-US" sz="2700" dirty="0"/>
          </a:p>
        </p:txBody>
      </p:sp>
      <p:sp>
        <p:nvSpPr>
          <p:cNvPr id="6" name="Text 4"/>
          <p:cNvSpPr/>
          <p:nvPr/>
        </p:nvSpPr>
        <p:spPr>
          <a:xfrm>
            <a:off x="704088" y="658368"/>
            <a:ext cx="10241280" cy="384048"/>
          </a:xfrm>
          <a:prstGeom prst="rect">
            <a:avLst/>
          </a:prstGeom>
          <a:noFill/>
          <a:ln/>
        </p:spPr>
        <p:txBody>
          <a:bodyPr wrap="square" rtlCol="0" anchor="ctr"/>
          <a:lstStyle/>
          <a:p>
            <a:pPr indent="0" marL="0">
              <a:buNone/>
            </a:pPr>
            <a:r>
              <a:rPr lang="en-US" sz="1400" dirty="0">
                <a:solidFill>
                  <a:srgbClr val="5B7192"/>
                </a:solidFill>
                <a:latin typeface="Calibri" pitchFamily="34" charset="0"/>
                <a:ea typeface="Calibri" pitchFamily="34" charset="-122"/>
                <a:cs typeface="Calibri" pitchFamily="34" charset="-120"/>
              </a:rPr>
              <a:t>What the project covers — and what it deliberately does not.</a:t>
            </a:r>
            <a:endParaRPr lang="en-US" sz="1400" dirty="0"/>
          </a:p>
        </p:txBody>
      </p:sp>
      <p:sp>
        <p:nvSpPr>
          <p:cNvPr id="7" name="Text 5"/>
          <p:cNvSpPr/>
          <p:nvPr/>
        </p:nvSpPr>
        <p:spPr>
          <a:xfrm>
            <a:off x="10957255" y="6291072"/>
            <a:ext cx="777240" cy="329184"/>
          </a:xfrm>
          <a:prstGeom prst="rect">
            <a:avLst/>
          </a:prstGeom>
          <a:noFill/>
          <a:ln/>
        </p:spPr>
        <p:txBody>
          <a:bodyPr wrap="square" rtlCol="0" anchor="ctr"/>
          <a:lstStyle/>
          <a:p>
            <a:pPr algn="r" indent="0" marL="0">
              <a:buNone/>
            </a:pPr>
            <a:r>
              <a:rPr lang="en-US" sz="1200" dirty="0">
                <a:solidFill>
                  <a:srgbClr val="5B7192"/>
                </a:solidFill>
                <a:latin typeface="Calibri" pitchFamily="34" charset="0"/>
                <a:ea typeface="Calibri" pitchFamily="34" charset="-122"/>
                <a:cs typeface="Calibri" pitchFamily="34" charset="-120"/>
              </a:rPr>
              <a:t>11</a:t>
            </a:r>
            <a:endParaRPr lang="en-US" sz="1200" dirty="0"/>
          </a:p>
        </p:txBody>
      </p:sp>
      <p:sp>
        <p:nvSpPr>
          <p:cNvPr id="8" name="Text 6"/>
          <p:cNvSpPr/>
          <p:nvPr/>
        </p:nvSpPr>
        <p:spPr>
          <a:xfrm>
            <a:off x="457200" y="6291072"/>
            <a:ext cx="4114800" cy="329184"/>
          </a:xfrm>
          <a:prstGeom prst="rect">
            <a:avLst/>
          </a:prstGeom>
          <a:noFill/>
          <a:ln/>
        </p:spPr>
        <p:txBody>
          <a:bodyPr wrap="square" rtlCol="0" anchor="ctr"/>
          <a:lstStyle/>
          <a:p>
            <a:pPr indent="0" marL="0">
              <a:buNone/>
            </a:pPr>
            <a:r>
              <a:rPr lang="en-US" sz="1100" dirty="0">
                <a:solidFill>
                  <a:srgbClr val="5B7192"/>
                </a:solidFill>
                <a:latin typeface="Calibri" pitchFamily="34" charset="0"/>
                <a:ea typeface="Calibri" pitchFamily="34" charset="-122"/>
                <a:cs typeface="Calibri" pitchFamily="34" charset="-120"/>
              </a:rPr>
              <a:t>QuizTime · Concept Paper</a:t>
            </a:r>
            <a:endParaRPr lang="en-US" sz="1100" dirty="0"/>
          </a:p>
        </p:txBody>
      </p:sp>
      <p:sp>
        <p:nvSpPr>
          <p:cNvPr id="9" name="Shape 7"/>
          <p:cNvSpPr/>
          <p:nvPr/>
        </p:nvSpPr>
        <p:spPr>
          <a:xfrm>
            <a:off x="566928" y="1536192"/>
            <a:ext cx="5742432" cy="4297680"/>
          </a:xfrm>
          <a:prstGeom prst="roundRect">
            <a:avLst>
              <a:gd name="adj" fmla="val 2553"/>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0" name="Shape 8"/>
          <p:cNvSpPr/>
          <p:nvPr/>
        </p:nvSpPr>
        <p:spPr>
          <a:xfrm>
            <a:off x="566928" y="1536192"/>
            <a:ext cx="5742432" cy="566928"/>
          </a:xfrm>
          <a:prstGeom prst="rect">
            <a:avLst/>
          </a:prstGeom>
          <a:solidFill>
            <a:srgbClr val="10B981"/>
          </a:solidFill>
          <a:ln/>
        </p:spPr>
      </p:sp>
      <p:sp>
        <p:nvSpPr>
          <p:cNvPr id="11" name="Text 9"/>
          <p:cNvSpPr/>
          <p:nvPr/>
        </p:nvSpPr>
        <p:spPr>
          <a:xfrm>
            <a:off x="841248" y="1536192"/>
            <a:ext cx="5120640" cy="56692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 SCOPE</a:t>
            </a:r>
            <a:endParaRPr lang="en-US" sz="1500" dirty="0"/>
          </a:p>
        </p:txBody>
      </p:sp>
      <p:sp>
        <p:nvSpPr>
          <p:cNvPr id="12" name="Shape 10"/>
          <p:cNvSpPr/>
          <p:nvPr/>
        </p:nvSpPr>
        <p:spPr>
          <a:xfrm>
            <a:off x="859536" y="2322576"/>
            <a:ext cx="137160" cy="137160"/>
          </a:xfrm>
          <a:prstGeom prst="ellipse">
            <a:avLst/>
          </a:prstGeom>
          <a:solidFill>
            <a:srgbClr val="10B981"/>
          </a:solidFill>
          <a:ln/>
        </p:spPr>
      </p:sp>
      <p:sp>
        <p:nvSpPr>
          <p:cNvPr id="13" name="Text 11"/>
          <p:cNvSpPr/>
          <p:nvPr/>
        </p:nvSpPr>
        <p:spPr>
          <a:xfrm>
            <a:off x="1097280" y="2249424"/>
            <a:ext cx="5029200" cy="402336"/>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Uploads: 8 files — PDF, DOCX, PPTX, JPG, PNG, WEBP, HEIC — or 100k characters of text</a:t>
            </a:r>
            <a:endParaRPr lang="en-US" sz="1150" dirty="0"/>
          </a:p>
        </p:txBody>
      </p:sp>
      <p:sp>
        <p:nvSpPr>
          <p:cNvPr id="14" name="Shape 12"/>
          <p:cNvSpPr/>
          <p:nvPr/>
        </p:nvSpPr>
        <p:spPr>
          <a:xfrm>
            <a:off x="859536" y="2761488"/>
            <a:ext cx="137160" cy="137160"/>
          </a:xfrm>
          <a:prstGeom prst="ellipse">
            <a:avLst/>
          </a:prstGeom>
          <a:solidFill>
            <a:srgbClr val="10B981"/>
          </a:solidFill>
          <a:ln/>
        </p:spPr>
      </p:sp>
      <p:sp>
        <p:nvSpPr>
          <p:cNvPr id="15" name="Text 13"/>
          <p:cNvSpPr/>
          <p:nvPr/>
        </p:nvSpPr>
        <p:spPr>
          <a:xfrm>
            <a:off x="1097280" y="2688336"/>
            <a:ext cx="5029200" cy="402336"/>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AI generation with automatic failover across models and providers</a:t>
            </a:r>
            <a:endParaRPr lang="en-US" sz="1150" dirty="0"/>
          </a:p>
        </p:txBody>
      </p:sp>
      <p:sp>
        <p:nvSpPr>
          <p:cNvPr id="16" name="Shape 14"/>
          <p:cNvSpPr/>
          <p:nvPr/>
        </p:nvSpPr>
        <p:spPr>
          <a:xfrm>
            <a:off x="859536" y="3200400"/>
            <a:ext cx="137160" cy="137160"/>
          </a:xfrm>
          <a:prstGeom prst="ellipse">
            <a:avLst/>
          </a:prstGeom>
          <a:solidFill>
            <a:srgbClr val="10B981"/>
          </a:solidFill>
          <a:ln/>
        </p:spPr>
      </p:sp>
      <p:sp>
        <p:nvSpPr>
          <p:cNvPr id="17" name="Text 15"/>
          <p:cNvSpPr/>
          <p:nvPr/>
        </p:nvSpPr>
        <p:spPr>
          <a:xfrm>
            <a:off x="1097280" y="3127248"/>
            <a:ext cx="5029200" cy="402336"/>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Four study modes with scoring, grades and session review</a:t>
            </a:r>
            <a:endParaRPr lang="en-US" sz="1150" dirty="0"/>
          </a:p>
        </p:txBody>
      </p:sp>
      <p:sp>
        <p:nvSpPr>
          <p:cNvPr id="18" name="Shape 16"/>
          <p:cNvSpPr/>
          <p:nvPr/>
        </p:nvSpPr>
        <p:spPr>
          <a:xfrm>
            <a:off x="859536" y="3639312"/>
            <a:ext cx="137160" cy="137160"/>
          </a:xfrm>
          <a:prstGeom prst="ellipse">
            <a:avLst/>
          </a:prstGeom>
          <a:solidFill>
            <a:srgbClr val="10B981"/>
          </a:solidFill>
          <a:ln/>
        </p:spPr>
      </p:sp>
      <p:sp>
        <p:nvSpPr>
          <p:cNvPr id="19" name="Text 17"/>
          <p:cNvSpPr/>
          <p:nvPr/>
        </p:nvSpPr>
        <p:spPr>
          <a:xfrm>
            <a:off x="1097280" y="3566160"/>
            <a:ext cx="5029200" cy="402336"/>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SM-2 descendant scheduling with a daily review queue</a:t>
            </a:r>
            <a:endParaRPr lang="en-US" sz="1150" dirty="0"/>
          </a:p>
        </p:txBody>
      </p:sp>
      <p:sp>
        <p:nvSpPr>
          <p:cNvPr id="20" name="Shape 18"/>
          <p:cNvSpPr/>
          <p:nvPr/>
        </p:nvSpPr>
        <p:spPr>
          <a:xfrm>
            <a:off x="859536" y="4078224"/>
            <a:ext cx="137160" cy="137160"/>
          </a:xfrm>
          <a:prstGeom prst="ellipse">
            <a:avLst/>
          </a:prstGeom>
          <a:solidFill>
            <a:srgbClr val="10B981"/>
          </a:solidFill>
          <a:ln/>
        </p:spPr>
      </p:sp>
      <p:sp>
        <p:nvSpPr>
          <p:cNvPr id="21" name="Text 19"/>
          <p:cNvSpPr/>
          <p:nvPr/>
        </p:nvSpPr>
        <p:spPr>
          <a:xfrm>
            <a:off x="1097280" y="4005072"/>
            <a:ext cx="5029200" cy="402336"/>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Deck management: manual decks, rename, card CRUD and reorder</a:t>
            </a:r>
            <a:endParaRPr lang="en-US" sz="1150" dirty="0"/>
          </a:p>
        </p:txBody>
      </p:sp>
      <p:sp>
        <p:nvSpPr>
          <p:cNvPr id="22" name="Shape 20"/>
          <p:cNvSpPr/>
          <p:nvPr/>
        </p:nvSpPr>
        <p:spPr>
          <a:xfrm>
            <a:off x="859536" y="4517136"/>
            <a:ext cx="137160" cy="137160"/>
          </a:xfrm>
          <a:prstGeom prst="ellipse">
            <a:avLst/>
          </a:prstGeom>
          <a:solidFill>
            <a:srgbClr val="10B981"/>
          </a:solidFill>
          <a:ln/>
        </p:spPr>
      </p:sp>
      <p:sp>
        <p:nvSpPr>
          <p:cNvPr id="23" name="Text 21"/>
          <p:cNvSpPr/>
          <p:nvPr/>
        </p:nvSpPr>
        <p:spPr>
          <a:xfrm>
            <a:off x="1097280" y="4443984"/>
            <a:ext cx="5029200" cy="402336"/>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Progress analytics: accuracy, mastery, streak, review health</a:t>
            </a:r>
            <a:endParaRPr lang="en-US" sz="1150" dirty="0"/>
          </a:p>
        </p:txBody>
      </p:sp>
      <p:sp>
        <p:nvSpPr>
          <p:cNvPr id="24" name="Shape 22"/>
          <p:cNvSpPr/>
          <p:nvPr/>
        </p:nvSpPr>
        <p:spPr>
          <a:xfrm>
            <a:off x="859536" y="4956048"/>
            <a:ext cx="137160" cy="137160"/>
          </a:xfrm>
          <a:prstGeom prst="ellipse">
            <a:avLst/>
          </a:prstGeom>
          <a:solidFill>
            <a:srgbClr val="10B981"/>
          </a:solidFill>
          <a:ln/>
        </p:spPr>
      </p:sp>
      <p:sp>
        <p:nvSpPr>
          <p:cNvPr id="25" name="Text 23"/>
          <p:cNvSpPr/>
          <p:nvPr/>
        </p:nvSpPr>
        <p:spPr>
          <a:xfrm>
            <a:off x="1097280" y="4882896"/>
            <a:ext cx="5029200" cy="402336"/>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Offline study with queued answers that sync automatically</a:t>
            </a:r>
            <a:endParaRPr lang="en-US" sz="1150" dirty="0"/>
          </a:p>
        </p:txBody>
      </p:sp>
      <p:sp>
        <p:nvSpPr>
          <p:cNvPr id="26" name="Shape 24"/>
          <p:cNvSpPr/>
          <p:nvPr/>
        </p:nvSpPr>
        <p:spPr>
          <a:xfrm>
            <a:off x="859536" y="5394960"/>
            <a:ext cx="137160" cy="137160"/>
          </a:xfrm>
          <a:prstGeom prst="ellipse">
            <a:avLst/>
          </a:prstGeom>
          <a:solidFill>
            <a:srgbClr val="10B981"/>
          </a:solidFill>
          <a:ln/>
        </p:spPr>
      </p:sp>
      <p:sp>
        <p:nvSpPr>
          <p:cNvPr id="27" name="Text 25"/>
          <p:cNvSpPr/>
          <p:nvPr/>
        </p:nvSpPr>
        <p:spPr>
          <a:xfrm>
            <a:off x="1097280" y="5321808"/>
            <a:ext cx="5029200" cy="402336"/>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Google sign-in with strict per-account data isolation</a:t>
            </a:r>
            <a:endParaRPr lang="en-US" sz="1150" dirty="0"/>
          </a:p>
        </p:txBody>
      </p:sp>
      <p:sp>
        <p:nvSpPr>
          <p:cNvPr id="28" name="Shape 26"/>
          <p:cNvSpPr/>
          <p:nvPr/>
        </p:nvSpPr>
        <p:spPr>
          <a:xfrm>
            <a:off x="6455664" y="1536192"/>
            <a:ext cx="5166360" cy="4297680"/>
          </a:xfrm>
          <a:prstGeom prst="roundRect">
            <a:avLst>
              <a:gd name="adj" fmla="val 2553"/>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29" name="Shape 27"/>
          <p:cNvSpPr/>
          <p:nvPr/>
        </p:nvSpPr>
        <p:spPr>
          <a:xfrm>
            <a:off x="6455664" y="1536192"/>
            <a:ext cx="5166360" cy="566928"/>
          </a:xfrm>
          <a:prstGeom prst="rect">
            <a:avLst/>
          </a:prstGeom>
          <a:solidFill>
            <a:srgbClr val="F43F5E"/>
          </a:solidFill>
          <a:ln/>
        </p:spPr>
      </p:sp>
      <p:sp>
        <p:nvSpPr>
          <p:cNvPr id="30" name="Text 28"/>
          <p:cNvSpPr/>
          <p:nvPr/>
        </p:nvSpPr>
        <p:spPr>
          <a:xfrm>
            <a:off x="6729984" y="1536192"/>
            <a:ext cx="4572000" cy="56692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OUT OF SCOPE</a:t>
            </a:r>
            <a:endParaRPr lang="en-US" sz="1500" dirty="0"/>
          </a:p>
        </p:txBody>
      </p:sp>
      <p:sp>
        <p:nvSpPr>
          <p:cNvPr id="31" name="Shape 29"/>
          <p:cNvSpPr/>
          <p:nvPr/>
        </p:nvSpPr>
        <p:spPr>
          <a:xfrm>
            <a:off x="6748272" y="2322576"/>
            <a:ext cx="137160" cy="137160"/>
          </a:xfrm>
          <a:prstGeom prst="ellipse">
            <a:avLst/>
          </a:prstGeom>
          <a:solidFill>
            <a:srgbClr val="F43F5E"/>
          </a:solidFill>
          <a:ln/>
        </p:spPr>
      </p:sp>
      <p:sp>
        <p:nvSpPr>
          <p:cNvPr id="32" name="Text 30"/>
          <p:cNvSpPr/>
          <p:nvPr/>
        </p:nvSpPr>
        <p:spPr>
          <a:xfrm>
            <a:off x="6986016" y="2249424"/>
            <a:ext cx="4480560" cy="402336"/>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No LMS features — rosters, gradebooks or teacher dashboards</a:t>
            </a:r>
            <a:endParaRPr lang="en-US" sz="1150" dirty="0"/>
          </a:p>
        </p:txBody>
      </p:sp>
      <p:sp>
        <p:nvSpPr>
          <p:cNvPr id="33" name="Shape 31"/>
          <p:cNvSpPr/>
          <p:nvPr/>
        </p:nvSpPr>
        <p:spPr>
          <a:xfrm>
            <a:off x="6748272" y="2761488"/>
            <a:ext cx="137160" cy="137160"/>
          </a:xfrm>
          <a:prstGeom prst="ellipse">
            <a:avLst/>
          </a:prstGeom>
          <a:solidFill>
            <a:srgbClr val="F43F5E"/>
          </a:solidFill>
          <a:ln/>
        </p:spPr>
      </p:sp>
      <p:sp>
        <p:nvSpPr>
          <p:cNvPr id="34" name="Text 32"/>
          <p:cNvSpPr/>
          <p:nvPr/>
        </p:nvSpPr>
        <p:spPr>
          <a:xfrm>
            <a:off x="6986016" y="2688336"/>
            <a:ext cx="4480560" cy="402336"/>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No sharing, public decks, comments or leaderboards</a:t>
            </a:r>
            <a:endParaRPr lang="en-US" sz="1150" dirty="0"/>
          </a:p>
        </p:txBody>
      </p:sp>
      <p:sp>
        <p:nvSpPr>
          <p:cNvPr id="35" name="Shape 33"/>
          <p:cNvSpPr/>
          <p:nvPr/>
        </p:nvSpPr>
        <p:spPr>
          <a:xfrm>
            <a:off x="6748272" y="3200400"/>
            <a:ext cx="137160" cy="137160"/>
          </a:xfrm>
          <a:prstGeom prst="ellipse">
            <a:avLst/>
          </a:prstGeom>
          <a:solidFill>
            <a:srgbClr val="F43F5E"/>
          </a:solidFill>
          <a:ln/>
        </p:spPr>
      </p:sp>
      <p:sp>
        <p:nvSpPr>
          <p:cNvPr id="36" name="Text 34"/>
          <p:cNvSpPr/>
          <p:nvPr/>
        </p:nvSpPr>
        <p:spPr>
          <a:xfrm>
            <a:off x="6986016" y="3127248"/>
            <a:ext cx="4480560" cy="402336"/>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No handwriting or image-only OCR; scanned PDFs without text are rejected</a:t>
            </a:r>
            <a:endParaRPr lang="en-US" sz="1150" dirty="0"/>
          </a:p>
        </p:txBody>
      </p:sp>
      <p:sp>
        <p:nvSpPr>
          <p:cNvPr id="37" name="Shape 35"/>
          <p:cNvSpPr/>
          <p:nvPr/>
        </p:nvSpPr>
        <p:spPr>
          <a:xfrm>
            <a:off x="6748272" y="3639312"/>
            <a:ext cx="137160" cy="137160"/>
          </a:xfrm>
          <a:prstGeom prst="ellipse">
            <a:avLst/>
          </a:prstGeom>
          <a:solidFill>
            <a:srgbClr val="F43F5E"/>
          </a:solidFill>
          <a:ln/>
        </p:spPr>
      </p:sp>
      <p:sp>
        <p:nvSpPr>
          <p:cNvPr id="38" name="Text 36"/>
          <p:cNvSpPr/>
          <p:nvPr/>
        </p:nvSpPr>
        <p:spPr>
          <a:xfrm>
            <a:off x="6986016" y="3566160"/>
            <a:ext cx="4480560" cy="402336"/>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No semantic grading of essay or free-form answers</a:t>
            </a:r>
            <a:endParaRPr lang="en-US" sz="1150" dirty="0"/>
          </a:p>
        </p:txBody>
      </p:sp>
      <p:sp>
        <p:nvSpPr>
          <p:cNvPr id="39" name="Shape 37"/>
          <p:cNvSpPr/>
          <p:nvPr/>
        </p:nvSpPr>
        <p:spPr>
          <a:xfrm>
            <a:off x="6748272" y="4078224"/>
            <a:ext cx="137160" cy="137160"/>
          </a:xfrm>
          <a:prstGeom prst="ellipse">
            <a:avLst/>
          </a:prstGeom>
          <a:solidFill>
            <a:srgbClr val="F43F5E"/>
          </a:solidFill>
          <a:ln/>
        </p:spPr>
      </p:sp>
      <p:sp>
        <p:nvSpPr>
          <p:cNvPr id="40" name="Text 38"/>
          <p:cNvSpPr/>
          <p:nvPr/>
        </p:nvSpPr>
        <p:spPr>
          <a:xfrm>
            <a:off x="6986016" y="4005072"/>
            <a:ext cx="4480560" cy="402336"/>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AI output is a draft — the learner verifies the content</a:t>
            </a:r>
            <a:endParaRPr lang="en-US" sz="1150" dirty="0"/>
          </a:p>
        </p:txBody>
      </p:sp>
      <p:sp>
        <p:nvSpPr>
          <p:cNvPr id="41" name="Shape 39"/>
          <p:cNvSpPr/>
          <p:nvPr/>
        </p:nvSpPr>
        <p:spPr>
          <a:xfrm>
            <a:off x="6748272" y="4517136"/>
            <a:ext cx="137160" cy="137160"/>
          </a:xfrm>
          <a:prstGeom prst="ellipse">
            <a:avLst/>
          </a:prstGeom>
          <a:solidFill>
            <a:srgbClr val="F43F5E"/>
          </a:solidFill>
          <a:ln/>
        </p:spPr>
      </p:sp>
      <p:sp>
        <p:nvSpPr>
          <p:cNvPr id="42" name="Text 40"/>
          <p:cNvSpPr/>
          <p:nvPr/>
        </p:nvSpPr>
        <p:spPr>
          <a:xfrm>
            <a:off x="6986016" y="4443984"/>
            <a:ext cx="4480560" cy="402336"/>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No native app, payments or institutional single sign-on</a:t>
            </a:r>
            <a:endParaRPr lang="en-US" sz="1150" dirty="0"/>
          </a:p>
        </p:txBody>
      </p:sp>
      <p:sp>
        <p:nvSpPr>
          <p:cNvPr id="43" name="Text 41"/>
          <p:cNvSpPr/>
          <p:nvPr/>
        </p:nvSpPr>
        <p:spPr>
          <a:xfrm>
            <a:off x="566928" y="5943600"/>
            <a:ext cx="11055096" cy="365760"/>
          </a:xfrm>
          <a:prstGeom prst="rect">
            <a:avLst/>
          </a:prstGeom>
          <a:noFill/>
          <a:ln/>
        </p:spPr>
        <p:txBody>
          <a:bodyPr wrap="square" rtlCol="0" anchor="ctr"/>
          <a:lstStyle/>
          <a:p>
            <a:pPr indent="0" marL="0">
              <a:buNone/>
            </a:pPr>
            <a:r>
              <a:rPr lang="en-US" sz="1200" i="1" dirty="0">
                <a:solidFill>
                  <a:srgbClr val="5B7192"/>
                </a:solidFill>
                <a:latin typeface="Calibri" pitchFamily="34" charset="0"/>
                <a:ea typeface="Calibri" pitchFamily="34" charset="-122"/>
                <a:cs typeface="Calibri" pitchFamily="34" charset="-120"/>
              </a:rPr>
              <a:t>Everything in the left column is implemented and covered by automated tests; the right column defines the honest boundary of the claim.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FFFFFF"/>
          </a:solidFill>
          <a:ln/>
        </p:spPr>
      </p:sp>
      <p:sp>
        <p:nvSpPr>
          <p:cNvPr id="3" name="Shape 1"/>
          <p:cNvSpPr/>
          <p:nvPr/>
        </p:nvSpPr>
        <p:spPr>
          <a:xfrm>
            <a:off x="0" y="1170432"/>
            <a:ext cx="12191695" cy="54864"/>
          </a:xfrm>
          <a:prstGeom prst="rect">
            <a:avLst/>
          </a:prstGeom>
          <a:solidFill>
            <a:srgbClr val="6366F1"/>
          </a:solidFill>
          <a:ln/>
        </p:spPr>
      </p:sp>
      <p:sp>
        <p:nvSpPr>
          <p:cNvPr id="4" name="Shape 2"/>
          <p:cNvSpPr/>
          <p:nvPr/>
        </p:nvSpPr>
        <p:spPr>
          <a:xfrm>
            <a:off x="457200" y="274320"/>
            <a:ext cx="100584" cy="658368"/>
          </a:xfrm>
          <a:prstGeom prst="rect">
            <a:avLst/>
          </a:prstGeom>
          <a:solidFill>
            <a:srgbClr val="6366F1"/>
          </a:solidFill>
          <a:ln/>
        </p:spPr>
      </p:sp>
      <p:sp>
        <p:nvSpPr>
          <p:cNvPr id="5" name="Text 3"/>
          <p:cNvSpPr/>
          <p:nvPr/>
        </p:nvSpPr>
        <p:spPr>
          <a:xfrm>
            <a:off x="685800" y="201168"/>
            <a:ext cx="9601200" cy="457200"/>
          </a:xfrm>
          <a:prstGeom prst="rect">
            <a:avLst/>
          </a:prstGeom>
          <a:noFill/>
          <a:ln/>
        </p:spPr>
        <p:txBody>
          <a:bodyPr wrap="square" rtlCol="0" anchor="ctr"/>
          <a:lstStyle/>
          <a:p>
            <a:pPr indent="0" marL="0">
              <a:buNone/>
            </a:pPr>
            <a:r>
              <a:rPr lang="en-US" sz="2700" b="1" dirty="0">
                <a:solidFill>
                  <a:srgbClr val="10233F"/>
                </a:solidFill>
                <a:latin typeface="Calibri" pitchFamily="34" charset="0"/>
                <a:ea typeface="Calibri" pitchFamily="34" charset="-122"/>
                <a:cs typeface="Calibri" pitchFamily="34" charset="-120"/>
              </a:rPr>
              <a:t>Methodology and work plan</a:t>
            </a:r>
            <a:endParaRPr lang="en-US" sz="2700" dirty="0"/>
          </a:p>
        </p:txBody>
      </p:sp>
      <p:sp>
        <p:nvSpPr>
          <p:cNvPr id="6" name="Text 4"/>
          <p:cNvSpPr/>
          <p:nvPr/>
        </p:nvSpPr>
        <p:spPr>
          <a:xfrm>
            <a:off x="704088" y="658368"/>
            <a:ext cx="10241280" cy="384048"/>
          </a:xfrm>
          <a:prstGeom prst="rect">
            <a:avLst/>
          </a:prstGeom>
          <a:noFill/>
          <a:ln/>
        </p:spPr>
        <p:txBody>
          <a:bodyPr wrap="square" rtlCol="0" anchor="ctr"/>
          <a:lstStyle/>
          <a:p>
            <a:pPr indent="0" marL="0">
              <a:buNone/>
            </a:pPr>
            <a:r>
              <a:rPr lang="en-US" sz="1400" dirty="0">
                <a:solidFill>
                  <a:srgbClr val="5B7192"/>
                </a:solidFill>
                <a:latin typeface="Calibri" pitchFamily="34" charset="0"/>
                <a:ea typeface="Calibri" pitchFamily="34" charset="-122"/>
                <a:cs typeface="Calibri" pitchFamily="34" charset="-120"/>
              </a:rPr>
              <a:t>Design-and-development research, delivered in five incremental releases over 24 weeks.</a:t>
            </a:r>
            <a:endParaRPr lang="en-US" sz="1400" dirty="0"/>
          </a:p>
        </p:txBody>
      </p:sp>
      <p:sp>
        <p:nvSpPr>
          <p:cNvPr id="7" name="Text 5"/>
          <p:cNvSpPr/>
          <p:nvPr/>
        </p:nvSpPr>
        <p:spPr>
          <a:xfrm>
            <a:off x="10957255" y="6291072"/>
            <a:ext cx="777240" cy="329184"/>
          </a:xfrm>
          <a:prstGeom prst="rect">
            <a:avLst/>
          </a:prstGeom>
          <a:noFill/>
          <a:ln/>
        </p:spPr>
        <p:txBody>
          <a:bodyPr wrap="square" rtlCol="0" anchor="ctr"/>
          <a:lstStyle/>
          <a:p>
            <a:pPr algn="r" indent="0" marL="0">
              <a:buNone/>
            </a:pPr>
            <a:r>
              <a:rPr lang="en-US" sz="1200" dirty="0">
                <a:solidFill>
                  <a:srgbClr val="5B7192"/>
                </a:solidFill>
                <a:latin typeface="Calibri" pitchFamily="34" charset="0"/>
                <a:ea typeface="Calibri" pitchFamily="34" charset="-122"/>
                <a:cs typeface="Calibri" pitchFamily="34" charset="-120"/>
              </a:rPr>
              <a:t>12</a:t>
            </a:r>
            <a:endParaRPr lang="en-US" sz="1200" dirty="0"/>
          </a:p>
        </p:txBody>
      </p:sp>
      <p:sp>
        <p:nvSpPr>
          <p:cNvPr id="8" name="Text 6"/>
          <p:cNvSpPr/>
          <p:nvPr/>
        </p:nvSpPr>
        <p:spPr>
          <a:xfrm>
            <a:off x="457200" y="6291072"/>
            <a:ext cx="4114800" cy="329184"/>
          </a:xfrm>
          <a:prstGeom prst="rect">
            <a:avLst/>
          </a:prstGeom>
          <a:noFill/>
          <a:ln/>
        </p:spPr>
        <p:txBody>
          <a:bodyPr wrap="square" rtlCol="0" anchor="ctr"/>
          <a:lstStyle/>
          <a:p>
            <a:pPr indent="0" marL="0">
              <a:buNone/>
            </a:pPr>
            <a:r>
              <a:rPr lang="en-US" sz="1100" dirty="0">
                <a:solidFill>
                  <a:srgbClr val="5B7192"/>
                </a:solidFill>
                <a:latin typeface="Calibri" pitchFamily="34" charset="0"/>
                <a:ea typeface="Calibri" pitchFamily="34" charset="-122"/>
                <a:cs typeface="Calibri" pitchFamily="34" charset="-120"/>
              </a:rPr>
              <a:t>QuizTime · Concept Paper</a:t>
            </a:r>
            <a:endParaRPr lang="en-US" sz="1100" dirty="0"/>
          </a:p>
        </p:txBody>
      </p:sp>
      <p:sp>
        <p:nvSpPr>
          <p:cNvPr id="9" name="Shape 7"/>
          <p:cNvSpPr/>
          <p:nvPr/>
        </p:nvSpPr>
        <p:spPr>
          <a:xfrm>
            <a:off x="566928" y="1463040"/>
            <a:ext cx="5394960" cy="1426464"/>
          </a:xfrm>
          <a:prstGeom prst="roundRect">
            <a:avLst>
              <a:gd name="adj" fmla="val 7692"/>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0" name="Text 8"/>
          <p:cNvSpPr/>
          <p:nvPr/>
        </p:nvSpPr>
        <p:spPr>
          <a:xfrm>
            <a:off x="786384" y="1554480"/>
            <a:ext cx="2743200" cy="310896"/>
          </a:xfrm>
          <a:prstGeom prst="rect">
            <a:avLst/>
          </a:prstGeom>
          <a:noFill/>
          <a:ln/>
        </p:spPr>
        <p:txBody>
          <a:bodyPr wrap="square" rtlCol="0" anchor="ctr"/>
          <a:lstStyle/>
          <a:p>
            <a:pPr indent="0" marL="0">
              <a:buNone/>
            </a:pPr>
            <a:r>
              <a:rPr lang="en-US" sz="1400" b="1" dirty="0">
                <a:solidFill>
                  <a:srgbClr val="10233F"/>
                </a:solidFill>
                <a:latin typeface="Calibri" pitchFamily="34" charset="0"/>
                <a:ea typeface="Calibri" pitchFamily="34" charset="-122"/>
                <a:cs typeface="Calibri" pitchFamily="34" charset="-120"/>
              </a:rPr>
              <a:t>Approach</a:t>
            </a:r>
            <a:endParaRPr lang="en-US" sz="1400" dirty="0"/>
          </a:p>
        </p:txBody>
      </p:sp>
      <p:sp>
        <p:nvSpPr>
          <p:cNvPr id="11" name="Shape 9"/>
          <p:cNvSpPr/>
          <p:nvPr/>
        </p:nvSpPr>
        <p:spPr>
          <a:xfrm>
            <a:off x="804672" y="1947672"/>
            <a:ext cx="100584" cy="100584"/>
          </a:xfrm>
          <a:prstGeom prst="ellipse">
            <a:avLst/>
          </a:prstGeom>
          <a:solidFill>
            <a:srgbClr val="6366F1"/>
          </a:solidFill>
          <a:ln/>
        </p:spPr>
      </p:sp>
      <p:sp>
        <p:nvSpPr>
          <p:cNvPr id="12" name="Text 10"/>
          <p:cNvSpPr/>
          <p:nvPr/>
        </p:nvSpPr>
        <p:spPr>
          <a:xfrm>
            <a:off x="987552" y="1901952"/>
            <a:ext cx="4846320" cy="219456"/>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Design and development research (Richey &amp; Klein).</a:t>
            </a:r>
            <a:endParaRPr lang="en-US" sz="1050" dirty="0"/>
          </a:p>
        </p:txBody>
      </p:sp>
      <p:sp>
        <p:nvSpPr>
          <p:cNvPr id="13" name="Shape 11"/>
          <p:cNvSpPr/>
          <p:nvPr/>
        </p:nvSpPr>
        <p:spPr>
          <a:xfrm>
            <a:off x="804672" y="2176272"/>
            <a:ext cx="100584" cy="100584"/>
          </a:xfrm>
          <a:prstGeom prst="ellipse">
            <a:avLst/>
          </a:prstGeom>
          <a:solidFill>
            <a:srgbClr val="6366F1"/>
          </a:solidFill>
          <a:ln/>
        </p:spPr>
      </p:sp>
      <p:sp>
        <p:nvSpPr>
          <p:cNvPr id="14" name="Text 12"/>
          <p:cNvSpPr/>
          <p:nvPr/>
        </p:nvSpPr>
        <p:spPr>
          <a:xfrm>
            <a:off x="987552" y="2130552"/>
            <a:ext cx="4846320" cy="219456"/>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Four phases: analysis, design, development, evaluation.</a:t>
            </a:r>
            <a:endParaRPr lang="en-US" sz="1050" dirty="0"/>
          </a:p>
        </p:txBody>
      </p:sp>
      <p:sp>
        <p:nvSpPr>
          <p:cNvPr id="15" name="Shape 13"/>
          <p:cNvSpPr/>
          <p:nvPr/>
        </p:nvSpPr>
        <p:spPr>
          <a:xfrm>
            <a:off x="804672" y="2404872"/>
            <a:ext cx="100584" cy="100584"/>
          </a:xfrm>
          <a:prstGeom prst="ellipse">
            <a:avLst/>
          </a:prstGeom>
          <a:solidFill>
            <a:srgbClr val="6366F1"/>
          </a:solidFill>
          <a:ln/>
        </p:spPr>
      </p:sp>
      <p:sp>
        <p:nvSpPr>
          <p:cNvPr id="16" name="Text 14"/>
          <p:cNvSpPr/>
          <p:nvPr/>
        </p:nvSpPr>
        <p:spPr>
          <a:xfrm>
            <a:off x="987552" y="2359152"/>
            <a:ext cx="4846320" cy="219456"/>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Requirements from a learner survey, the literature, course material.</a:t>
            </a:r>
            <a:endParaRPr lang="en-US" sz="1050" dirty="0"/>
          </a:p>
        </p:txBody>
      </p:sp>
      <p:sp>
        <p:nvSpPr>
          <p:cNvPr id="17" name="Shape 15"/>
          <p:cNvSpPr/>
          <p:nvPr/>
        </p:nvSpPr>
        <p:spPr>
          <a:xfrm>
            <a:off x="804672" y="2633472"/>
            <a:ext cx="100584" cy="100584"/>
          </a:xfrm>
          <a:prstGeom prst="ellipse">
            <a:avLst/>
          </a:prstGeom>
          <a:solidFill>
            <a:srgbClr val="6366F1"/>
          </a:solidFill>
          <a:ln/>
        </p:spPr>
      </p:sp>
      <p:sp>
        <p:nvSpPr>
          <p:cNvPr id="18" name="Text 16"/>
          <p:cNvSpPr/>
          <p:nvPr/>
        </p:nvSpPr>
        <p:spPr>
          <a:xfrm>
            <a:off x="987552" y="2587752"/>
            <a:ext cx="4846320" cy="219456"/>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Each increment ships only when its automated tests pass.</a:t>
            </a:r>
            <a:endParaRPr lang="en-US" sz="1050" dirty="0"/>
          </a:p>
        </p:txBody>
      </p:sp>
      <p:sp>
        <p:nvSpPr>
          <p:cNvPr id="19" name="Shape 17"/>
          <p:cNvSpPr/>
          <p:nvPr/>
        </p:nvSpPr>
        <p:spPr>
          <a:xfrm>
            <a:off x="6236208" y="1463040"/>
            <a:ext cx="5495544" cy="1426464"/>
          </a:xfrm>
          <a:prstGeom prst="roundRect">
            <a:avLst>
              <a:gd name="adj" fmla="val 7692"/>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20" name="Text 18"/>
          <p:cNvSpPr/>
          <p:nvPr/>
        </p:nvSpPr>
        <p:spPr>
          <a:xfrm>
            <a:off x="6455664" y="1536192"/>
            <a:ext cx="2743200" cy="292608"/>
          </a:xfrm>
          <a:prstGeom prst="rect">
            <a:avLst/>
          </a:prstGeom>
          <a:noFill/>
          <a:ln/>
        </p:spPr>
        <p:txBody>
          <a:bodyPr wrap="square" rtlCol="0" anchor="ctr"/>
          <a:lstStyle/>
          <a:p>
            <a:pPr indent="0" marL="0">
              <a:buNone/>
            </a:pPr>
            <a:r>
              <a:rPr lang="en-US" sz="1400" b="1" dirty="0">
                <a:solidFill>
                  <a:srgbClr val="10233F"/>
                </a:solidFill>
                <a:latin typeface="Calibri" pitchFamily="34" charset="0"/>
                <a:ea typeface="Calibri" pitchFamily="34" charset="-122"/>
                <a:cs typeface="Calibri" pitchFamily="34" charset="-120"/>
              </a:rPr>
              <a:t>Releases</a:t>
            </a:r>
            <a:endParaRPr lang="en-US" sz="1400" dirty="0"/>
          </a:p>
        </p:txBody>
      </p:sp>
      <p:sp>
        <p:nvSpPr>
          <p:cNvPr id="21" name="Shape 19"/>
          <p:cNvSpPr/>
          <p:nvPr/>
        </p:nvSpPr>
        <p:spPr>
          <a:xfrm>
            <a:off x="6455664" y="1901952"/>
            <a:ext cx="512064" cy="182880"/>
          </a:xfrm>
          <a:prstGeom prst="roundRect">
            <a:avLst>
              <a:gd name="adj" fmla="val 50000"/>
            </a:avLst>
          </a:prstGeom>
          <a:solidFill>
            <a:srgbClr val="3B82F6"/>
          </a:solidFill>
          <a:ln w="12700">
            <a:solidFill>
              <a:srgbClr val="3B82F6"/>
            </a:solidFill>
            <a:prstDash val="solid"/>
          </a:ln>
        </p:spPr>
      </p:sp>
      <p:sp>
        <p:nvSpPr>
          <p:cNvPr id="22" name="Text 20"/>
          <p:cNvSpPr/>
          <p:nvPr/>
        </p:nvSpPr>
        <p:spPr>
          <a:xfrm>
            <a:off x="6455664" y="1901952"/>
            <a:ext cx="512064" cy="1828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P1</a:t>
            </a:r>
            <a:endParaRPr lang="en-US" sz="1000" dirty="0"/>
          </a:p>
        </p:txBody>
      </p:sp>
      <p:sp>
        <p:nvSpPr>
          <p:cNvPr id="23" name="Text 21"/>
          <p:cNvSpPr/>
          <p:nvPr/>
        </p:nvSpPr>
        <p:spPr>
          <a:xfrm>
            <a:off x="7077456" y="1901952"/>
            <a:ext cx="4572000" cy="182880"/>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Upload, parsing, generation, Study Mode</a:t>
            </a:r>
            <a:endParaRPr lang="en-US" sz="1050" dirty="0"/>
          </a:p>
        </p:txBody>
      </p:sp>
      <p:sp>
        <p:nvSpPr>
          <p:cNvPr id="24" name="Shape 22"/>
          <p:cNvSpPr/>
          <p:nvPr/>
        </p:nvSpPr>
        <p:spPr>
          <a:xfrm>
            <a:off x="6455664" y="2103120"/>
            <a:ext cx="512064" cy="182880"/>
          </a:xfrm>
          <a:prstGeom prst="roundRect">
            <a:avLst>
              <a:gd name="adj" fmla="val 50000"/>
            </a:avLst>
          </a:prstGeom>
          <a:solidFill>
            <a:srgbClr val="06B6D4"/>
          </a:solidFill>
          <a:ln w="12700">
            <a:solidFill>
              <a:srgbClr val="06B6D4"/>
            </a:solidFill>
            <a:prstDash val="solid"/>
          </a:ln>
        </p:spPr>
      </p:sp>
      <p:sp>
        <p:nvSpPr>
          <p:cNvPr id="25" name="Text 23"/>
          <p:cNvSpPr/>
          <p:nvPr/>
        </p:nvSpPr>
        <p:spPr>
          <a:xfrm>
            <a:off x="6455664" y="2103120"/>
            <a:ext cx="512064" cy="1828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P2</a:t>
            </a:r>
            <a:endParaRPr lang="en-US" sz="1000" dirty="0"/>
          </a:p>
        </p:txBody>
      </p:sp>
      <p:sp>
        <p:nvSpPr>
          <p:cNvPr id="26" name="Text 24"/>
          <p:cNvSpPr/>
          <p:nvPr/>
        </p:nvSpPr>
        <p:spPr>
          <a:xfrm>
            <a:off x="7077456" y="2103120"/>
            <a:ext cx="4572000" cy="182880"/>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Exam Mode, scoring, statistics</a:t>
            </a:r>
            <a:endParaRPr lang="en-US" sz="1050" dirty="0"/>
          </a:p>
        </p:txBody>
      </p:sp>
      <p:sp>
        <p:nvSpPr>
          <p:cNvPr id="27" name="Shape 25"/>
          <p:cNvSpPr/>
          <p:nvPr/>
        </p:nvSpPr>
        <p:spPr>
          <a:xfrm>
            <a:off x="6455664" y="2304288"/>
            <a:ext cx="512064" cy="182880"/>
          </a:xfrm>
          <a:prstGeom prst="roundRect">
            <a:avLst>
              <a:gd name="adj" fmla="val 50000"/>
            </a:avLst>
          </a:prstGeom>
          <a:solidFill>
            <a:srgbClr val="6366F1"/>
          </a:solidFill>
          <a:ln w="12700">
            <a:solidFill>
              <a:srgbClr val="6366F1"/>
            </a:solidFill>
            <a:prstDash val="solid"/>
          </a:ln>
        </p:spPr>
      </p:sp>
      <p:sp>
        <p:nvSpPr>
          <p:cNvPr id="28" name="Text 26"/>
          <p:cNvSpPr/>
          <p:nvPr/>
        </p:nvSpPr>
        <p:spPr>
          <a:xfrm>
            <a:off x="6455664" y="2304288"/>
            <a:ext cx="512064" cy="1828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P3</a:t>
            </a:r>
            <a:endParaRPr lang="en-US" sz="1000" dirty="0"/>
          </a:p>
        </p:txBody>
      </p:sp>
      <p:sp>
        <p:nvSpPr>
          <p:cNvPr id="29" name="Text 27"/>
          <p:cNvSpPr/>
          <p:nvPr/>
        </p:nvSpPr>
        <p:spPr>
          <a:xfrm>
            <a:off x="7077456" y="2304288"/>
            <a:ext cx="4572000" cy="182880"/>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Sign-in, data isolation, rate limits</a:t>
            </a:r>
            <a:endParaRPr lang="en-US" sz="1050" dirty="0"/>
          </a:p>
        </p:txBody>
      </p:sp>
      <p:sp>
        <p:nvSpPr>
          <p:cNvPr id="30" name="Shape 28"/>
          <p:cNvSpPr/>
          <p:nvPr/>
        </p:nvSpPr>
        <p:spPr>
          <a:xfrm>
            <a:off x="6455664" y="2505456"/>
            <a:ext cx="512064" cy="182880"/>
          </a:xfrm>
          <a:prstGeom prst="roundRect">
            <a:avLst>
              <a:gd name="adj" fmla="val 50000"/>
            </a:avLst>
          </a:prstGeom>
          <a:solidFill>
            <a:srgbClr val="7C3AED"/>
          </a:solidFill>
          <a:ln w="12700">
            <a:solidFill>
              <a:srgbClr val="7C3AED"/>
            </a:solidFill>
            <a:prstDash val="solid"/>
          </a:ln>
        </p:spPr>
      </p:sp>
      <p:sp>
        <p:nvSpPr>
          <p:cNvPr id="31" name="Text 29"/>
          <p:cNvSpPr/>
          <p:nvPr/>
        </p:nvSpPr>
        <p:spPr>
          <a:xfrm>
            <a:off x="6455664" y="2505456"/>
            <a:ext cx="512064" cy="1828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P4</a:t>
            </a:r>
            <a:endParaRPr lang="en-US" sz="1000" dirty="0"/>
          </a:p>
        </p:txBody>
      </p:sp>
      <p:sp>
        <p:nvSpPr>
          <p:cNvPr id="32" name="Text 30"/>
          <p:cNvSpPr/>
          <p:nvPr/>
        </p:nvSpPr>
        <p:spPr>
          <a:xfrm>
            <a:off x="7077456" y="2505456"/>
            <a:ext cx="4572000" cy="182880"/>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Scheduler, Review queue, offline grading</a:t>
            </a:r>
            <a:endParaRPr lang="en-US" sz="1050" dirty="0"/>
          </a:p>
        </p:txBody>
      </p:sp>
      <p:sp>
        <p:nvSpPr>
          <p:cNvPr id="33" name="Shape 31"/>
          <p:cNvSpPr/>
          <p:nvPr/>
        </p:nvSpPr>
        <p:spPr>
          <a:xfrm>
            <a:off x="6455664" y="2706624"/>
            <a:ext cx="512064" cy="182880"/>
          </a:xfrm>
          <a:prstGeom prst="roundRect">
            <a:avLst>
              <a:gd name="adj" fmla="val 50000"/>
            </a:avLst>
          </a:prstGeom>
          <a:solidFill>
            <a:srgbClr val="10B981"/>
          </a:solidFill>
          <a:ln w="12700">
            <a:solidFill>
              <a:srgbClr val="10B981"/>
            </a:solidFill>
            <a:prstDash val="solid"/>
          </a:ln>
        </p:spPr>
      </p:sp>
      <p:sp>
        <p:nvSpPr>
          <p:cNvPr id="34" name="Text 32"/>
          <p:cNvSpPr/>
          <p:nvPr/>
        </p:nvSpPr>
        <p:spPr>
          <a:xfrm>
            <a:off x="6455664" y="2706624"/>
            <a:ext cx="512064" cy="1828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P5</a:t>
            </a:r>
            <a:endParaRPr lang="en-US" sz="1000" dirty="0"/>
          </a:p>
        </p:txBody>
      </p:sp>
      <p:sp>
        <p:nvSpPr>
          <p:cNvPr id="35" name="Text 33"/>
          <p:cNvSpPr/>
          <p:nvPr/>
        </p:nvSpPr>
        <p:spPr>
          <a:xfrm>
            <a:off x="7077456" y="2706624"/>
            <a:ext cx="4572000" cy="182880"/>
          </a:xfrm>
          <a:prstGeom prst="rect">
            <a:avLst/>
          </a:prstGeom>
          <a:noFill/>
          <a:ln/>
        </p:spPr>
        <p:txBody>
          <a:bodyPr wrap="square" rtlCol="0" anchor="ctr"/>
          <a:lstStyle/>
          <a:p>
            <a:pPr indent="0" marL="0">
              <a:buNone/>
            </a:pPr>
            <a:r>
              <a:rPr lang="en-US" sz="1050" dirty="0">
                <a:solidFill>
                  <a:srgbClr val="3B4E6B"/>
                </a:solidFill>
                <a:latin typeface="Calibri" pitchFamily="34" charset="0"/>
                <a:ea typeface="Calibri" pitchFamily="34" charset="-122"/>
                <a:cs typeface="Calibri" pitchFamily="34" charset="-120"/>
              </a:rPr>
              <a:t>Service worker, snapshots, AI failover</a:t>
            </a:r>
            <a:endParaRPr lang="en-US" sz="1050" dirty="0"/>
          </a:p>
        </p:txBody>
      </p:sp>
      <p:pic>
        <p:nvPicPr>
          <p:cNvPr id="36" name="Image 0" descr="/tmp/quiztime-docs-img/timeline-body.png">    </p:cNvPr>
          <p:cNvPicPr>
            <a:picLocks noChangeAspect="1"/>
          </p:cNvPicPr>
          <p:nvPr/>
        </p:nvPicPr>
        <p:blipFill>
          <a:blip r:embed="rId1"/>
          <a:stretch>
            <a:fillRect/>
          </a:stretch>
        </p:blipFill>
        <p:spPr>
          <a:xfrm>
            <a:off x="922264" y="3054096"/>
            <a:ext cx="10344424" cy="327355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FFFFFF"/>
          </a:solidFill>
          <a:ln/>
        </p:spPr>
      </p:sp>
      <p:sp>
        <p:nvSpPr>
          <p:cNvPr id="3" name="Shape 1"/>
          <p:cNvSpPr/>
          <p:nvPr/>
        </p:nvSpPr>
        <p:spPr>
          <a:xfrm>
            <a:off x="0" y="1170432"/>
            <a:ext cx="12191695" cy="54864"/>
          </a:xfrm>
          <a:prstGeom prst="rect">
            <a:avLst/>
          </a:prstGeom>
          <a:solidFill>
            <a:srgbClr val="10B981"/>
          </a:solidFill>
          <a:ln/>
        </p:spPr>
      </p:sp>
      <p:sp>
        <p:nvSpPr>
          <p:cNvPr id="4" name="Shape 2"/>
          <p:cNvSpPr/>
          <p:nvPr/>
        </p:nvSpPr>
        <p:spPr>
          <a:xfrm>
            <a:off x="457200" y="274320"/>
            <a:ext cx="100584" cy="658368"/>
          </a:xfrm>
          <a:prstGeom prst="rect">
            <a:avLst/>
          </a:prstGeom>
          <a:solidFill>
            <a:srgbClr val="10B981"/>
          </a:solidFill>
          <a:ln/>
        </p:spPr>
      </p:sp>
      <p:sp>
        <p:nvSpPr>
          <p:cNvPr id="5" name="Text 3"/>
          <p:cNvSpPr/>
          <p:nvPr/>
        </p:nvSpPr>
        <p:spPr>
          <a:xfrm>
            <a:off x="685800" y="201168"/>
            <a:ext cx="9601200" cy="457200"/>
          </a:xfrm>
          <a:prstGeom prst="rect">
            <a:avLst/>
          </a:prstGeom>
          <a:noFill/>
          <a:ln/>
        </p:spPr>
        <p:txBody>
          <a:bodyPr wrap="square" rtlCol="0" anchor="ctr"/>
          <a:lstStyle/>
          <a:p>
            <a:pPr indent="0" marL="0">
              <a:buNone/>
            </a:pPr>
            <a:r>
              <a:rPr lang="en-US" sz="2700" b="1" dirty="0">
                <a:solidFill>
                  <a:srgbClr val="10233F"/>
                </a:solidFill>
                <a:latin typeface="Calibri" pitchFamily="34" charset="0"/>
                <a:ea typeface="Calibri" pitchFamily="34" charset="-122"/>
                <a:cs typeface="Calibri" pitchFamily="34" charset="-120"/>
              </a:rPr>
              <a:t>Testing and evaluation</a:t>
            </a:r>
            <a:endParaRPr lang="en-US" sz="2700" dirty="0"/>
          </a:p>
        </p:txBody>
      </p:sp>
      <p:sp>
        <p:nvSpPr>
          <p:cNvPr id="6" name="Text 4"/>
          <p:cNvSpPr/>
          <p:nvPr/>
        </p:nvSpPr>
        <p:spPr>
          <a:xfrm>
            <a:off x="704088" y="658368"/>
            <a:ext cx="10241280" cy="384048"/>
          </a:xfrm>
          <a:prstGeom prst="rect">
            <a:avLst/>
          </a:prstGeom>
          <a:noFill/>
          <a:ln/>
        </p:spPr>
        <p:txBody>
          <a:bodyPr wrap="square" rtlCol="0" anchor="ctr"/>
          <a:lstStyle/>
          <a:p>
            <a:pPr indent="0" marL="0">
              <a:buNone/>
            </a:pPr>
            <a:r>
              <a:rPr lang="en-US" sz="1400" dirty="0">
                <a:solidFill>
                  <a:srgbClr val="5B7192"/>
                </a:solidFill>
                <a:latin typeface="Calibri" pitchFamily="34" charset="0"/>
                <a:ea typeface="Calibri" pitchFamily="34" charset="-122"/>
                <a:cs typeface="Calibri" pitchFamily="34" charset="-120"/>
              </a:rPr>
              <a:t>Verification by automated suites, validation by users.</a:t>
            </a:r>
            <a:endParaRPr lang="en-US" sz="1400" dirty="0"/>
          </a:p>
        </p:txBody>
      </p:sp>
      <p:sp>
        <p:nvSpPr>
          <p:cNvPr id="7" name="Text 5"/>
          <p:cNvSpPr/>
          <p:nvPr/>
        </p:nvSpPr>
        <p:spPr>
          <a:xfrm>
            <a:off x="10957255" y="6291072"/>
            <a:ext cx="777240" cy="329184"/>
          </a:xfrm>
          <a:prstGeom prst="rect">
            <a:avLst/>
          </a:prstGeom>
          <a:noFill/>
          <a:ln/>
        </p:spPr>
        <p:txBody>
          <a:bodyPr wrap="square" rtlCol="0" anchor="ctr"/>
          <a:lstStyle/>
          <a:p>
            <a:pPr algn="r" indent="0" marL="0">
              <a:buNone/>
            </a:pPr>
            <a:r>
              <a:rPr lang="en-US" sz="1200" dirty="0">
                <a:solidFill>
                  <a:srgbClr val="5B7192"/>
                </a:solidFill>
                <a:latin typeface="Calibri" pitchFamily="34" charset="0"/>
                <a:ea typeface="Calibri" pitchFamily="34" charset="-122"/>
                <a:cs typeface="Calibri" pitchFamily="34" charset="-120"/>
              </a:rPr>
              <a:t>13</a:t>
            </a:r>
            <a:endParaRPr lang="en-US" sz="1200" dirty="0"/>
          </a:p>
        </p:txBody>
      </p:sp>
      <p:sp>
        <p:nvSpPr>
          <p:cNvPr id="8" name="Text 6"/>
          <p:cNvSpPr/>
          <p:nvPr/>
        </p:nvSpPr>
        <p:spPr>
          <a:xfrm>
            <a:off x="457200" y="6291072"/>
            <a:ext cx="4114800" cy="329184"/>
          </a:xfrm>
          <a:prstGeom prst="rect">
            <a:avLst/>
          </a:prstGeom>
          <a:noFill/>
          <a:ln/>
        </p:spPr>
        <p:txBody>
          <a:bodyPr wrap="square" rtlCol="0" anchor="ctr"/>
          <a:lstStyle/>
          <a:p>
            <a:pPr indent="0" marL="0">
              <a:buNone/>
            </a:pPr>
            <a:r>
              <a:rPr lang="en-US" sz="1100" dirty="0">
                <a:solidFill>
                  <a:srgbClr val="5B7192"/>
                </a:solidFill>
                <a:latin typeface="Calibri" pitchFamily="34" charset="0"/>
                <a:ea typeface="Calibri" pitchFamily="34" charset="-122"/>
                <a:cs typeface="Calibri" pitchFamily="34" charset="-120"/>
              </a:rPr>
              <a:t>QuizTime · Concept Paper</a:t>
            </a:r>
            <a:endParaRPr lang="en-US" sz="1100" dirty="0"/>
          </a:p>
        </p:txBody>
      </p:sp>
      <p:sp>
        <p:nvSpPr>
          <p:cNvPr id="9" name="Shape 7"/>
          <p:cNvSpPr/>
          <p:nvPr/>
        </p:nvSpPr>
        <p:spPr>
          <a:xfrm>
            <a:off x="566928" y="1536192"/>
            <a:ext cx="2633472" cy="1517904"/>
          </a:xfrm>
          <a:prstGeom prst="roundRect">
            <a:avLst>
              <a:gd name="adj" fmla="val 7229"/>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0" name="Shape 8"/>
          <p:cNvSpPr/>
          <p:nvPr/>
        </p:nvSpPr>
        <p:spPr>
          <a:xfrm>
            <a:off x="566928" y="1536192"/>
            <a:ext cx="2633472" cy="91440"/>
          </a:xfrm>
          <a:prstGeom prst="rect">
            <a:avLst/>
          </a:prstGeom>
          <a:solidFill>
            <a:srgbClr val="3B82F6"/>
          </a:solidFill>
          <a:ln/>
        </p:spPr>
      </p:sp>
      <p:sp>
        <p:nvSpPr>
          <p:cNvPr id="11" name="Text 9"/>
          <p:cNvSpPr/>
          <p:nvPr/>
        </p:nvSpPr>
        <p:spPr>
          <a:xfrm>
            <a:off x="566928" y="1682496"/>
            <a:ext cx="2633472" cy="603504"/>
          </a:xfrm>
          <a:prstGeom prst="rect">
            <a:avLst/>
          </a:prstGeom>
          <a:noFill/>
          <a:ln/>
        </p:spPr>
        <p:txBody>
          <a:bodyPr wrap="square" rtlCol="0" anchor="ctr"/>
          <a:lstStyle/>
          <a:p>
            <a:pPr algn="ctr" indent="0" marL="0">
              <a:buNone/>
            </a:pPr>
            <a:r>
              <a:rPr lang="en-US" sz="3400" b="1" dirty="0">
                <a:solidFill>
                  <a:srgbClr val="3B82F6"/>
                </a:solidFill>
                <a:latin typeface="Calibri" pitchFamily="34" charset="0"/>
                <a:ea typeface="Calibri" pitchFamily="34" charset="-122"/>
                <a:cs typeface="Calibri" pitchFamily="34" charset="-120"/>
              </a:rPr>
              <a:t>194</a:t>
            </a:r>
            <a:endParaRPr lang="en-US" sz="3400" dirty="0"/>
          </a:p>
        </p:txBody>
      </p:sp>
      <p:sp>
        <p:nvSpPr>
          <p:cNvPr id="12" name="Text 10"/>
          <p:cNvSpPr/>
          <p:nvPr/>
        </p:nvSpPr>
        <p:spPr>
          <a:xfrm>
            <a:off x="676656" y="2286000"/>
            <a:ext cx="2414016" cy="658368"/>
          </a:xfrm>
          <a:prstGeom prst="rect">
            <a:avLst/>
          </a:prstGeom>
          <a:noFill/>
          <a:ln/>
        </p:spPr>
        <p:txBody>
          <a:bodyPr wrap="square" rtlCol="0" anchor="ctr"/>
          <a:lstStyle/>
          <a:p>
            <a:pPr algn="ctr" indent="0" marL="0">
              <a:buNone/>
            </a:pPr>
            <a:r>
              <a:rPr lang="en-US" sz="1200" dirty="0">
                <a:solidFill>
                  <a:srgbClr val="5B7192"/>
                </a:solidFill>
                <a:latin typeface="Calibri" pitchFamily="34" charset="0"/>
                <a:ea typeface="Calibri" pitchFamily="34" charset="-122"/>
                <a:cs typeface="Calibri" pitchFamily="34" charset="-120"/>
              </a:rPr>
              <a:t>automated checks in total</a:t>
            </a:r>
            <a:endParaRPr lang="en-US" sz="1200" dirty="0"/>
          </a:p>
        </p:txBody>
      </p:sp>
      <p:sp>
        <p:nvSpPr>
          <p:cNvPr id="13" name="Shape 11"/>
          <p:cNvSpPr/>
          <p:nvPr/>
        </p:nvSpPr>
        <p:spPr>
          <a:xfrm>
            <a:off x="3410712" y="1536192"/>
            <a:ext cx="2633472" cy="1517904"/>
          </a:xfrm>
          <a:prstGeom prst="roundRect">
            <a:avLst>
              <a:gd name="adj" fmla="val 7229"/>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4" name="Shape 12"/>
          <p:cNvSpPr/>
          <p:nvPr/>
        </p:nvSpPr>
        <p:spPr>
          <a:xfrm>
            <a:off x="3410712" y="1536192"/>
            <a:ext cx="2633472" cy="91440"/>
          </a:xfrm>
          <a:prstGeom prst="rect">
            <a:avLst/>
          </a:prstGeom>
          <a:solidFill>
            <a:srgbClr val="6366F1"/>
          </a:solidFill>
          <a:ln/>
        </p:spPr>
      </p:sp>
      <p:sp>
        <p:nvSpPr>
          <p:cNvPr id="15" name="Text 13"/>
          <p:cNvSpPr/>
          <p:nvPr/>
        </p:nvSpPr>
        <p:spPr>
          <a:xfrm>
            <a:off x="3410712" y="1682496"/>
            <a:ext cx="2633472" cy="603504"/>
          </a:xfrm>
          <a:prstGeom prst="rect">
            <a:avLst/>
          </a:prstGeom>
          <a:noFill/>
          <a:ln/>
        </p:spPr>
        <p:txBody>
          <a:bodyPr wrap="square" rtlCol="0" anchor="ctr"/>
          <a:lstStyle/>
          <a:p>
            <a:pPr algn="ctr" indent="0" marL="0">
              <a:buNone/>
            </a:pPr>
            <a:r>
              <a:rPr lang="en-US" sz="3400" b="1" dirty="0">
                <a:solidFill>
                  <a:srgbClr val="6366F1"/>
                </a:solidFill>
                <a:latin typeface="Calibri" pitchFamily="34" charset="0"/>
                <a:ea typeface="Calibri" pitchFamily="34" charset="-122"/>
                <a:cs typeface="Calibri" pitchFamily="34" charset="-120"/>
              </a:rPr>
              <a:t>146</a:t>
            </a:r>
            <a:endParaRPr lang="en-US" sz="3400" dirty="0"/>
          </a:p>
        </p:txBody>
      </p:sp>
      <p:sp>
        <p:nvSpPr>
          <p:cNvPr id="16" name="Text 14"/>
          <p:cNvSpPr/>
          <p:nvPr/>
        </p:nvSpPr>
        <p:spPr>
          <a:xfrm>
            <a:off x="3520440" y="2286000"/>
            <a:ext cx="2414016" cy="658368"/>
          </a:xfrm>
          <a:prstGeom prst="rect">
            <a:avLst/>
          </a:prstGeom>
          <a:noFill/>
          <a:ln/>
        </p:spPr>
        <p:txBody>
          <a:bodyPr wrap="square" rtlCol="0" anchor="ctr"/>
          <a:lstStyle/>
          <a:p>
            <a:pPr algn="ctr" indent="0" marL="0">
              <a:buNone/>
            </a:pPr>
            <a:r>
              <a:rPr lang="en-US" sz="1200" dirty="0">
                <a:solidFill>
                  <a:srgbClr val="5B7192"/>
                </a:solidFill>
                <a:latin typeface="Calibri" pitchFamily="34" charset="0"/>
                <a:ea typeface="Calibri" pitchFamily="34" charset="-122"/>
                <a:cs typeface="Calibri" pitchFamily="34" charset="-120"/>
              </a:rPr>
              <a:t>re-run for this paper — all passing</a:t>
            </a:r>
            <a:endParaRPr lang="en-US" sz="1200" dirty="0"/>
          </a:p>
        </p:txBody>
      </p:sp>
      <p:sp>
        <p:nvSpPr>
          <p:cNvPr id="17" name="Shape 15"/>
          <p:cNvSpPr/>
          <p:nvPr/>
        </p:nvSpPr>
        <p:spPr>
          <a:xfrm>
            <a:off x="6254496" y="1536192"/>
            <a:ext cx="2633472" cy="1517904"/>
          </a:xfrm>
          <a:prstGeom prst="roundRect">
            <a:avLst>
              <a:gd name="adj" fmla="val 7229"/>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8" name="Shape 16"/>
          <p:cNvSpPr/>
          <p:nvPr/>
        </p:nvSpPr>
        <p:spPr>
          <a:xfrm>
            <a:off x="6254496" y="1536192"/>
            <a:ext cx="2633472" cy="91440"/>
          </a:xfrm>
          <a:prstGeom prst="rect">
            <a:avLst/>
          </a:prstGeom>
          <a:solidFill>
            <a:srgbClr val="06B6D4"/>
          </a:solidFill>
          <a:ln/>
        </p:spPr>
      </p:sp>
      <p:sp>
        <p:nvSpPr>
          <p:cNvPr id="19" name="Text 17"/>
          <p:cNvSpPr/>
          <p:nvPr/>
        </p:nvSpPr>
        <p:spPr>
          <a:xfrm>
            <a:off x="6254496" y="1682496"/>
            <a:ext cx="2633472" cy="603504"/>
          </a:xfrm>
          <a:prstGeom prst="rect">
            <a:avLst/>
          </a:prstGeom>
          <a:noFill/>
          <a:ln/>
        </p:spPr>
        <p:txBody>
          <a:bodyPr wrap="square" rtlCol="0" anchor="ctr"/>
          <a:lstStyle/>
          <a:p>
            <a:pPr algn="ctr" indent="0" marL="0">
              <a:buNone/>
            </a:pPr>
            <a:r>
              <a:rPr lang="en-US" sz="3400" b="1" dirty="0">
                <a:solidFill>
                  <a:srgbClr val="06B6D4"/>
                </a:solidFill>
                <a:latin typeface="Calibri" pitchFamily="34" charset="0"/>
                <a:ea typeface="Calibri" pitchFamily="34" charset="-122"/>
                <a:cs typeface="Calibri" pitchFamily="34" charset="-120"/>
              </a:rPr>
              <a:t>9</a:t>
            </a:r>
            <a:endParaRPr lang="en-US" sz="3400" dirty="0"/>
          </a:p>
        </p:txBody>
      </p:sp>
      <p:sp>
        <p:nvSpPr>
          <p:cNvPr id="20" name="Text 18"/>
          <p:cNvSpPr/>
          <p:nvPr/>
        </p:nvSpPr>
        <p:spPr>
          <a:xfrm>
            <a:off x="6364224" y="2286000"/>
            <a:ext cx="2414016" cy="658368"/>
          </a:xfrm>
          <a:prstGeom prst="rect">
            <a:avLst/>
          </a:prstGeom>
          <a:noFill/>
          <a:ln/>
        </p:spPr>
        <p:txBody>
          <a:bodyPr wrap="square" rtlCol="0" anchor="ctr"/>
          <a:lstStyle/>
          <a:p>
            <a:pPr algn="ctr" indent="0" marL="0">
              <a:buNone/>
            </a:pPr>
            <a:r>
              <a:rPr lang="en-US" sz="1200" dirty="0">
                <a:solidFill>
                  <a:srgbClr val="5B7192"/>
                </a:solidFill>
                <a:latin typeface="Calibri" pitchFamily="34" charset="0"/>
                <a:ea typeface="Calibri" pitchFamily="34" charset="-122"/>
                <a:cs typeface="Calibri" pitchFamily="34" charset="-120"/>
              </a:rPr>
              <a:t>test files across 8 npm suites</a:t>
            </a:r>
            <a:endParaRPr lang="en-US" sz="1200" dirty="0"/>
          </a:p>
        </p:txBody>
      </p:sp>
      <p:sp>
        <p:nvSpPr>
          <p:cNvPr id="21" name="Shape 19"/>
          <p:cNvSpPr/>
          <p:nvPr/>
        </p:nvSpPr>
        <p:spPr>
          <a:xfrm>
            <a:off x="9098280" y="1536192"/>
            <a:ext cx="2633472" cy="1517904"/>
          </a:xfrm>
          <a:prstGeom prst="roundRect">
            <a:avLst>
              <a:gd name="adj" fmla="val 7229"/>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22" name="Shape 20"/>
          <p:cNvSpPr/>
          <p:nvPr/>
        </p:nvSpPr>
        <p:spPr>
          <a:xfrm>
            <a:off x="9098280" y="1536192"/>
            <a:ext cx="2633472" cy="91440"/>
          </a:xfrm>
          <a:prstGeom prst="rect">
            <a:avLst/>
          </a:prstGeom>
          <a:solidFill>
            <a:srgbClr val="F43F5E"/>
          </a:solidFill>
          <a:ln/>
        </p:spPr>
      </p:sp>
      <p:sp>
        <p:nvSpPr>
          <p:cNvPr id="23" name="Text 21"/>
          <p:cNvSpPr/>
          <p:nvPr/>
        </p:nvSpPr>
        <p:spPr>
          <a:xfrm>
            <a:off x="9098280" y="1682496"/>
            <a:ext cx="2633472" cy="603504"/>
          </a:xfrm>
          <a:prstGeom prst="rect">
            <a:avLst/>
          </a:prstGeom>
          <a:noFill/>
          <a:ln/>
        </p:spPr>
        <p:txBody>
          <a:bodyPr wrap="square" rtlCol="0" anchor="ctr"/>
          <a:lstStyle/>
          <a:p>
            <a:pPr algn="ctr" indent="0" marL="0">
              <a:buNone/>
            </a:pPr>
            <a:r>
              <a:rPr lang="en-US" sz="3400" b="1" dirty="0">
                <a:solidFill>
                  <a:srgbClr val="F43F5E"/>
                </a:solidFill>
                <a:latin typeface="Calibri" pitchFamily="34" charset="0"/>
                <a:ea typeface="Calibri" pitchFamily="34" charset="-122"/>
                <a:cs typeface="Calibri" pitchFamily="34" charset="-120"/>
              </a:rPr>
              <a:t>8</a:t>
            </a:r>
            <a:endParaRPr lang="en-US" sz="3400" dirty="0"/>
          </a:p>
        </p:txBody>
      </p:sp>
      <p:sp>
        <p:nvSpPr>
          <p:cNvPr id="24" name="Text 22"/>
          <p:cNvSpPr/>
          <p:nvPr/>
        </p:nvSpPr>
        <p:spPr>
          <a:xfrm>
            <a:off x="9208008" y="2286000"/>
            <a:ext cx="2414016" cy="658368"/>
          </a:xfrm>
          <a:prstGeom prst="rect">
            <a:avLst/>
          </a:prstGeom>
          <a:noFill/>
          <a:ln/>
        </p:spPr>
        <p:txBody>
          <a:bodyPr wrap="square" rtlCol="0" anchor="ctr"/>
          <a:lstStyle/>
          <a:p>
            <a:pPr algn="ctr" indent="0" marL="0">
              <a:buNone/>
            </a:pPr>
            <a:r>
              <a:rPr lang="en-US" sz="1200" dirty="0">
                <a:solidFill>
                  <a:srgbClr val="5B7192"/>
                </a:solidFill>
                <a:latin typeface="Calibri" pitchFamily="34" charset="0"/>
                <a:ea typeface="Calibri" pitchFamily="34" charset="-122"/>
                <a:cs typeface="Calibri" pitchFamily="34" charset="-120"/>
              </a:rPr>
              <a:t>cross-account isolation checks</a:t>
            </a:r>
            <a:endParaRPr lang="en-US" sz="1200" dirty="0"/>
          </a:p>
        </p:txBody>
      </p:sp>
      <p:sp>
        <p:nvSpPr>
          <p:cNvPr id="25" name="Shape 23"/>
          <p:cNvSpPr/>
          <p:nvPr/>
        </p:nvSpPr>
        <p:spPr>
          <a:xfrm>
            <a:off x="566928" y="3218688"/>
            <a:ext cx="5742432" cy="2999232"/>
          </a:xfrm>
          <a:prstGeom prst="roundRect">
            <a:avLst>
              <a:gd name="adj" fmla="val 3659"/>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26" name="Shape 24"/>
          <p:cNvSpPr/>
          <p:nvPr/>
        </p:nvSpPr>
        <p:spPr>
          <a:xfrm>
            <a:off x="566928" y="3218688"/>
            <a:ext cx="5742432" cy="530352"/>
          </a:xfrm>
          <a:prstGeom prst="rect">
            <a:avLst/>
          </a:prstGeom>
          <a:solidFill>
            <a:srgbClr val="3B82F6"/>
          </a:solidFill>
          <a:ln/>
        </p:spPr>
      </p:sp>
      <p:sp>
        <p:nvSpPr>
          <p:cNvPr id="27" name="Text 25"/>
          <p:cNvSpPr/>
          <p:nvPr/>
        </p:nvSpPr>
        <p:spPr>
          <a:xfrm>
            <a:off x="822960" y="3218688"/>
            <a:ext cx="5303520" cy="530352"/>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What is verified automatically</a:t>
            </a:r>
            <a:endParaRPr lang="en-US" sz="1450" dirty="0"/>
          </a:p>
        </p:txBody>
      </p:sp>
      <p:sp>
        <p:nvSpPr>
          <p:cNvPr id="28" name="Shape 26"/>
          <p:cNvSpPr/>
          <p:nvPr/>
        </p:nvSpPr>
        <p:spPr>
          <a:xfrm>
            <a:off x="859536" y="3941064"/>
            <a:ext cx="128016" cy="128016"/>
          </a:xfrm>
          <a:prstGeom prst="ellipse">
            <a:avLst/>
          </a:prstGeom>
          <a:solidFill>
            <a:srgbClr val="3B82F6"/>
          </a:solidFill>
          <a:ln/>
        </p:spPr>
      </p:sp>
      <p:sp>
        <p:nvSpPr>
          <p:cNvPr id="29" name="Text 27"/>
          <p:cNvSpPr/>
          <p:nvPr/>
        </p:nvSpPr>
        <p:spPr>
          <a:xfrm>
            <a:off x="1078992" y="3877056"/>
            <a:ext cx="5029200" cy="365760"/>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AI failover engine under simulated rate limits and outages</a:t>
            </a:r>
            <a:endParaRPr lang="en-US" sz="1150" dirty="0"/>
          </a:p>
        </p:txBody>
      </p:sp>
      <p:sp>
        <p:nvSpPr>
          <p:cNvPr id="30" name="Shape 28"/>
          <p:cNvSpPr/>
          <p:nvPr/>
        </p:nvSpPr>
        <p:spPr>
          <a:xfrm>
            <a:off x="859536" y="4325112"/>
            <a:ext cx="128016" cy="128016"/>
          </a:xfrm>
          <a:prstGeom prst="ellipse">
            <a:avLst/>
          </a:prstGeom>
          <a:solidFill>
            <a:srgbClr val="3B82F6"/>
          </a:solidFill>
          <a:ln/>
        </p:spPr>
      </p:sp>
      <p:sp>
        <p:nvSpPr>
          <p:cNvPr id="31" name="Text 29"/>
          <p:cNvSpPr/>
          <p:nvPr/>
        </p:nvSpPr>
        <p:spPr>
          <a:xfrm>
            <a:off x="1078992" y="4261104"/>
            <a:ext cx="5029200" cy="365760"/>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Spaced-repetition steps, graduations, lapses and interval clamping</a:t>
            </a:r>
            <a:endParaRPr lang="en-US" sz="1150" dirty="0"/>
          </a:p>
        </p:txBody>
      </p:sp>
      <p:sp>
        <p:nvSpPr>
          <p:cNvPr id="32" name="Shape 30"/>
          <p:cNvSpPr/>
          <p:nvPr/>
        </p:nvSpPr>
        <p:spPr>
          <a:xfrm>
            <a:off x="859536" y="4709160"/>
            <a:ext cx="128016" cy="128016"/>
          </a:xfrm>
          <a:prstGeom prst="ellipse">
            <a:avLst/>
          </a:prstGeom>
          <a:solidFill>
            <a:srgbClr val="3B82F6"/>
          </a:solidFill>
          <a:ln/>
        </p:spPr>
      </p:sp>
      <p:sp>
        <p:nvSpPr>
          <p:cNvPr id="33" name="Text 31"/>
          <p:cNvSpPr/>
          <p:nvPr/>
        </p:nvSpPr>
        <p:spPr>
          <a:xfrm>
            <a:off x="1078992" y="4645152"/>
            <a:ext cx="5029200" cy="365760"/>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Offline round trip against a real server and database</a:t>
            </a:r>
            <a:endParaRPr lang="en-US" sz="1150" dirty="0"/>
          </a:p>
        </p:txBody>
      </p:sp>
      <p:sp>
        <p:nvSpPr>
          <p:cNvPr id="34" name="Shape 32"/>
          <p:cNvSpPr/>
          <p:nvPr/>
        </p:nvSpPr>
        <p:spPr>
          <a:xfrm>
            <a:off x="859536" y="5093208"/>
            <a:ext cx="128016" cy="128016"/>
          </a:xfrm>
          <a:prstGeom prst="ellipse">
            <a:avLst/>
          </a:prstGeom>
          <a:solidFill>
            <a:srgbClr val="3B82F6"/>
          </a:solidFill>
          <a:ln/>
        </p:spPr>
      </p:sp>
      <p:sp>
        <p:nvSpPr>
          <p:cNvPr id="35" name="Text 33"/>
          <p:cNvSpPr/>
          <p:nvPr/>
        </p:nvSpPr>
        <p:spPr>
          <a:xfrm>
            <a:off x="1078992" y="5029200"/>
            <a:ext cx="5029200" cy="365760"/>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One account cannot read, grade or delete another's data</a:t>
            </a:r>
            <a:endParaRPr lang="en-US" sz="1150" dirty="0"/>
          </a:p>
        </p:txBody>
      </p:sp>
      <p:sp>
        <p:nvSpPr>
          <p:cNvPr id="36" name="Shape 34"/>
          <p:cNvSpPr/>
          <p:nvPr/>
        </p:nvSpPr>
        <p:spPr>
          <a:xfrm>
            <a:off x="859536" y="5477256"/>
            <a:ext cx="128016" cy="128016"/>
          </a:xfrm>
          <a:prstGeom prst="ellipse">
            <a:avLst/>
          </a:prstGeom>
          <a:solidFill>
            <a:srgbClr val="3B82F6"/>
          </a:solidFill>
          <a:ln/>
        </p:spPr>
      </p:sp>
      <p:sp>
        <p:nvSpPr>
          <p:cNvPr id="37" name="Text 35"/>
          <p:cNvSpPr/>
          <p:nvPr/>
        </p:nvSpPr>
        <p:spPr>
          <a:xfrm>
            <a:off x="1078992" y="5413248"/>
            <a:ext cx="5029200" cy="365760"/>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Deck edits preserve card identity, progress and schedules</a:t>
            </a:r>
            <a:endParaRPr lang="en-US" sz="1150" dirty="0"/>
          </a:p>
        </p:txBody>
      </p:sp>
      <p:sp>
        <p:nvSpPr>
          <p:cNvPr id="38" name="Shape 36"/>
          <p:cNvSpPr/>
          <p:nvPr/>
        </p:nvSpPr>
        <p:spPr>
          <a:xfrm>
            <a:off x="859536" y="5861304"/>
            <a:ext cx="128016" cy="128016"/>
          </a:xfrm>
          <a:prstGeom prst="ellipse">
            <a:avLst/>
          </a:prstGeom>
          <a:solidFill>
            <a:srgbClr val="3B82F6"/>
          </a:solidFill>
          <a:ln/>
        </p:spPr>
      </p:sp>
      <p:sp>
        <p:nvSpPr>
          <p:cNvPr id="39" name="Text 37"/>
          <p:cNvSpPr/>
          <p:nvPr/>
        </p:nvSpPr>
        <p:spPr>
          <a:xfrm>
            <a:off x="1078992" y="5797296"/>
            <a:ext cx="5029200" cy="365760"/>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Preferences, health endpoint and service-worker contract</a:t>
            </a:r>
            <a:endParaRPr lang="en-US" sz="1150" dirty="0"/>
          </a:p>
        </p:txBody>
      </p:sp>
      <p:sp>
        <p:nvSpPr>
          <p:cNvPr id="40" name="Shape 38"/>
          <p:cNvSpPr/>
          <p:nvPr/>
        </p:nvSpPr>
        <p:spPr>
          <a:xfrm>
            <a:off x="6455664" y="3218688"/>
            <a:ext cx="5166360" cy="2999232"/>
          </a:xfrm>
          <a:prstGeom prst="roundRect">
            <a:avLst>
              <a:gd name="adj" fmla="val 3659"/>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41" name="Shape 39"/>
          <p:cNvSpPr/>
          <p:nvPr/>
        </p:nvSpPr>
        <p:spPr>
          <a:xfrm>
            <a:off x="6455664" y="3218688"/>
            <a:ext cx="5166360" cy="530352"/>
          </a:xfrm>
          <a:prstGeom prst="rect">
            <a:avLst/>
          </a:prstGeom>
          <a:solidFill>
            <a:srgbClr val="6366F1"/>
          </a:solidFill>
          <a:ln/>
        </p:spPr>
      </p:sp>
      <p:sp>
        <p:nvSpPr>
          <p:cNvPr id="42" name="Text 40"/>
          <p:cNvSpPr/>
          <p:nvPr/>
        </p:nvSpPr>
        <p:spPr>
          <a:xfrm>
            <a:off x="6711696" y="3218688"/>
            <a:ext cx="4754880" cy="530352"/>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How users will evaluate it</a:t>
            </a:r>
            <a:endParaRPr lang="en-US" sz="1450" dirty="0"/>
          </a:p>
        </p:txBody>
      </p:sp>
      <p:sp>
        <p:nvSpPr>
          <p:cNvPr id="43" name="Shape 41"/>
          <p:cNvSpPr/>
          <p:nvPr/>
        </p:nvSpPr>
        <p:spPr>
          <a:xfrm>
            <a:off x="6748272" y="3986784"/>
            <a:ext cx="128016" cy="128016"/>
          </a:xfrm>
          <a:prstGeom prst="ellipse">
            <a:avLst/>
          </a:prstGeom>
          <a:solidFill>
            <a:srgbClr val="6366F1"/>
          </a:solidFill>
          <a:ln/>
        </p:spPr>
      </p:sp>
      <p:sp>
        <p:nvSpPr>
          <p:cNvPr id="44" name="Text 42"/>
          <p:cNvSpPr/>
          <p:nvPr/>
        </p:nvSpPr>
        <p:spPr>
          <a:xfrm>
            <a:off x="6967728" y="3913632"/>
            <a:ext cx="4480560" cy="420624"/>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Scripted usability walkthrough of all primary tasks</a:t>
            </a:r>
            <a:endParaRPr lang="en-US" sz="1150" dirty="0"/>
          </a:p>
        </p:txBody>
      </p:sp>
      <p:sp>
        <p:nvSpPr>
          <p:cNvPr id="45" name="Shape 43"/>
          <p:cNvSpPr/>
          <p:nvPr/>
        </p:nvSpPr>
        <p:spPr>
          <a:xfrm>
            <a:off x="6748272" y="4443984"/>
            <a:ext cx="128016" cy="128016"/>
          </a:xfrm>
          <a:prstGeom prst="ellipse">
            <a:avLst/>
          </a:prstGeom>
          <a:solidFill>
            <a:srgbClr val="6366F1"/>
          </a:solidFill>
          <a:ln/>
        </p:spPr>
      </p:sp>
      <p:sp>
        <p:nvSpPr>
          <p:cNvPr id="46" name="Text 44"/>
          <p:cNvSpPr/>
          <p:nvPr/>
        </p:nvSpPr>
        <p:spPr>
          <a:xfrm>
            <a:off x="6967728" y="4370832"/>
            <a:ext cx="4480560" cy="420624"/>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ISO/IEC 25010-based acceptability questionnaire</a:t>
            </a:r>
            <a:endParaRPr lang="en-US" sz="1150" dirty="0"/>
          </a:p>
        </p:txBody>
      </p:sp>
      <p:sp>
        <p:nvSpPr>
          <p:cNvPr id="47" name="Shape 45"/>
          <p:cNvSpPr/>
          <p:nvPr/>
        </p:nvSpPr>
        <p:spPr>
          <a:xfrm>
            <a:off x="6748272" y="4901184"/>
            <a:ext cx="128016" cy="128016"/>
          </a:xfrm>
          <a:prstGeom prst="ellipse">
            <a:avLst/>
          </a:prstGeom>
          <a:solidFill>
            <a:srgbClr val="6366F1"/>
          </a:solidFill>
          <a:ln/>
        </p:spPr>
      </p:sp>
      <p:sp>
        <p:nvSpPr>
          <p:cNvPr id="48" name="Text 46"/>
          <p:cNvSpPr/>
          <p:nvPr/>
        </p:nvSpPr>
        <p:spPr>
          <a:xfrm>
            <a:off x="6967728" y="4828032"/>
            <a:ext cx="4480560" cy="420624"/>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Student respondents, 5-point Likert scale</a:t>
            </a:r>
            <a:endParaRPr lang="en-US" sz="1150" dirty="0"/>
          </a:p>
        </p:txBody>
      </p:sp>
      <p:sp>
        <p:nvSpPr>
          <p:cNvPr id="49" name="Shape 47"/>
          <p:cNvSpPr/>
          <p:nvPr/>
        </p:nvSpPr>
        <p:spPr>
          <a:xfrm>
            <a:off x="6748272" y="5358384"/>
            <a:ext cx="128016" cy="128016"/>
          </a:xfrm>
          <a:prstGeom prst="ellipse">
            <a:avLst/>
          </a:prstGeom>
          <a:solidFill>
            <a:srgbClr val="6366F1"/>
          </a:solidFill>
          <a:ln/>
        </p:spPr>
      </p:sp>
      <p:sp>
        <p:nvSpPr>
          <p:cNvPr id="50" name="Text 48"/>
          <p:cNvSpPr/>
          <p:nvPr/>
        </p:nvSpPr>
        <p:spPr>
          <a:xfrm>
            <a:off x="6967728" y="5285232"/>
            <a:ext cx="4480560" cy="420624"/>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Descriptive statistics with an adjectival rating scale</a:t>
            </a:r>
            <a:endParaRPr lang="en-US" sz="1150" dirty="0"/>
          </a:p>
        </p:txBody>
      </p:sp>
      <p:sp>
        <p:nvSpPr>
          <p:cNvPr id="51" name="Shape 49"/>
          <p:cNvSpPr/>
          <p:nvPr/>
        </p:nvSpPr>
        <p:spPr>
          <a:xfrm>
            <a:off x="6748272" y="5815584"/>
            <a:ext cx="128016" cy="128016"/>
          </a:xfrm>
          <a:prstGeom prst="ellipse">
            <a:avLst/>
          </a:prstGeom>
          <a:solidFill>
            <a:srgbClr val="6366F1"/>
          </a:solidFill>
          <a:ln/>
        </p:spPr>
      </p:sp>
      <p:sp>
        <p:nvSpPr>
          <p:cNvPr id="52" name="Text 50"/>
          <p:cNvSpPr/>
          <p:nvPr/>
        </p:nvSpPr>
        <p:spPr>
          <a:xfrm>
            <a:off x="6967728" y="5742432"/>
            <a:ext cx="4480560" cy="420624"/>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Debrief interview on study-habit change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FFFFFF"/>
          </a:solidFill>
          <a:ln/>
        </p:spPr>
      </p:sp>
      <p:sp>
        <p:nvSpPr>
          <p:cNvPr id="3" name="Shape 1"/>
          <p:cNvSpPr/>
          <p:nvPr/>
        </p:nvSpPr>
        <p:spPr>
          <a:xfrm>
            <a:off x="0" y="1170432"/>
            <a:ext cx="12191695" cy="54864"/>
          </a:xfrm>
          <a:prstGeom prst="rect">
            <a:avLst/>
          </a:prstGeom>
          <a:solidFill>
            <a:srgbClr val="FBBF24"/>
          </a:solidFill>
          <a:ln/>
        </p:spPr>
      </p:sp>
      <p:sp>
        <p:nvSpPr>
          <p:cNvPr id="4" name="Shape 2"/>
          <p:cNvSpPr/>
          <p:nvPr/>
        </p:nvSpPr>
        <p:spPr>
          <a:xfrm>
            <a:off x="457200" y="274320"/>
            <a:ext cx="100584" cy="658368"/>
          </a:xfrm>
          <a:prstGeom prst="rect">
            <a:avLst/>
          </a:prstGeom>
          <a:solidFill>
            <a:srgbClr val="FBBF24"/>
          </a:solidFill>
          <a:ln/>
        </p:spPr>
      </p:sp>
      <p:sp>
        <p:nvSpPr>
          <p:cNvPr id="5" name="Text 3"/>
          <p:cNvSpPr/>
          <p:nvPr/>
        </p:nvSpPr>
        <p:spPr>
          <a:xfrm>
            <a:off x="685800" y="201168"/>
            <a:ext cx="9601200" cy="457200"/>
          </a:xfrm>
          <a:prstGeom prst="rect">
            <a:avLst/>
          </a:prstGeom>
          <a:noFill/>
          <a:ln/>
        </p:spPr>
        <p:txBody>
          <a:bodyPr wrap="square" rtlCol="0" anchor="ctr"/>
          <a:lstStyle/>
          <a:p>
            <a:pPr indent="0" marL="0">
              <a:buNone/>
            </a:pPr>
            <a:r>
              <a:rPr lang="en-US" sz="2700" b="1" dirty="0">
                <a:solidFill>
                  <a:srgbClr val="10233F"/>
                </a:solidFill>
                <a:latin typeface="Calibri" pitchFamily="34" charset="0"/>
                <a:ea typeface="Calibri" pitchFamily="34" charset="-122"/>
                <a:cs typeface="Calibri" pitchFamily="34" charset="-120"/>
              </a:rPr>
              <a:t>Significance and cost</a:t>
            </a:r>
            <a:endParaRPr lang="en-US" sz="2700" dirty="0"/>
          </a:p>
        </p:txBody>
      </p:sp>
      <p:sp>
        <p:nvSpPr>
          <p:cNvPr id="6" name="Text 4"/>
          <p:cNvSpPr/>
          <p:nvPr/>
        </p:nvSpPr>
        <p:spPr>
          <a:xfrm>
            <a:off x="704088" y="658368"/>
            <a:ext cx="10241280" cy="384048"/>
          </a:xfrm>
          <a:prstGeom prst="rect">
            <a:avLst/>
          </a:prstGeom>
          <a:noFill/>
          <a:ln/>
        </p:spPr>
        <p:txBody>
          <a:bodyPr wrap="square" rtlCol="0" anchor="ctr"/>
          <a:lstStyle/>
          <a:p>
            <a:pPr indent="0" marL="0">
              <a:buNone/>
            </a:pPr>
            <a:r>
              <a:rPr lang="en-US" sz="1400" dirty="0">
                <a:solidFill>
                  <a:srgbClr val="5B7192"/>
                </a:solidFill>
                <a:latin typeface="Calibri" pitchFamily="34" charset="0"/>
                <a:ea typeface="Calibri" pitchFamily="34" charset="-122"/>
                <a:cs typeface="Calibri" pitchFamily="34" charset="-120"/>
              </a:rPr>
              <a:t>Who benefits, and what the project actually costs to run.</a:t>
            </a:r>
            <a:endParaRPr lang="en-US" sz="1400" dirty="0"/>
          </a:p>
        </p:txBody>
      </p:sp>
      <p:sp>
        <p:nvSpPr>
          <p:cNvPr id="7" name="Text 5"/>
          <p:cNvSpPr/>
          <p:nvPr/>
        </p:nvSpPr>
        <p:spPr>
          <a:xfrm>
            <a:off x="10957255" y="6291072"/>
            <a:ext cx="777240" cy="329184"/>
          </a:xfrm>
          <a:prstGeom prst="rect">
            <a:avLst/>
          </a:prstGeom>
          <a:noFill/>
          <a:ln/>
        </p:spPr>
        <p:txBody>
          <a:bodyPr wrap="square" rtlCol="0" anchor="ctr"/>
          <a:lstStyle/>
          <a:p>
            <a:pPr algn="r" indent="0" marL="0">
              <a:buNone/>
            </a:pPr>
            <a:r>
              <a:rPr lang="en-US" sz="1200" dirty="0">
                <a:solidFill>
                  <a:srgbClr val="5B7192"/>
                </a:solidFill>
                <a:latin typeface="Calibri" pitchFamily="34" charset="0"/>
                <a:ea typeface="Calibri" pitchFamily="34" charset="-122"/>
                <a:cs typeface="Calibri" pitchFamily="34" charset="-120"/>
              </a:rPr>
              <a:t>14</a:t>
            </a:r>
            <a:endParaRPr lang="en-US" sz="1200" dirty="0"/>
          </a:p>
        </p:txBody>
      </p:sp>
      <p:sp>
        <p:nvSpPr>
          <p:cNvPr id="8" name="Text 6"/>
          <p:cNvSpPr/>
          <p:nvPr/>
        </p:nvSpPr>
        <p:spPr>
          <a:xfrm>
            <a:off x="457200" y="6291072"/>
            <a:ext cx="4114800" cy="329184"/>
          </a:xfrm>
          <a:prstGeom prst="rect">
            <a:avLst/>
          </a:prstGeom>
          <a:noFill/>
          <a:ln/>
        </p:spPr>
        <p:txBody>
          <a:bodyPr wrap="square" rtlCol="0" anchor="ctr"/>
          <a:lstStyle/>
          <a:p>
            <a:pPr indent="0" marL="0">
              <a:buNone/>
            </a:pPr>
            <a:r>
              <a:rPr lang="en-US" sz="1100" dirty="0">
                <a:solidFill>
                  <a:srgbClr val="5B7192"/>
                </a:solidFill>
                <a:latin typeface="Calibri" pitchFamily="34" charset="0"/>
                <a:ea typeface="Calibri" pitchFamily="34" charset="-122"/>
                <a:cs typeface="Calibri" pitchFamily="34" charset="-120"/>
              </a:rPr>
              <a:t>QuizTime · Concept Paper</a:t>
            </a:r>
            <a:endParaRPr lang="en-US" sz="1100" dirty="0"/>
          </a:p>
        </p:txBody>
      </p:sp>
      <p:sp>
        <p:nvSpPr>
          <p:cNvPr id="9" name="Shape 7"/>
          <p:cNvSpPr/>
          <p:nvPr/>
        </p:nvSpPr>
        <p:spPr>
          <a:xfrm>
            <a:off x="566928" y="1536192"/>
            <a:ext cx="3931920" cy="1097280"/>
          </a:xfrm>
          <a:prstGeom prst="roundRect">
            <a:avLst>
              <a:gd name="adj" fmla="val 10000"/>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0" name="Shape 8"/>
          <p:cNvSpPr/>
          <p:nvPr/>
        </p:nvSpPr>
        <p:spPr>
          <a:xfrm>
            <a:off x="566928" y="1536192"/>
            <a:ext cx="100584" cy="1097280"/>
          </a:xfrm>
          <a:prstGeom prst="rect">
            <a:avLst/>
          </a:prstGeom>
          <a:solidFill>
            <a:srgbClr val="3B82F6"/>
          </a:solidFill>
          <a:ln/>
        </p:spPr>
      </p:sp>
      <p:sp>
        <p:nvSpPr>
          <p:cNvPr id="11" name="Text 9"/>
          <p:cNvSpPr/>
          <p:nvPr/>
        </p:nvSpPr>
        <p:spPr>
          <a:xfrm>
            <a:off x="804672" y="1645920"/>
            <a:ext cx="3566160" cy="329184"/>
          </a:xfrm>
          <a:prstGeom prst="rect">
            <a:avLst/>
          </a:prstGeom>
          <a:noFill/>
          <a:ln/>
        </p:spPr>
        <p:txBody>
          <a:bodyPr wrap="square" rtlCol="0" anchor="ctr"/>
          <a:lstStyle/>
          <a:p>
            <a:pPr indent="0" marL="0">
              <a:buNone/>
            </a:pPr>
            <a:r>
              <a:rPr lang="en-US" sz="1400" b="1" dirty="0">
                <a:solidFill>
                  <a:srgbClr val="10233F"/>
                </a:solidFill>
                <a:latin typeface="Calibri" pitchFamily="34" charset="0"/>
                <a:ea typeface="Calibri" pitchFamily="34" charset="-122"/>
                <a:cs typeface="Calibri" pitchFamily="34" charset="-120"/>
              </a:rPr>
              <a:t>Students</a:t>
            </a:r>
            <a:endParaRPr lang="en-US" sz="1400" dirty="0"/>
          </a:p>
        </p:txBody>
      </p:sp>
      <p:sp>
        <p:nvSpPr>
          <p:cNvPr id="12" name="Text 10"/>
          <p:cNvSpPr/>
          <p:nvPr/>
        </p:nvSpPr>
        <p:spPr>
          <a:xfrm>
            <a:off x="804672" y="1993392"/>
            <a:ext cx="3566160" cy="548640"/>
          </a:xfrm>
          <a:prstGeom prst="rect">
            <a:avLst/>
          </a:prstGeom>
          <a:noFill/>
          <a:ln/>
        </p:spPr>
        <p:txBody>
          <a:bodyPr wrap="square" rtlCol="0" anchor="t"/>
          <a:lstStyle/>
          <a:p>
            <a:pPr indent="0" marL="0">
              <a:buNone/>
            </a:pPr>
            <a:r>
              <a:rPr lang="en-US" sz="1100" dirty="0">
                <a:solidFill>
                  <a:srgbClr val="5B7192"/>
                </a:solidFill>
                <a:latin typeface="Calibri" pitchFamily="34" charset="0"/>
                <a:ea typeface="Calibri" pitchFamily="34" charset="-122"/>
                <a:cs typeface="Calibri" pitchFamily="34" charset="-120"/>
              </a:rPr>
              <a:t>Deck-building and scheduling stop being the reason they don't self-test.</a:t>
            </a:r>
            <a:endParaRPr lang="en-US" sz="1100" dirty="0"/>
          </a:p>
        </p:txBody>
      </p:sp>
      <p:sp>
        <p:nvSpPr>
          <p:cNvPr id="13" name="Shape 11"/>
          <p:cNvSpPr/>
          <p:nvPr/>
        </p:nvSpPr>
        <p:spPr>
          <a:xfrm>
            <a:off x="4727448" y="1536192"/>
            <a:ext cx="3931920" cy="1097280"/>
          </a:xfrm>
          <a:prstGeom prst="roundRect">
            <a:avLst>
              <a:gd name="adj" fmla="val 10000"/>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4" name="Shape 12"/>
          <p:cNvSpPr/>
          <p:nvPr/>
        </p:nvSpPr>
        <p:spPr>
          <a:xfrm>
            <a:off x="4727448" y="1536192"/>
            <a:ext cx="100584" cy="1097280"/>
          </a:xfrm>
          <a:prstGeom prst="rect">
            <a:avLst/>
          </a:prstGeom>
          <a:solidFill>
            <a:srgbClr val="6366F1"/>
          </a:solidFill>
          <a:ln/>
        </p:spPr>
      </p:sp>
      <p:sp>
        <p:nvSpPr>
          <p:cNvPr id="15" name="Text 13"/>
          <p:cNvSpPr/>
          <p:nvPr/>
        </p:nvSpPr>
        <p:spPr>
          <a:xfrm>
            <a:off x="4965192" y="1645920"/>
            <a:ext cx="3566160" cy="329184"/>
          </a:xfrm>
          <a:prstGeom prst="rect">
            <a:avLst/>
          </a:prstGeom>
          <a:noFill/>
          <a:ln/>
        </p:spPr>
        <p:txBody>
          <a:bodyPr wrap="square" rtlCol="0" anchor="ctr"/>
          <a:lstStyle/>
          <a:p>
            <a:pPr indent="0" marL="0">
              <a:buNone/>
            </a:pPr>
            <a:r>
              <a:rPr lang="en-US" sz="1400" b="1" dirty="0">
                <a:solidFill>
                  <a:srgbClr val="10233F"/>
                </a:solidFill>
                <a:latin typeface="Calibri" pitchFamily="34" charset="0"/>
                <a:ea typeface="Calibri" pitchFamily="34" charset="-122"/>
                <a:cs typeface="Calibri" pitchFamily="34" charset="-120"/>
              </a:rPr>
              <a:t>Teachers</a:t>
            </a:r>
            <a:endParaRPr lang="en-US" sz="1400" dirty="0"/>
          </a:p>
        </p:txBody>
      </p:sp>
      <p:sp>
        <p:nvSpPr>
          <p:cNvPr id="16" name="Text 14"/>
          <p:cNvSpPr/>
          <p:nvPr/>
        </p:nvSpPr>
        <p:spPr>
          <a:xfrm>
            <a:off x="4965192" y="1993392"/>
            <a:ext cx="3566160" cy="548640"/>
          </a:xfrm>
          <a:prstGeom prst="rect">
            <a:avLst/>
          </a:prstGeom>
          <a:noFill/>
          <a:ln/>
        </p:spPr>
        <p:txBody>
          <a:bodyPr wrap="square" rtlCol="0" anchor="t"/>
          <a:lstStyle/>
          <a:p>
            <a:pPr indent="0" marL="0">
              <a:buNone/>
            </a:pPr>
            <a:r>
              <a:rPr lang="en-US" sz="1100" dirty="0">
                <a:solidFill>
                  <a:srgbClr val="5B7192"/>
                </a:solidFill>
                <a:latin typeface="Calibri" pitchFamily="34" charset="0"/>
                <a:ea typeface="Calibri" pitchFamily="34" charset="-122"/>
                <a:cs typeface="Calibri" pitchFamily="34" charset="-120"/>
              </a:rPr>
              <a:t>Course material becomes practice material with almost no preparation.</a:t>
            </a:r>
            <a:endParaRPr lang="en-US" sz="1100" dirty="0"/>
          </a:p>
        </p:txBody>
      </p:sp>
      <p:sp>
        <p:nvSpPr>
          <p:cNvPr id="17" name="Shape 15"/>
          <p:cNvSpPr/>
          <p:nvPr/>
        </p:nvSpPr>
        <p:spPr>
          <a:xfrm>
            <a:off x="566928" y="2779776"/>
            <a:ext cx="3931920" cy="1097280"/>
          </a:xfrm>
          <a:prstGeom prst="roundRect">
            <a:avLst>
              <a:gd name="adj" fmla="val 10000"/>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18" name="Shape 16"/>
          <p:cNvSpPr/>
          <p:nvPr/>
        </p:nvSpPr>
        <p:spPr>
          <a:xfrm>
            <a:off x="566928" y="2779776"/>
            <a:ext cx="100584" cy="1097280"/>
          </a:xfrm>
          <a:prstGeom prst="rect">
            <a:avLst/>
          </a:prstGeom>
          <a:solidFill>
            <a:srgbClr val="7C3AED"/>
          </a:solidFill>
          <a:ln/>
        </p:spPr>
      </p:sp>
      <p:sp>
        <p:nvSpPr>
          <p:cNvPr id="19" name="Text 17"/>
          <p:cNvSpPr/>
          <p:nvPr/>
        </p:nvSpPr>
        <p:spPr>
          <a:xfrm>
            <a:off x="804672" y="2889504"/>
            <a:ext cx="3566160" cy="329184"/>
          </a:xfrm>
          <a:prstGeom prst="rect">
            <a:avLst/>
          </a:prstGeom>
          <a:noFill/>
          <a:ln/>
        </p:spPr>
        <p:txBody>
          <a:bodyPr wrap="square" rtlCol="0" anchor="ctr"/>
          <a:lstStyle/>
          <a:p>
            <a:pPr indent="0" marL="0">
              <a:buNone/>
            </a:pPr>
            <a:r>
              <a:rPr lang="en-US" sz="1400" b="1" dirty="0">
                <a:solidFill>
                  <a:srgbClr val="10233F"/>
                </a:solidFill>
                <a:latin typeface="Calibri" pitchFamily="34" charset="0"/>
                <a:ea typeface="Calibri" pitchFamily="34" charset="-122"/>
                <a:cs typeface="Calibri" pitchFamily="34" charset="-120"/>
              </a:rPr>
              <a:t>Board reviewees</a:t>
            </a:r>
            <a:endParaRPr lang="en-US" sz="1400" dirty="0"/>
          </a:p>
        </p:txBody>
      </p:sp>
      <p:sp>
        <p:nvSpPr>
          <p:cNvPr id="20" name="Text 18"/>
          <p:cNvSpPr/>
          <p:nvPr/>
        </p:nvSpPr>
        <p:spPr>
          <a:xfrm>
            <a:off x="804672" y="3236976"/>
            <a:ext cx="3566160" cy="548640"/>
          </a:xfrm>
          <a:prstGeom prst="rect">
            <a:avLst/>
          </a:prstGeom>
          <a:noFill/>
          <a:ln/>
        </p:spPr>
        <p:txBody>
          <a:bodyPr wrap="square" rtlCol="0" anchor="t"/>
          <a:lstStyle/>
          <a:p>
            <a:pPr indent="0" marL="0">
              <a:buNone/>
            </a:pPr>
            <a:r>
              <a:rPr lang="en-US" sz="1100" dirty="0">
                <a:solidFill>
                  <a:srgbClr val="5B7192"/>
                </a:solidFill>
                <a:latin typeface="Calibri" pitchFamily="34" charset="0"/>
                <a:ea typeface="Calibri" pitchFamily="34" charset="-122"/>
                <a:cs typeface="Calibri" pitchFamily="34" charset="-120"/>
              </a:rPr>
              <a:t>Eight sources merge into one deck, and the scheduler decides what is urgent.</a:t>
            </a:r>
            <a:endParaRPr lang="en-US" sz="1100" dirty="0"/>
          </a:p>
        </p:txBody>
      </p:sp>
      <p:sp>
        <p:nvSpPr>
          <p:cNvPr id="21" name="Shape 19"/>
          <p:cNvSpPr/>
          <p:nvPr/>
        </p:nvSpPr>
        <p:spPr>
          <a:xfrm>
            <a:off x="4727448" y="2779776"/>
            <a:ext cx="3931920" cy="1097280"/>
          </a:xfrm>
          <a:prstGeom prst="roundRect">
            <a:avLst>
              <a:gd name="adj" fmla="val 10000"/>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22" name="Shape 20"/>
          <p:cNvSpPr/>
          <p:nvPr/>
        </p:nvSpPr>
        <p:spPr>
          <a:xfrm>
            <a:off x="4727448" y="2779776"/>
            <a:ext cx="100584" cy="1097280"/>
          </a:xfrm>
          <a:prstGeom prst="rect">
            <a:avLst/>
          </a:prstGeom>
          <a:solidFill>
            <a:srgbClr val="10B981"/>
          </a:solidFill>
          <a:ln/>
        </p:spPr>
      </p:sp>
      <p:sp>
        <p:nvSpPr>
          <p:cNvPr id="23" name="Text 21"/>
          <p:cNvSpPr/>
          <p:nvPr/>
        </p:nvSpPr>
        <p:spPr>
          <a:xfrm>
            <a:off x="4965192" y="2889504"/>
            <a:ext cx="3566160" cy="329184"/>
          </a:xfrm>
          <a:prstGeom prst="rect">
            <a:avLst/>
          </a:prstGeom>
          <a:noFill/>
          <a:ln/>
        </p:spPr>
        <p:txBody>
          <a:bodyPr wrap="square" rtlCol="0" anchor="ctr"/>
          <a:lstStyle/>
          <a:p>
            <a:pPr indent="0" marL="0">
              <a:buNone/>
            </a:pPr>
            <a:r>
              <a:rPr lang="en-US" sz="1400" b="1" dirty="0">
                <a:solidFill>
                  <a:srgbClr val="10233F"/>
                </a:solidFill>
                <a:latin typeface="Calibri" pitchFamily="34" charset="0"/>
                <a:ea typeface="Calibri" pitchFamily="34" charset="-122"/>
                <a:cs typeface="Calibri" pitchFamily="34" charset="-120"/>
              </a:rPr>
              <a:t>Low-connectivity learners</a:t>
            </a:r>
            <a:endParaRPr lang="en-US" sz="1400" dirty="0"/>
          </a:p>
        </p:txBody>
      </p:sp>
      <p:sp>
        <p:nvSpPr>
          <p:cNvPr id="24" name="Text 22"/>
          <p:cNvSpPr/>
          <p:nvPr/>
        </p:nvSpPr>
        <p:spPr>
          <a:xfrm>
            <a:off x="4965192" y="3236976"/>
            <a:ext cx="3566160" cy="548640"/>
          </a:xfrm>
          <a:prstGeom prst="rect">
            <a:avLst/>
          </a:prstGeom>
          <a:noFill/>
          <a:ln/>
        </p:spPr>
        <p:txBody>
          <a:bodyPr wrap="square" rtlCol="0" anchor="t"/>
          <a:lstStyle/>
          <a:p>
            <a:pPr indent="0" marL="0">
              <a:buNone/>
            </a:pPr>
            <a:r>
              <a:rPr lang="en-US" sz="1100" dirty="0">
                <a:solidFill>
                  <a:srgbClr val="5B7192"/>
                </a:solidFill>
                <a:latin typeface="Calibri" pitchFamily="34" charset="0"/>
                <a:ea typeface="Calibri" pitchFamily="34" charset="-122"/>
                <a:cs typeface="Calibri" pitchFamily="34" charset="-120"/>
              </a:rPr>
              <a:t>Spaced repetition keeps working on a phone with no signal.</a:t>
            </a:r>
            <a:endParaRPr lang="en-US" sz="1100" dirty="0"/>
          </a:p>
        </p:txBody>
      </p:sp>
      <p:sp>
        <p:nvSpPr>
          <p:cNvPr id="25" name="Shape 23"/>
          <p:cNvSpPr/>
          <p:nvPr/>
        </p:nvSpPr>
        <p:spPr>
          <a:xfrm>
            <a:off x="9006840" y="1536192"/>
            <a:ext cx="2615184" cy="4681728"/>
          </a:xfrm>
          <a:prstGeom prst="roundRect">
            <a:avLst>
              <a:gd name="adj" fmla="val 4196"/>
            </a:avLst>
          </a:prstGeom>
          <a:solidFill>
            <a:srgbClr val="FFF8E7"/>
          </a:solidFill>
          <a:ln w="12700">
            <a:solidFill>
              <a:srgbClr val="F7D57E"/>
            </a:solidFill>
            <a:prstDash val="solid"/>
          </a:ln>
          <a:effectLst>
            <a:outerShdw sx="100000" sy="100000" kx="0" ky="0" algn="bl" rotWithShape="0" blurRad="101600" dist="38100" dir="5400000">
              <a:srgbClr val="2B50B4">
                <a:alpha val="16000"/>
              </a:srgbClr>
            </a:outerShdw>
          </a:effectLst>
        </p:spPr>
      </p:sp>
      <p:sp>
        <p:nvSpPr>
          <p:cNvPr id="26" name="Text 24"/>
          <p:cNvSpPr/>
          <p:nvPr/>
        </p:nvSpPr>
        <p:spPr>
          <a:xfrm>
            <a:off x="9189720" y="1682496"/>
            <a:ext cx="2286000" cy="365760"/>
          </a:xfrm>
          <a:prstGeom prst="rect">
            <a:avLst/>
          </a:prstGeom>
          <a:noFill/>
          <a:ln/>
        </p:spPr>
        <p:txBody>
          <a:bodyPr wrap="square" rtlCol="0" anchor="ctr"/>
          <a:lstStyle/>
          <a:p>
            <a:pPr indent="0" marL="0">
              <a:buNone/>
            </a:pPr>
            <a:r>
              <a:rPr lang="en-US" sz="1600" b="1" dirty="0">
                <a:solidFill>
                  <a:srgbClr val="8A6100"/>
                </a:solidFill>
                <a:latin typeface="Calibri" pitchFamily="34" charset="0"/>
                <a:ea typeface="Calibri" pitchFamily="34" charset="-122"/>
                <a:cs typeface="Calibri" pitchFamily="34" charset="-120"/>
              </a:rPr>
              <a:t>Cost to run</a:t>
            </a:r>
            <a:endParaRPr lang="en-US" sz="1600" dirty="0"/>
          </a:p>
        </p:txBody>
      </p:sp>
      <p:sp>
        <p:nvSpPr>
          <p:cNvPr id="27" name="Text 25"/>
          <p:cNvSpPr/>
          <p:nvPr/>
        </p:nvSpPr>
        <p:spPr>
          <a:xfrm>
            <a:off x="9189720" y="2139696"/>
            <a:ext cx="1097280" cy="384048"/>
          </a:xfrm>
          <a:prstGeom prst="rect">
            <a:avLst/>
          </a:prstGeom>
          <a:noFill/>
          <a:ln/>
        </p:spPr>
        <p:txBody>
          <a:bodyPr wrap="square" rtlCol="0" anchor="ctr"/>
          <a:lstStyle/>
          <a:p>
            <a:pPr indent="0" marL="0">
              <a:buNone/>
            </a:pPr>
            <a:r>
              <a:rPr lang="en-US" sz="1100" dirty="0">
                <a:solidFill>
                  <a:srgbClr val="5C4708"/>
                </a:solidFill>
                <a:latin typeface="Calibri" pitchFamily="34" charset="0"/>
                <a:ea typeface="Calibri" pitchFamily="34" charset="-122"/>
                <a:cs typeface="Calibri" pitchFamily="34" charset="-120"/>
              </a:rPr>
              <a:t>Domain</a:t>
            </a:r>
            <a:endParaRPr lang="en-US" sz="1100" dirty="0"/>
          </a:p>
        </p:txBody>
      </p:sp>
      <p:sp>
        <p:nvSpPr>
          <p:cNvPr id="28" name="Text 26"/>
          <p:cNvSpPr/>
          <p:nvPr/>
        </p:nvSpPr>
        <p:spPr>
          <a:xfrm>
            <a:off x="10195560" y="2139696"/>
            <a:ext cx="1280160" cy="384048"/>
          </a:xfrm>
          <a:prstGeom prst="rect">
            <a:avLst/>
          </a:prstGeom>
          <a:noFill/>
          <a:ln/>
        </p:spPr>
        <p:txBody>
          <a:bodyPr wrap="square" rtlCol="0" anchor="ctr"/>
          <a:lstStyle/>
          <a:p>
            <a:pPr algn="r" indent="0" marL="0">
              <a:buNone/>
            </a:pPr>
            <a:r>
              <a:rPr lang="en-US" sz="1100" b="1" dirty="0">
                <a:solidFill>
                  <a:srgbClr val="8A6100"/>
                </a:solidFill>
                <a:latin typeface="Calibri" pitchFamily="34" charset="0"/>
                <a:ea typeface="Calibri" pitchFamily="34" charset="-122"/>
                <a:cs typeface="Calibri" pitchFamily="34" charset="-120"/>
              </a:rPr>
              <a:t>₱700 / year</a:t>
            </a:r>
            <a:endParaRPr lang="en-US" sz="1100" dirty="0"/>
          </a:p>
        </p:txBody>
      </p:sp>
      <p:sp>
        <p:nvSpPr>
          <p:cNvPr id="29" name="Text 27"/>
          <p:cNvSpPr/>
          <p:nvPr/>
        </p:nvSpPr>
        <p:spPr>
          <a:xfrm>
            <a:off x="9189720" y="2596896"/>
            <a:ext cx="1097280" cy="384048"/>
          </a:xfrm>
          <a:prstGeom prst="rect">
            <a:avLst/>
          </a:prstGeom>
          <a:noFill/>
          <a:ln/>
        </p:spPr>
        <p:txBody>
          <a:bodyPr wrap="square" rtlCol="0" anchor="ctr"/>
          <a:lstStyle/>
          <a:p>
            <a:pPr indent="0" marL="0">
              <a:buNone/>
            </a:pPr>
            <a:r>
              <a:rPr lang="en-US" sz="1100" dirty="0">
                <a:solidFill>
                  <a:srgbClr val="5C4708"/>
                </a:solidFill>
                <a:latin typeface="Calibri" pitchFamily="34" charset="0"/>
                <a:ea typeface="Calibri" pitchFamily="34" charset="-122"/>
                <a:cs typeface="Calibri" pitchFamily="34" charset="-120"/>
              </a:rPr>
              <a:t>Hosting</a:t>
            </a:r>
            <a:endParaRPr lang="en-US" sz="1100" dirty="0"/>
          </a:p>
        </p:txBody>
      </p:sp>
      <p:sp>
        <p:nvSpPr>
          <p:cNvPr id="30" name="Text 28"/>
          <p:cNvSpPr/>
          <p:nvPr/>
        </p:nvSpPr>
        <p:spPr>
          <a:xfrm>
            <a:off x="10195560" y="2596896"/>
            <a:ext cx="1280160" cy="384048"/>
          </a:xfrm>
          <a:prstGeom prst="rect">
            <a:avLst/>
          </a:prstGeom>
          <a:noFill/>
          <a:ln/>
        </p:spPr>
        <p:txBody>
          <a:bodyPr wrap="square" rtlCol="0" anchor="ctr"/>
          <a:lstStyle/>
          <a:p>
            <a:pPr algn="r" indent="0" marL="0">
              <a:buNone/>
            </a:pPr>
            <a:r>
              <a:rPr lang="en-US" sz="1100" b="1" dirty="0">
                <a:solidFill>
                  <a:srgbClr val="8A6100"/>
                </a:solidFill>
                <a:latin typeface="Calibri" pitchFamily="34" charset="0"/>
                <a:ea typeface="Calibri" pitchFamily="34" charset="-122"/>
                <a:cs typeface="Calibri" pitchFamily="34" charset="-120"/>
              </a:rPr>
              <a:t>free tier</a:t>
            </a:r>
            <a:endParaRPr lang="en-US" sz="1100" dirty="0"/>
          </a:p>
        </p:txBody>
      </p:sp>
      <p:sp>
        <p:nvSpPr>
          <p:cNvPr id="31" name="Text 29"/>
          <p:cNvSpPr/>
          <p:nvPr/>
        </p:nvSpPr>
        <p:spPr>
          <a:xfrm>
            <a:off x="9189720" y="3054096"/>
            <a:ext cx="1097280" cy="384048"/>
          </a:xfrm>
          <a:prstGeom prst="rect">
            <a:avLst/>
          </a:prstGeom>
          <a:noFill/>
          <a:ln/>
        </p:spPr>
        <p:txBody>
          <a:bodyPr wrap="square" rtlCol="0" anchor="ctr"/>
          <a:lstStyle/>
          <a:p>
            <a:pPr indent="0" marL="0">
              <a:buNone/>
            </a:pPr>
            <a:r>
              <a:rPr lang="en-US" sz="1100" dirty="0">
                <a:solidFill>
                  <a:srgbClr val="5C4708"/>
                </a:solidFill>
                <a:latin typeface="Calibri" pitchFamily="34" charset="0"/>
                <a:ea typeface="Calibri" pitchFamily="34" charset="-122"/>
                <a:cs typeface="Calibri" pitchFamily="34" charset="-120"/>
              </a:rPr>
              <a:t>Database</a:t>
            </a:r>
            <a:endParaRPr lang="en-US" sz="1100" dirty="0"/>
          </a:p>
        </p:txBody>
      </p:sp>
      <p:sp>
        <p:nvSpPr>
          <p:cNvPr id="32" name="Text 30"/>
          <p:cNvSpPr/>
          <p:nvPr/>
        </p:nvSpPr>
        <p:spPr>
          <a:xfrm>
            <a:off x="10195560" y="3054096"/>
            <a:ext cx="1280160" cy="384048"/>
          </a:xfrm>
          <a:prstGeom prst="rect">
            <a:avLst/>
          </a:prstGeom>
          <a:noFill/>
          <a:ln/>
        </p:spPr>
        <p:txBody>
          <a:bodyPr wrap="square" rtlCol="0" anchor="ctr"/>
          <a:lstStyle/>
          <a:p>
            <a:pPr algn="r" indent="0" marL="0">
              <a:buNone/>
            </a:pPr>
            <a:r>
              <a:rPr lang="en-US" sz="1100" b="1" dirty="0">
                <a:solidFill>
                  <a:srgbClr val="8A6100"/>
                </a:solidFill>
                <a:latin typeface="Calibri" pitchFamily="34" charset="0"/>
                <a:ea typeface="Calibri" pitchFamily="34" charset="-122"/>
                <a:cs typeface="Calibri" pitchFamily="34" charset="-120"/>
              </a:rPr>
              <a:t>free tier</a:t>
            </a:r>
            <a:endParaRPr lang="en-US" sz="1100" dirty="0"/>
          </a:p>
        </p:txBody>
      </p:sp>
      <p:sp>
        <p:nvSpPr>
          <p:cNvPr id="33" name="Text 31"/>
          <p:cNvSpPr/>
          <p:nvPr/>
        </p:nvSpPr>
        <p:spPr>
          <a:xfrm>
            <a:off x="9189720" y="3511296"/>
            <a:ext cx="1097280" cy="384048"/>
          </a:xfrm>
          <a:prstGeom prst="rect">
            <a:avLst/>
          </a:prstGeom>
          <a:noFill/>
          <a:ln/>
        </p:spPr>
        <p:txBody>
          <a:bodyPr wrap="square" rtlCol="0" anchor="ctr"/>
          <a:lstStyle/>
          <a:p>
            <a:pPr indent="0" marL="0">
              <a:buNone/>
            </a:pPr>
            <a:r>
              <a:rPr lang="en-US" sz="1100" dirty="0">
                <a:solidFill>
                  <a:srgbClr val="5C4708"/>
                </a:solidFill>
                <a:latin typeface="Calibri" pitchFamily="34" charset="0"/>
                <a:ea typeface="Calibri" pitchFamily="34" charset="-122"/>
                <a:cs typeface="Calibri" pitchFamily="34" charset="-120"/>
              </a:rPr>
              <a:t>AI quota</a:t>
            </a:r>
            <a:endParaRPr lang="en-US" sz="1100" dirty="0"/>
          </a:p>
        </p:txBody>
      </p:sp>
      <p:sp>
        <p:nvSpPr>
          <p:cNvPr id="34" name="Text 32"/>
          <p:cNvSpPr/>
          <p:nvPr/>
        </p:nvSpPr>
        <p:spPr>
          <a:xfrm>
            <a:off x="10195560" y="3511296"/>
            <a:ext cx="1280160" cy="384048"/>
          </a:xfrm>
          <a:prstGeom prst="rect">
            <a:avLst/>
          </a:prstGeom>
          <a:noFill/>
          <a:ln/>
        </p:spPr>
        <p:txBody>
          <a:bodyPr wrap="square" rtlCol="0" anchor="ctr"/>
          <a:lstStyle/>
          <a:p>
            <a:pPr algn="r" indent="0" marL="0">
              <a:buNone/>
            </a:pPr>
            <a:r>
              <a:rPr lang="en-US" sz="1100" b="1" dirty="0">
                <a:solidFill>
                  <a:srgbClr val="8A6100"/>
                </a:solidFill>
                <a:latin typeface="Calibri" pitchFamily="34" charset="0"/>
                <a:ea typeface="Calibri" pitchFamily="34" charset="-122"/>
                <a:cs typeface="Calibri" pitchFamily="34" charset="-120"/>
              </a:rPr>
              <a:t>free + ₱600</a:t>
            </a:r>
            <a:endParaRPr lang="en-US" sz="1100" dirty="0"/>
          </a:p>
        </p:txBody>
      </p:sp>
      <p:sp>
        <p:nvSpPr>
          <p:cNvPr id="35" name="Text 33"/>
          <p:cNvSpPr/>
          <p:nvPr/>
        </p:nvSpPr>
        <p:spPr>
          <a:xfrm>
            <a:off x="9189720" y="3968496"/>
            <a:ext cx="1097280" cy="384048"/>
          </a:xfrm>
          <a:prstGeom prst="rect">
            <a:avLst/>
          </a:prstGeom>
          <a:noFill/>
          <a:ln/>
        </p:spPr>
        <p:txBody>
          <a:bodyPr wrap="square" rtlCol="0" anchor="ctr"/>
          <a:lstStyle/>
          <a:p>
            <a:pPr indent="0" marL="0">
              <a:buNone/>
            </a:pPr>
            <a:r>
              <a:rPr lang="en-US" sz="1100" dirty="0">
                <a:solidFill>
                  <a:srgbClr val="5C4708"/>
                </a:solidFill>
                <a:latin typeface="Calibri" pitchFamily="34" charset="0"/>
                <a:ea typeface="Calibri" pitchFamily="34" charset="-122"/>
                <a:cs typeface="Calibri" pitchFamily="34" charset="-120"/>
              </a:rPr>
              <a:t>Printing</a:t>
            </a:r>
            <a:endParaRPr lang="en-US" sz="1100" dirty="0"/>
          </a:p>
        </p:txBody>
      </p:sp>
      <p:sp>
        <p:nvSpPr>
          <p:cNvPr id="36" name="Text 34"/>
          <p:cNvSpPr/>
          <p:nvPr/>
        </p:nvSpPr>
        <p:spPr>
          <a:xfrm>
            <a:off x="10195560" y="3968496"/>
            <a:ext cx="1280160" cy="384048"/>
          </a:xfrm>
          <a:prstGeom prst="rect">
            <a:avLst/>
          </a:prstGeom>
          <a:noFill/>
          <a:ln/>
        </p:spPr>
        <p:txBody>
          <a:bodyPr wrap="square" rtlCol="0" anchor="ctr"/>
          <a:lstStyle/>
          <a:p>
            <a:pPr algn="r" indent="0" marL="0">
              <a:buNone/>
            </a:pPr>
            <a:r>
              <a:rPr lang="en-US" sz="1100" b="1" dirty="0">
                <a:solidFill>
                  <a:srgbClr val="8A6100"/>
                </a:solidFill>
                <a:latin typeface="Calibri" pitchFamily="34" charset="0"/>
                <a:ea typeface="Calibri" pitchFamily="34" charset="-122"/>
                <a:cs typeface="Calibri" pitchFamily="34" charset="-120"/>
              </a:rPr>
              <a:t>₱1,200</a:t>
            </a:r>
            <a:endParaRPr lang="en-US" sz="1100" dirty="0"/>
          </a:p>
        </p:txBody>
      </p:sp>
      <p:sp>
        <p:nvSpPr>
          <p:cNvPr id="37" name="Shape 35"/>
          <p:cNvSpPr/>
          <p:nvPr/>
        </p:nvSpPr>
        <p:spPr>
          <a:xfrm>
            <a:off x="9189720" y="4517136"/>
            <a:ext cx="2286000" cy="0"/>
          </a:xfrm>
          <a:prstGeom prst="line">
            <a:avLst/>
          </a:prstGeom>
          <a:noFill/>
          <a:ln w="12700">
            <a:solidFill>
              <a:srgbClr val="E3B23C"/>
            </a:solidFill>
            <a:prstDash val="solid"/>
          </a:ln>
        </p:spPr>
      </p:sp>
      <p:sp>
        <p:nvSpPr>
          <p:cNvPr id="38" name="Text 36"/>
          <p:cNvSpPr/>
          <p:nvPr/>
        </p:nvSpPr>
        <p:spPr>
          <a:xfrm>
            <a:off x="9189720" y="4590288"/>
            <a:ext cx="2286000" cy="457200"/>
          </a:xfrm>
          <a:prstGeom prst="rect">
            <a:avLst/>
          </a:prstGeom>
          <a:noFill/>
          <a:ln/>
        </p:spPr>
        <p:txBody>
          <a:bodyPr wrap="square" rtlCol="0" anchor="ctr"/>
          <a:lstStyle/>
          <a:p>
            <a:pPr algn="ctr" indent="0" marL="0">
              <a:buNone/>
            </a:pPr>
            <a:r>
              <a:rPr lang="en-US" sz="1500" b="1" dirty="0">
                <a:solidFill>
                  <a:srgbClr val="8A6100"/>
                </a:solidFill>
                <a:latin typeface="Calibri" pitchFamily="34" charset="0"/>
                <a:ea typeface="Calibri" pitchFamily="34" charset="-122"/>
                <a:cs typeface="Calibri" pitchFamily="34" charset="-120"/>
              </a:rPr>
              <a:t>₱2,500 – ₱10,000</a:t>
            </a:r>
            <a:endParaRPr lang="en-US" sz="1500" dirty="0"/>
          </a:p>
        </p:txBody>
      </p:sp>
      <p:sp>
        <p:nvSpPr>
          <p:cNvPr id="39" name="Text 37"/>
          <p:cNvSpPr/>
          <p:nvPr/>
        </p:nvSpPr>
        <p:spPr>
          <a:xfrm>
            <a:off x="9189720" y="5029200"/>
            <a:ext cx="2286000" cy="1005840"/>
          </a:xfrm>
          <a:prstGeom prst="rect">
            <a:avLst/>
          </a:prstGeom>
          <a:noFill/>
          <a:ln/>
        </p:spPr>
        <p:txBody>
          <a:bodyPr wrap="square" rtlCol="0" anchor="ctr"/>
          <a:lstStyle/>
          <a:p>
            <a:pPr algn="ctr" indent="0" marL="0">
              <a:buNone/>
            </a:pPr>
            <a:r>
              <a:rPr lang="en-US" sz="1050" dirty="0">
                <a:solidFill>
                  <a:srgbClr val="7A6220"/>
                </a:solidFill>
                <a:latin typeface="Calibri" pitchFamily="34" charset="0"/>
                <a:ea typeface="Calibri" pitchFamily="34" charset="-122"/>
                <a:cs typeface="Calibri" pitchFamily="34" charset="-120"/>
              </a:rPr>
              <a:t>for the whole semester, mostly optional upgrades</a:t>
            </a:r>
            <a:endParaRPr lang="en-US" sz="1050" dirty="0"/>
          </a:p>
        </p:txBody>
      </p:sp>
      <p:sp>
        <p:nvSpPr>
          <p:cNvPr id="40" name="Shape 38"/>
          <p:cNvSpPr/>
          <p:nvPr/>
        </p:nvSpPr>
        <p:spPr>
          <a:xfrm>
            <a:off x="566928" y="4114800"/>
            <a:ext cx="8092440" cy="2103120"/>
          </a:xfrm>
          <a:prstGeom prst="roundRect">
            <a:avLst>
              <a:gd name="adj" fmla="val 5217"/>
            </a:avLst>
          </a:prstGeom>
          <a:solidFill>
            <a:srgbClr val="FFFFFF"/>
          </a:solidFill>
          <a:ln w="12700">
            <a:solidFill>
              <a:srgbClr val="D7E3F8"/>
            </a:solidFill>
            <a:prstDash val="solid"/>
          </a:ln>
          <a:effectLst>
            <a:outerShdw sx="100000" sy="100000" kx="0" ky="0" algn="bl" rotWithShape="0" blurRad="101600" dist="38100" dir="5400000">
              <a:srgbClr val="2B50B4">
                <a:alpha val="16000"/>
              </a:srgbClr>
            </a:outerShdw>
          </a:effectLst>
        </p:spPr>
      </p:sp>
      <p:sp>
        <p:nvSpPr>
          <p:cNvPr id="41" name="Text 39"/>
          <p:cNvSpPr/>
          <p:nvPr/>
        </p:nvSpPr>
        <p:spPr>
          <a:xfrm>
            <a:off x="804672" y="4224528"/>
            <a:ext cx="4572000" cy="384048"/>
          </a:xfrm>
          <a:prstGeom prst="rect">
            <a:avLst/>
          </a:prstGeom>
          <a:noFill/>
          <a:ln/>
        </p:spPr>
        <p:txBody>
          <a:bodyPr wrap="square" rtlCol="0" anchor="ctr"/>
          <a:lstStyle/>
          <a:p>
            <a:pPr indent="0" marL="0">
              <a:buNone/>
            </a:pPr>
            <a:r>
              <a:rPr lang="en-US" sz="1700" b="1" dirty="0">
                <a:solidFill>
                  <a:srgbClr val="10233F"/>
                </a:solidFill>
                <a:latin typeface="Calibri" pitchFamily="34" charset="0"/>
                <a:ea typeface="Calibri" pitchFamily="34" charset="-122"/>
                <a:cs typeface="Calibri" pitchFamily="34" charset="-120"/>
              </a:rPr>
              <a:t>Expected outcomes</a:t>
            </a:r>
            <a:endParaRPr lang="en-US" sz="1700" dirty="0"/>
          </a:p>
        </p:txBody>
      </p:sp>
      <p:sp>
        <p:nvSpPr>
          <p:cNvPr id="42" name="Shape 40"/>
          <p:cNvSpPr/>
          <p:nvPr/>
        </p:nvSpPr>
        <p:spPr>
          <a:xfrm>
            <a:off x="859536" y="4672584"/>
            <a:ext cx="118872" cy="118872"/>
          </a:xfrm>
          <a:prstGeom prst="ellipse">
            <a:avLst/>
          </a:prstGeom>
          <a:solidFill>
            <a:srgbClr val="10B981"/>
          </a:solidFill>
          <a:ln/>
        </p:spPr>
      </p:sp>
      <p:sp>
        <p:nvSpPr>
          <p:cNvPr id="43" name="Text 41"/>
          <p:cNvSpPr/>
          <p:nvPr/>
        </p:nvSpPr>
        <p:spPr>
          <a:xfrm>
            <a:off x="1078992" y="4626864"/>
            <a:ext cx="7406640" cy="292608"/>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A deployed, installable study app that turns a learner's own files into editable flashcards.</a:t>
            </a:r>
            <a:endParaRPr lang="en-US" sz="1150" dirty="0"/>
          </a:p>
        </p:txBody>
      </p:sp>
      <p:sp>
        <p:nvSpPr>
          <p:cNvPr id="44" name="Shape 42"/>
          <p:cNvSpPr/>
          <p:nvPr/>
        </p:nvSpPr>
        <p:spPr>
          <a:xfrm>
            <a:off x="859536" y="4983480"/>
            <a:ext cx="118872" cy="118872"/>
          </a:xfrm>
          <a:prstGeom prst="ellipse">
            <a:avLst/>
          </a:prstGeom>
          <a:solidFill>
            <a:srgbClr val="10B981"/>
          </a:solidFill>
          <a:ln/>
        </p:spPr>
      </p:sp>
      <p:sp>
        <p:nvSpPr>
          <p:cNvPr id="45" name="Text 43"/>
          <p:cNvSpPr/>
          <p:nvPr/>
        </p:nvSpPr>
        <p:spPr>
          <a:xfrm>
            <a:off x="1078992" y="4937760"/>
            <a:ext cx="7406640" cy="292608"/>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A working spaced-repetition scheduler with a daily queue and visible progress analytics.</a:t>
            </a:r>
            <a:endParaRPr lang="en-US" sz="1150" dirty="0"/>
          </a:p>
        </p:txBody>
      </p:sp>
      <p:sp>
        <p:nvSpPr>
          <p:cNvPr id="46" name="Shape 44"/>
          <p:cNvSpPr/>
          <p:nvPr/>
        </p:nvSpPr>
        <p:spPr>
          <a:xfrm>
            <a:off x="859536" y="5294376"/>
            <a:ext cx="118872" cy="118872"/>
          </a:xfrm>
          <a:prstGeom prst="ellipse">
            <a:avLst/>
          </a:prstGeom>
          <a:solidFill>
            <a:srgbClr val="10B981"/>
          </a:solidFill>
          <a:ln/>
        </p:spPr>
      </p:sp>
      <p:sp>
        <p:nvSpPr>
          <p:cNvPr id="47" name="Text 45"/>
          <p:cNvSpPr/>
          <p:nvPr/>
        </p:nvSpPr>
        <p:spPr>
          <a:xfrm>
            <a:off x="1078992" y="5248656"/>
            <a:ext cx="7406640" cy="292608"/>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Offline study that keeps working without a connection and syncs afterwards.</a:t>
            </a:r>
            <a:endParaRPr lang="en-US" sz="1150" dirty="0"/>
          </a:p>
        </p:txBody>
      </p:sp>
      <p:sp>
        <p:nvSpPr>
          <p:cNvPr id="48" name="Shape 46"/>
          <p:cNvSpPr/>
          <p:nvPr/>
        </p:nvSpPr>
        <p:spPr>
          <a:xfrm>
            <a:off x="859536" y="5605272"/>
            <a:ext cx="118872" cy="118872"/>
          </a:xfrm>
          <a:prstGeom prst="ellipse">
            <a:avLst/>
          </a:prstGeom>
          <a:solidFill>
            <a:srgbClr val="10B981"/>
          </a:solidFill>
          <a:ln/>
        </p:spPr>
      </p:sp>
      <p:sp>
        <p:nvSpPr>
          <p:cNvPr id="49" name="Text 47"/>
          <p:cNvSpPr/>
          <p:nvPr/>
        </p:nvSpPr>
        <p:spPr>
          <a:xfrm>
            <a:off x="1078992" y="5559552"/>
            <a:ext cx="7406640" cy="292608"/>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Generation that survives a model or provider going down — and says so honestly.</a:t>
            </a:r>
            <a:endParaRPr lang="en-US" sz="1150" dirty="0"/>
          </a:p>
        </p:txBody>
      </p:sp>
      <p:sp>
        <p:nvSpPr>
          <p:cNvPr id="50" name="Shape 48"/>
          <p:cNvSpPr/>
          <p:nvPr/>
        </p:nvSpPr>
        <p:spPr>
          <a:xfrm>
            <a:off x="859536" y="5916168"/>
            <a:ext cx="118872" cy="118872"/>
          </a:xfrm>
          <a:prstGeom prst="ellipse">
            <a:avLst/>
          </a:prstGeom>
          <a:solidFill>
            <a:srgbClr val="10B981"/>
          </a:solidFill>
          <a:ln/>
        </p:spPr>
      </p:sp>
      <p:sp>
        <p:nvSpPr>
          <p:cNvPr id="51" name="Text 49"/>
          <p:cNvSpPr/>
          <p:nvPr/>
        </p:nvSpPr>
        <p:spPr>
          <a:xfrm>
            <a:off x="1078992" y="5870448"/>
            <a:ext cx="7406640" cy="292608"/>
          </a:xfrm>
          <a:prstGeom prst="rect">
            <a:avLst/>
          </a:prstGeom>
          <a:noFill/>
          <a:ln/>
        </p:spPr>
        <p:txBody>
          <a:bodyPr wrap="square" rtlCol="0" anchor="ctr"/>
          <a:lstStyle/>
          <a:p>
            <a:pPr indent="0" marL="0">
              <a:buNone/>
            </a:pPr>
            <a:r>
              <a:rPr lang="en-US" sz="1150" dirty="0">
                <a:solidFill>
                  <a:srgbClr val="3B4E6B"/>
                </a:solidFill>
                <a:latin typeface="Calibri" pitchFamily="34" charset="0"/>
                <a:ea typeface="Calibri" pitchFamily="34" charset="-122"/>
                <a:cs typeface="Calibri" pitchFamily="34" charset="-120"/>
              </a:rPr>
              <a:t>Verified quality, documented patterns, and a foundation other researchers can extend.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233F"/>
        </a:solidFill>
      </p:bgPr>
    </p:bg>
    <p:spTree>
      <p:nvGrpSpPr>
        <p:cNvPr id="1" name=""/>
        <p:cNvGrpSpPr/>
        <p:nvPr/>
      </p:nvGrpSpPr>
      <p:grpSpPr>
        <a:xfrm>
          <a:off x="0" y="0"/>
          <a:ext cx="0" cy="0"/>
          <a:chOff x="0" y="0"/>
          <a:chExt cx="0" cy="0"/>
        </a:xfrm>
      </p:grpSpPr>
      <p:sp>
        <p:nvSpPr>
          <p:cNvPr id="2" name="Shape 0"/>
          <p:cNvSpPr/>
          <p:nvPr/>
        </p:nvSpPr>
        <p:spPr>
          <a:xfrm>
            <a:off x="-1463040" y="4023360"/>
            <a:ext cx="4754880" cy="4754880"/>
          </a:xfrm>
          <a:prstGeom prst="ellipse">
            <a:avLst/>
          </a:prstGeom>
          <a:solidFill>
            <a:srgbClr val="17325B"/>
          </a:solidFill>
          <a:ln/>
        </p:spPr>
      </p:sp>
      <p:sp>
        <p:nvSpPr>
          <p:cNvPr id="3" name="Shape 1"/>
          <p:cNvSpPr/>
          <p:nvPr/>
        </p:nvSpPr>
        <p:spPr>
          <a:xfrm>
            <a:off x="9265615" y="-1463040"/>
            <a:ext cx="4206240" cy="4206240"/>
          </a:xfrm>
          <a:prstGeom prst="ellipse">
            <a:avLst/>
          </a:prstGeom>
          <a:solidFill>
            <a:srgbClr val="17325B"/>
          </a:solidFill>
          <a:ln/>
        </p:spPr>
      </p:sp>
      <p:sp>
        <p:nvSpPr>
          <p:cNvPr id="4" name="Text 2"/>
          <p:cNvSpPr/>
          <p:nvPr/>
        </p:nvSpPr>
        <p:spPr>
          <a:xfrm>
            <a:off x="914400" y="1371600"/>
            <a:ext cx="8412480" cy="658368"/>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Learners remember what they retrieve.</a:t>
            </a:r>
            <a:endParaRPr lang="en-US" sz="3000" dirty="0"/>
          </a:p>
        </p:txBody>
      </p:sp>
      <p:sp>
        <p:nvSpPr>
          <p:cNvPr id="5" name="Text 3"/>
          <p:cNvSpPr/>
          <p:nvPr/>
        </p:nvSpPr>
        <p:spPr>
          <a:xfrm>
            <a:off x="914400" y="2148840"/>
            <a:ext cx="8595360" cy="1005840"/>
          </a:xfrm>
          <a:prstGeom prst="rect">
            <a:avLst/>
          </a:prstGeom>
          <a:noFill/>
          <a:ln/>
        </p:spPr>
        <p:txBody>
          <a:bodyPr wrap="square" rtlCol="0" anchor="ctr"/>
          <a:lstStyle/>
          <a:p>
            <a:pPr indent="0" marL="0">
              <a:lnSpc>
                <a:spcPct val="115000"/>
              </a:lnSpc>
              <a:buNone/>
            </a:pPr>
            <a:r>
              <a:rPr lang="en-US" sz="1600" dirty="0">
                <a:solidFill>
                  <a:srgbClr val="C7D7F5"/>
                </a:solidFill>
                <a:latin typeface="Calibri" pitchFamily="34" charset="0"/>
                <a:ea typeface="Calibri" pitchFamily="34" charset="-122"/>
                <a:cs typeface="Calibri" pitchFamily="34" charset="-120"/>
              </a:rPr>
              <a:t>QuizTime removes the labour of applying that — by using AI to prepare the material a learner already has, and a scheduler to decide when each card should return.</a:t>
            </a:r>
            <a:endParaRPr lang="en-US" sz="1600" dirty="0"/>
          </a:p>
        </p:txBody>
      </p:sp>
      <p:sp>
        <p:nvSpPr>
          <p:cNvPr id="6" name="Shape 4"/>
          <p:cNvSpPr/>
          <p:nvPr/>
        </p:nvSpPr>
        <p:spPr>
          <a:xfrm>
            <a:off x="914400" y="3310128"/>
            <a:ext cx="2926080" cy="54864"/>
          </a:xfrm>
          <a:prstGeom prst="rect">
            <a:avLst/>
          </a:prstGeom>
          <a:solidFill>
            <a:srgbClr val="3B82F6"/>
          </a:solidFill>
          <a:ln/>
        </p:spPr>
      </p:sp>
      <p:sp>
        <p:nvSpPr>
          <p:cNvPr id="7" name="Text 5"/>
          <p:cNvSpPr/>
          <p:nvPr/>
        </p:nvSpPr>
        <p:spPr>
          <a:xfrm>
            <a:off x="914400" y="3529584"/>
            <a:ext cx="859536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Thank you — questions and suggestions are welcome.</a:t>
            </a:r>
            <a:endParaRPr lang="en-US" sz="1700" dirty="0"/>
          </a:p>
        </p:txBody>
      </p:sp>
      <p:sp>
        <p:nvSpPr>
          <p:cNvPr id="8" name="Text 6"/>
          <p:cNvSpPr/>
          <p:nvPr/>
        </p:nvSpPr>
        <p:spPr>
          <a:xfrm>
            <a:off x="914400" y="4059936"/>
            <a:ext cx="8595360" cy="365760"/>
          </a:xfrm>
          <a:prstGeom prst="rect">
            <a:avLst/>
          </a:prstGeom>
          <a:noFill/>
          <a:ln/>
        </p:spPr>
        <p:txBody>
          <a:bodyPr wrap="square" rtlCol="0" anchor="ctr"/>
          <a:lstStyle/>
          <a:p>
            <a:pPr indent="0" marL="0">
              <a:buNone/>
            </a:pPr>
            <a:r>
              <a:rPr lang="en-US" sz="1250" dirty="0">
                <a:solidFill>
                  <a:srgbClr val="8FA9D6"/>
                </a:solidFill>
                <a:latin typeface="Calibri" pitchFamily="34" charset="0"/>
                <a:ea typeface="Calibri" pitchFamily="34" charset="-122"/>
                <a:cs typeface="Calibri" pitchFamily="34" charset="-120"/>
              </a:rPr>
              <a:t>QuizTime · Flashcard Quiz Maker  ·  Concept Paper Presentation</a:t>
            </a:r>
            <a:endParaRPr lang="en-US" sz="1250" dirty="0"/>
          </a:p>
        </p:txBody>
      </p:sp>
      <p:pic>
        <p:nvPicPr>
          <p:cNvPr id="9" name="Image 0" descr="/home/user/quiz-time/public/hamster/hamster-celebrate.png">    </p:cNvPr>
          <p:cNvPicPr>
            <a:picLocks noChangeAspect="1"/>
          </p:cNvPicPr>
          <p:nvPr/>
        </p:nvPicPr>
        <p:blipFill>
          <a:blip r:embed="rId1"/>
          <a:stretch>
            <a:fillRect/>
          </a:stretch>
        </p:blipFill>
        <p:spPr>
          <a:xfrm>
            <a:off x="9829800" y="3291840"/>
            <a:ext cx="1737360" cy="2286000"/>
          </a:xfrm>
          <a:prstGeom prst="rect">
            <a:avLst/>
          </a:prstGeom>
        </p:spPr>
      </p:pic>
      <p:pic>
        <p:nvPicPr>
          <p:cNvPr id="10" name="Image 1" descr="/home/user/quiz-time/public/logo.png">    </p:cNvPr>
          <p:cNvPicPr>
            <a:picLocks noChangeAspect="1"/>
          </p:cNvPicPr>
          <p:nvPr/>
        </p:nvPicPr>
        <p:blipFill>
          <a:blip r:embed="rId2"/>
          <a:stretch>
            <a:fillRect/>
          </a:stretch>
        </p:blipFill>
        <p:spPr>
          <a:xfrm>
            <a:off x="9464040" y="777240"/>
            <a:ext cx="2468880" cy="1371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QuizTime — Concept Paper Presentation</dc:title>
  <dc:subject>An AI-Assisted Flashcard and Quiz Generator for Active Recall and Spaced Repetition Study</dc:subject>
  <dc:creator>QuizTime Project</dc:creator>
  <cp:lastModifiedBy>QuizTime Project</cp:lastModifiedBy>
  <cp:revision>1</cp:revision>
  <dcterms:created xsi:type="dcterms:W3CDTF">2026-09-16T23:46:45Z</dcterms:created>
  <dcterms:modified xsi:type="dcterms:W3CDTF">2026-09-16T23:46:45Z</dcterms:modified>
</cp:coreProperties>
</file>